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Nunito Bold" charset="1" panose="00000000000000000000"/>
      <p:regular r:id="rId30"/>
    </p:embeddedFont>
    <p:embeddedFont>
      <p:font typeface="Nunito" charset="1" panose="00000000000000000000"/>
      <p:regular r:id="rId31"/>
    </p:embeddedFont>
    <p:embeddedFont>
      <p:font typeface="Nunito Bold Italics" charset="1" panose="00000000000000000000"/>
      <p:regular r:id="rId33"/>
    </p:embeddedFont>
    <p:embeddedFont>
      <p:font typeface="Nunito Italics" charset="1" panose="00000000000000000000"/>
      <p:regular r:id="rId34"/>
    </p:embeddedFont>
    <p:embeddedFont>
      <p:font typeface="Quicksand Bold" charset="1" panose="00000000000000000000"/>
      <p:regular r:id="rId37"/>
    </p:embeddedFont>
    <p:embeddedFont>
      <p:font typeface="Consolas" charset="1" panose="020B06090202040302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fonts/font37.fntdata" Type="http://schemas.openxmlformats.org/officeDocument/2006/relationships/font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ingrandisci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usiamo gmm non k means. “cosa potremmo voler fare”. meno importanza a sto esempio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arianna la aggiusta con stato dell’arte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arianna la aggiusta con stato dell’arte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lista di cose che facciamo vedere ma giusto per senno anche niente stihazzi (sono dave vi ho messo qualche idea)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arianna la aggiusta con stato dell’arte</a:t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slides su papers con cui ci siamo confrontati </a:t>
            </a:r>
          </a:p>
          <a:p>
            <a:r>
              <a:rPr lang="en-US"/>
              <a:t>contributo originale (semantic embedding e eval)</a:t>
            </a:r>
          </a:p>
          <a:p>
            <a:r>
              <a:rPr lang="en-US"/>
              <a:t/>
            </a:r>
          </a:p>
          <a:p>
            <a:r>
              <a:rPr lang="en-US"/>
              <a:t>seguito da un paio di slides su semantic embedding e poi le slides di eval? </a:t>
            </a:r>
          </a:p>
          <a:p>
            <a:r>
              <a:rPr lang="en-US"/>
              <a:t/>
            </a:r>
          </a:p>
          <a:p>
            <a:r>
              <a:rPr lang="en-US"/>
              <a:t>+ ci starebbe delineare un minimo tutti gli esperimenti?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arianna la aggiusta con stato dell’arte</a:t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slides su papers con cui ci siamo confrontati </a:t>
            </a:r>
          </a:p>
          <a:p>
            <a:r>
              <a:rPr lang="en-US"/>
              <a:t>contributo originale (semantic embedding e eval)</a:t>
            </a:r>
          </a:p>
          <a:p>
            <a:r>
              <a:rPr lang="en-US"/>
              <a:t/>
            </a:r>
          </a:p>
          <a:p>
            <a:r>
              <a:rPr lang="en-US"/>
              <a:t>seguito da un paio di slides su semantic embedding e poi le slides di eval? </a:t>
            </a:r>
          </a:p>
          <a:p>
            <a:r>
              <a:rPr lang="en-US"/>
              <a:t/>
            </a:r>
          </a:p>
          <a:p>
            <a:r>
              <a:rPr lang="en-US"/>
              <a:t>+ ci starebbe delineare un minimo tutti gli esperimenti?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arianna la aggiusta con stato dell’arte</a:t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slides su papers con cui ci siamo confrontati </a:t>
            </a:r>
          </a:p>
          <a:p>
            <a:r>
              <a:rPr lang="en-US"/>
              <a:t>contributo originale (semantic embedding e eval)</a:t>
            </a:r>
          </a:p>
          <a:p>
            <a:r>
              <a:rPr lang="en-US"/>
              <a:t/>
            </a:r>
          </a:p>
          <a:p>
            <a:r>
              <a:rPr lang="en-US"/>
              <a:t>seguito da un paio di slides su semantic embedding e poi le slides di eval? </a:t>
            </a:r>
          </a:p>
          <a:p>
            <a:r>
              <a:rPr lang="en-US"/>
              <a:t/>
            </a:r>
          </a:p>
          <a:p>
            <a:r>
              <a:rPr lang="en-US"/>
              <a:t>+ ci starebbe delineare un minimo tutti gli esperimenti?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arianna la aggiusta con stato dell’arte</a:t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slides su papers con cui ci siamo confrontati </a:t>
            </a:r>
          </a:p>
          <a:p>
            <a:r>
              <a:rPr lang="en-US"/>
              <a:t>contributo originale (semantic embedding e eval)</a:t>
            </a:r>
          </a:p>
          <a:p>
            <a:r>
              <a:rPr lang="en-US"/>
              <a:t/>
            </a:r>
          </a:p>
          <a:p>
            <a:r>
              <a:rPr lang="en-US"/>
              <a:t>seguito da un paio di slides su semantic embedding e poi le slides di eval? </a:t>
            </a:r>
          </a:p>
          <a:p>
            <a:r>
              <a:rPr lang="en-US"/>
              <a:t/>
            </a:r>
          </a:p>
          <a:p>
            <a:r>
              <a:rPr lang="en-US"/>
              <a:t>+ ci starebbe delineare un minimo tutti gli esperimenti?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dave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non va bene. dave -&gt; da aggiornare una volta che abbiamo i dati di valutazione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 sistemare le main contribution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nilo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grafichetto per davez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dave</a:t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43886" y="1731978"/>
            <a:ext cx="486542" cy="2305647"/>
            <a:chOff x="0" y="0"/>
            <a:chExt cx="328029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029" cy="1554480"/>
            </a:xfrm>
            <a:custGeom>
              <a:avLst/>
              <a:gdLst/>
              <a:ahLst/>
              <a:cxnLst/>
              <a:rect r="r" b="b" t="t" l="l"/>
              <a:pathLst>
                <a:path h="1554480" w="328029">
                  <a:moveTo>
                    <a:pt x="0" y="0"/>
                  </a:moveTo>
                  <a:lnTo>
                    <a:pt x="328029" y="0"/>
                  </a:lnTo>
                  <a:lnTo>
                    <a:pt x="328029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00729" y="2545736"/>
            <a:ext cx="486542" cy="1491889"/>
            <a:chOff x="0" y="0"/>
            <a:chExt cx="328029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8029" cy="1005840"/>
            </a:xfrm>
            <a:custGeom>
              <a:avLst/>
              <a:gdLst/>
              <a:ahLst/>
              <a:cxnLst/>
              <a:rect r="r" b="b" t="t" l="l"/>
              <a:pathLst>
                <a:path h="1005840" w="328029">
                  <a:moveTo>
                    <a:pt x="0" y="0"/>
                  </a:moveTo>
                  <a:lnTo>
                    <a:pt x="328029" y="0"/>
                  </a:lnTo>
                  <a:lnTo>
                    <a:pt x="328029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7A95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57572" y="3169617"/>
            <a:ext cx="486542" cy="868008"/>
            <a:chOff x="0" y="0"/>
            <a:chExt cx="328029" cy="5852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8029" cy="585216"/>
            </a:xfrm>
            <a:custGeom>
              <a:avLst/>
              <a:gdLst/>
              <a:ahLst/>
              <a:cxnLst/>
              <a:rect r="r" b="b" t="t" l="l"/>
              <a:pathLst>
                <a:path h="585216" w="328029">
                  <a:moveTo>
                    <a:pt x="0" y="0"/>
                  </a:moveTo>
                  <a:lnTo>
                    <a:pt x="328029" y="0"/>
                  </a:lnTo>
                  <a:lnTo>
                    <a:pt x="328029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B5C9A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010420" y="3812229"/>
            <a:ext cx="22304269" cy="2292076"/>
            <a:chOff x="0" y="0"/>
            <a:chExt cx="24292397" cy="24963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292396" cy="2496383"/>
            </a:xfrm>
            <a:custGeom>
              <a:avLst/>
              <a:gdLst/>
              <a:ahLst/>
              <a:cxnLst/>
              <a:rect r="r" b="b" t="t" l="l"/>
              <a:pathLst>
                <a:path h="2496383" w="24292396">
                  <a:moveTo>
                    <a:pt x="0" y="0"/>
                  </a:moveTo>
                  <a:lnTo>
                    <a:pt x="24292396" y="0"/>
                  </a:lnTo>
                  <a:lnTo>
                    <a:pt x="24292396" y="2496383"/>
                  </a:lnTo>
                  <a:lnTo>
                    <a:pt x="0" y="24963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648" r="-351" b="-12690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4292397" cy="2496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19"/>
                </a:lnSpc>
              </a:pPr>
              <a:r>
                <a:rPr lang="en-US" b="true" sz="11099">
                  <a:solidFill>
                    <a:srgbClr val="1F1F1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BlaBlaClust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-337182" y="5694730"/>
            <a:ext cx="1895779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5"/>
              </a:lnSpc>
            </a:pPr>
            <a:r>
              <a:rPr lang="en-US" sz="2638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Iteratively organise a text dataset into clusters</a:t>
            </a:r>
          </a:p>
          <a:p>
            <a:pPr algn="ctr">
              <a:lnSpc>
                <a:spcPts val="3165"/>
              </a:lnSpc>
            </a:pPr>
            <a:r>
              <a:rPr lang="en-US" sz="2638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by conversing with an AI. No ground truth: you are the oracle.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765160" y="7961954"/>
            <a:ext cx="2762251" cy="19043"/>
          </a:xfrm>
          <a:prstGeom prst="line">
            <a:avLst/>
          </a:prstGeom>
          <a:ln cap="rnd" w="9525">
            <a:solidFill>
              <a:srgbClr val="D6D4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0" y="8023860"/>
            <a:ext cx="18288000" cy="493013"/>
            <a:chOff x="0" y="0"/>
            <a:chExt cx="24384000" cy="6573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657351"/>
            </a:xfrm>
            <a:custGeom>
              <a:avLst/>
              <a:gdLst/>
              <a:ahLst/>
              <a:cxnLst/>
              <a:rect r="r" b="b" t="t" l="l"/>
              <a:pathLst>
                <a:path h="65735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57351"/>
                  </a:lnTo>
                  <a:lnTo>
                    <a:pt x="0" y="6573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0872" r="25" b="-664335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24384000" cy="6478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Dave · Matteo · Thomas · Nilo · Arianna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572" y="8970389"/>
            <a:ext cx="18283428" cy="453516"/>
            <a:chOff x="0" y="0"/>
            <a:chExt cx="24377904" cy="6046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77904" cy="604688"/>
            </a:xfrm>
            <a:custGeom>
              <a:avLst/>
              <a:gdLst/>
              <a:ahLst/>
              <a:cxnLst/>
              <a:rect r="r" b="b" t="t" l="l"/>
              <a:pathLst>
                <a:path h="604688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04688"/>
                  </a:lnTo>
                  <a:lnTo>
                    <a:pt x="0" y="604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0170" r="0" b="-7309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377904" cy="604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7A9568"/>
                  </a:solidFill>
                  <a:latin typeface="Nunito"/>
                  <a:ea typeface="Nunito"/>
                  <a:cs typeface="Nunito"/>
                  <a:sym typeface="Nunito"/>
                </a:rPr>
                <a:t>FINAL PROJECT PRESENTATION  ·  JUNE 2026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8516873"/>
            <a:ext cx="18288000" cy="453516"/>
            <a:chOff x="0" y="0"/>
            <a:chExt cx="24384000" cy="6046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0" cy="604688"/>
            </a:xfrm>
            <a:custGeom>
              <a:avLst/>
              <a:gdLst/>
              <a:ahLst/>
              <a:cxnLst/>
              <a:rect r="r" b="b" t="t" l="l"/>
              <a:pathLst>
                <a:path h="60468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04688"/>
                  </a:lnTo>
                  <a:lnTo>
                    <a:pt x="0" y="604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0170" r="25" b="-7309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4384000" cy="604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b="true" sz="2199">
                  <a:solidFill>
                    <a:srgbClr val="5E7348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VIBE-CODERS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01 — 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3249" y="3941540"/>
            <a:ext cx="15642374" cy="2616600"/>
            <a:chOff x="0" y="0"/>
            <a:chExt cx="19399655" cy="3245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399655" cy="3245104"/>
            </a:xfrm>
            <a:custGeom>
              <a:avLst/>
              <a:gdLst/>
              <a:ahLst/>
              <a:cxnLst/>
              <a:rect r="r" b="b" t="t" l="l"/>
              <a:pathLst>
                <a:path h="3245104" w="19399655">
                  <a:moveTo>
                    <a:pt x="0" y="0"/>
                  </a:moveTo>
                  <a:lnTo>
                    <a:pt x="19399655" y="0"/>
                  </a:lnTo>
                  <a:lnTo>
                    <a:pt x="19399655" y="3245104"/>
                  </a:lnTo>
                  <a:lnTo>
                    <a:pt x="0" y="3245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656" r="-14349" b="-5574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9399655" cy="32451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Can </a:t>
              </a:r>
              <a:r>
                <a:rPr lang="en-US" b="true" sz="4800">
                  <a:solidFill>
                    <a:srgbClr val="1F1F1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free-f</a:t>
              </a:r>
              <a:r>
                <a:rPr lang="en-US" b="true" sz="4800">
                  <a:solidFill>
                    <a:srgbClr val="1F1F1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orm natural language</a:t>
              </a: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 feedback guide a clustering system toward oracle-accepted outcomes when </a:t>
              </a:r>
              <a:r>
                <a:rPr lang="en-US" b="true" sz="4800">
                  <a:solidFill>
                    <a:srgbClr val="1F1F1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no ground truth exists?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265" y="3236185"/>
            <a:ext cx="73641" cy="4027310"/>
            <a:chOff x="0" y="0"/>
            <a:chExt cx="107009" cy="5852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009" cy="5852160"/>
            </a:xfrm>
            <a:custGeom>
              <a:avLst/>
              <a:gdLst/>
              <a:ahLst/>
              <a:cxnLst/>
              <a:rect r="r" b="b" t="t" l="l"/>
              <a:pathLst>
                <a:path h="5852160" w="107009">
                  <a:moveTo>
                    <a:pt x="0" y="0"/>
                  </a:moveTo>
                  <a:lnTo>
                    <a:pt x="107009" y="0"/>
                  </a:lnTo>
                  <a:lnTo>
                    <a:pt x="107009" y="5852160"/>
                  </a:lnTo>
                  <a:lnTo>
                    <a:pt x="0" y="5852160"/>
                  </a:lnTo>
                  <a:close/>
                </a:path>
              </a:pathLst>
            </a:custGeom>
            <a:solidFill>
              <a:srgbClr val="7A7A6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265" y="1529588"/>
            <a:ext cx="6721070" cy="1842485"/>
            <a:chOff x="0" y="0"/>
            <a:chExt cx="7957415" cy="21814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57415" cy="2181411"/>
            </a:xfrm>
            <a:custGeom>
              <a:avLst/>
              <a:gdLst/>
              <a:ahLst/>
              <a:cxnLst/>
              <a:rect r="r" b="b" t="t" l="l"/>
              <a:pathLst>
                <a:path h="2181411" w="7957415">
                  <a:moveTo>
                    <a:pt x="0" y="0"/>
                  </a:moveTo>
                  <a:lnTo>
                    <a:pt x="7957415" y="0"/>
                  </a:lnTo>
                  <a:lnTo>
                    <a:pt x="7957415" y="2181411"/>
                  </a:lnTo>
                  <a:lnTo>
                    <a:pt x="0" y="21814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189" r="-178775" b="-1191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957415" cy="21814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99"/>
                </a:lnSpc>
              </a:pPr>
              <a:r>
                <a:rPr lang="en-US" b="true" sz="4499" i="true">
                  <a:solidFill>
                    <a:srgbClr val="5F7A4A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Research question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98393" y="9669780"/>
            <a:ext cx="1371600" cy="342900"/>
            <a:chOff x="0" y="0"/>
            <a:chExt cx="18288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2 / 17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4265" y="7674223"/>
            <a:ext cx="16637508" cy="879474"/>
            <a:chOff x="0" y="0"/>
            <a:chExt cx="22183344" cy="11726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83344" cy="1172632"/>
            </a:xfrm>
            <a:custGeom>
              <a:avLst/>
              <a:gdLst/>
              <a:ahLst/>
              <a:cxnLst/>
              <a:rect r="r" b="b" t="t" l="l"/>
              <a:pathLst>
                <a:path h="1172632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172632"/>
                  </a:lnTo>
                  <a:lnTo>
                    <a:pt x="0" y="1172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620" r="0" b="-3075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2183344" cy="1172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A build-heavy project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with experiments designed around questions raised by related work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01"/>
            <a:ext cx="2026796" cy="343195"/>
            <a:chOff x="0" y="0"/>
            <a:chExt cx="2702395" cy="4575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2400" cy="457600"/>
            </a:xfrm>
            <a:custGeom>
              <a:avLst/>
              <a:gdLst/>
              <a:ahLst/>
              <a:cxnLst/>
              <a:rect r="r" b="b" t="t" l="l"/>
              <a:pathLst>
                <a:path h="457600" w="2702400">
                  <a:moveTo>
                    <a:pt x="0" y="0"/>
                  </a:moveTo>
                  <a:lnTo>
                    <a:pt x="2702400" y="0"/>
                  </a:lnTo>
                  <a:lnTo>
                    <a:pt x="2702400" y="457600"/>
                  </a:lnTo>
                  <a:lnTo>
                    <a:pt x="0" y="4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071" r="0" b="-6506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702395" cy="4575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02 — THE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50" y="1028700"/>
            <a:ext cx="8320802" cy="1097400"/>
            <a:chOff x="0" y="0"/>
            <a:chExt cx="11094402" cy="146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4400" cy="1463195"/>
            </a:xfrm>
            <a:custGeom>
              <a:avLst/>
              <a:gdLst/>
              <a:ahLst/>
              <a:cxnLst/>
              <a:rect r="r" b="b" t="t" l="l"/>
              <a:pathLst>
                <a:path h="1463195" w="11094400">
                  <a:moveTo>
                    <a:pt x="0" y="0"/>
                  </a:moveTo>
                  <a:lnTo>
                    <a:pt x="11094400" y="0"/>
                  </a:lnTo>
                  <a:lnTo>
                    <a:pt x="11094400" y="1463195"/>
                  </a:lnTo>
                  <a:lnTo>
                    <a:pt x="0" y="14631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741" r="0" b="-9774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1094402" cy="146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Core Engine - Turn Pipeline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045087" y="1028700"/>
            <a:ext cx="504435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true">
                <a:solidFill>
                  <a:srgbClr val="2F2F2F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The user describes in words what’s off — the system understands and acts.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05932" y="9569606"/>
            <a:ext cx="16254432" cy="411600"/>
            <a:chOff x="0" y="0"/>
            <a:chExt cx="21672575" cy="54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72570" cy="548795"/>
            </a:xfrm>
            <a:custGeom>
              <a:avLst/>
              <a:gdLst/>
              <a:ahLst/>
              <a:cxnLst/>
              <a:rect r="r" b="b" t="t" l="l"/>
              <a:pathLst>
                <a:path h="548795" w="21672570">
                  <a:moveTo>
                    <a:pt x="0" y="0"/>
                  </a:moveTo>
                  <a:lnTo>
                    <a:pt x="21672570" y="0"/>
                  </a:lnTo>
                  <a:lnTo>
                    <a:pt x="21672570" y="548795"/>
                  </a:lnTo>
                  <a:lnTo>
                    <a:pt x="0" y="5487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7616" r="-2356" b="-73761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672575" cy="54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i="true">
                  <a:solidFill>
                    <a:srgbClr val="000000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↺ repeat until the oracle is satisfied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07918" y="9669780"/>
            <a:ext cx="1371600" cy="343200"/>
            <a:chOff x="0" y="0"/>
            <a:chExt cx="1828800" cy="457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28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872" r="0" b="-2786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828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3 / 17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16229" y="3347923"/>
            <a:ext cx="2551052" cy="1253252"/>
            <a:chOff x="0" y="0"/>
            <a:chExt cx="3401403" cy="16710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01441" cy="1671066"/>
            </a:xfrm>
            <a:custGeom>
              <a:avLst/>
              <a:gdLst/>
              <a:ahLst/>
              <a:cxnLst/>
              <a:rect r="r" b="b" t="t" l="l"/>
              <a:pathLst>
                <a:path h="1671066" w="3401441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122930" y="0"/>
                  </a:lnTo>
                  <a:cubicBezTo>
                    <a:pt x="3276727" y="0"/>
                    <a:pt x="3401441" y="124714"/>
                    <a:pt x="3401441" y="278511"/>
                  </a:cubicBezTo>
                  <a:lnTo>
                    <a:pt x="3401441" y="1392555"/>
                  </a:lnTo>
                  <a:cubicBezTo>
                    <a:pt x="3401441" y="1546352"/>
                    <a:pt x="3276727" y="1671066"/>
                    <a:pt x="3122930" y="1671066"/>
                  </a:cubicBezTo>
                  <a:lnTo>
                    <a:pt x="278511" y="1671066"/>
                  </a:lnTo>
                  <a:cubicBezTo>
                    <a:pt x="124714" y="1670939"/>
                    <a:pt x="0" y="1546352"/>
                    <a:pt x="0" y="1392555"/>
                  </a:cubicBezTo>
                  <a:close/>
                </a:path>
              </a:pathLst>
            </a:custGeom>
            <a:solidFill>
              <a:srgbClr val="5F7A4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401403" cy="1671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Oracle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Input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48052" y="3347923"/>
            <a:ext cx="2861853" cy="1253250"/>
            <a:chOff x="0" y="0"/>
            <a:chExt cx="3815804" cy="167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5842" cy="1671064"/>
            </a:xfrm>
            <a:custGeom>
              <a:avLst/>
              <a:gdLst/>
              <a:ahLst/>
              <a:cxnLst/>
              <a:rect r="r" b="b" t="t" l="l"/>
              <a:pathLst>
                <a:path h="1671064" w="3815842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3537331" y="0"/>
                  </a:lnTo>
                  <a:cubicBezTo>
                    <a:pt x="3691128" y="0"/>
                    <a:pt x="3815842" y="124714"/>
                    <a:pt x="3815842" y="278511"/>
                  </a:cubicBezTo>
                  <a:lnTo>
                    <a:pt x="3815842" y="1392553"/>
                  </a:lnTo>
                  <a:cubicBezTo>
                    <a:pt x="3815842" y="1546350"/>
                    <a:pt x="3691128" y="1671064"/>
                    <a:pt x="3537331" y="1671064"/>
                  </a:cubicBezTo>
                  <a:lnTo>
                    <a:pt x="278511" y="1671064"/>
                  </a:lnTo>
                  <a:cubicBezTo>
                    <a:pt x="124714" y="1670937"/>
                    <a:pt x="0" y="1546350"/>
                    <a:pt x="0" y="1392553"/>
                  </a:cubicBezTo>
                  <a:close/>
                </a:path>
              </a:pathLst>
            </a:custGeom>
            <a:solidFill>
              <a:srgbClr val="5F7A4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815804" cy="167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4F2EC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EXECUTOR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i="true">
                  <a:solidFill>
                    <a:srgbClr val="F4F2EC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f_output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52104" y="2681173"/>
            <a:ext cx="3725847" cy="1253252"/>
            <a:chOff x="0" y="0"/>
            <a:chExt cx="4967796" cy="16710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67859" cy="1671066"/>
            </a:xfrm>
            <a:custGeom>
              <a:avLst/>
              <a:gdLst/>
              <a:ahLst/>
              <a:cxnLst/>
              <a:rect r="r" b="b" t="t" l="l"/>
              <a:pathLst>
                <a:path h="1671066" w="4967859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4689348" y="0"/>
                  </a:lnTo>
                  <a:cubicBezTo>
                    <a:pt x="4843145" y="0"/>
                    <a:pt x="4967859" y="124714"/>
                    <a:pt x="4967859" y="278511"/>
                  </a:cubicBezTo>
                  <a:lnTo>
                    <a:pt x="4967859" y="1392555"/>
                  </a:lnTo>
                  <a:cubicBezTo>
                    <a:pt x="4967859" y="1546352"/>
                    <a:pt x="4843145" y="1671066"/>
                    <a:pt x="4689348" y="1671066"/>
                  </a:cubicBezTo>
                  <a:lnTo>
                    <a:pt x="278511" y="1671066"/>
                  </a:lnTo>
                  <a:cubicBezTo>
                    <a:pt x="124714" y="1670939"/>
                    <a:pt x="0" y="1546352"/>
                    <a:pt x="0" y="1392555"/>
                  </a:cubicBezTo>
                  <a:close/>
                </a:path>
              </a:pathLst>
            </a:custGeom>
            <a:solidFill>
              <a:srgbClr val="5F7A4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967796" cy="1671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4F2EC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EXECUTOR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i="true">
                  <a:solidFill>
                    <a:srgbClr val="F4F2EC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f_apply_operations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01990" y="3332550"/>
            <a:ext cx="3256197" cy="1253250"/>
            <a:chOff x="0" y="0"/>
            <a:chExt cx="4341597" cy="167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41622" cy="1671064"/>
            </a:xfrm>
            <a:custGeom>
              <a:avLst/>
              <a:gdLst/>
              <a:ahLst/>
              <a:cxnLst/>
              <a:rect r="r" b="b" t="t" l="l"/>
              <a:pathLst>
                <a:path h="1671064" w="4341622">
                  <a:moveTo>
                    <a:pt x="0" y="278511"/>
                  </a:moveTo>
                  <a:cubicBezTo>
                    <a:pt x="0" y="124714"/>
                    <a:pt x="104533" y="0"/>
                    <a:pt x="233442" y="0"/>
                  </a:cubicBezTo>
                  <a:lnTo>
                    <a:pt x="4108176" y="0"/>
                  </a:lnTo>
                  <a:cubicBezTo>
                    <a:pt x="4237085" y="0"/>
                    <a:pt x="4341622" y="124714"/>
                    <a:pt x="4341622" y="278511"/>
                  </a:cubicBezTo>
                  <a:lnTo>
                    <a:pt x="4341622" y="1392553"/>
                  </a:lnTo>
                  <a:cubicBezTo>
                    <a:pt x="4341622" y="1546350"/>
                    <a:pt x="4237085" y="1671064"/>
                    <a:pt x="4108176" y="1671064"/>
                  </a:cubicBezTo>
                  <a:lnTo>
                    <a:pt x="233442" y="1671064"/>
                  </a:lnTo>
                  <a:cubicBezTo>
                    <a:pt x="104533" y="1670937"/>
                    <a:pt x="0" y="1546350"/>
                    <a:pt x="0" y="1392553"/>
                  </a:cubicBezTo>
                  <a:close/>
                </a:path>
              </a:pathLst>
            </a:custGeom>
            <a:solidFill>
              <a:srgbClr val="5F7A4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341597" cy="167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4F2EC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REPAIR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i="true">
                  <a:solidFill>
                    <a:srgbClr val="F4F2EC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f_boundary_repair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75377" y="6190355"/>
            <a:ext cx="3725847" cy="1253252"/>
            <a:chOff x="0" y="0"/>
            <a:chExt cx="4967796" cy="16710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67859" cy="1671066"/>
            </a:xfrm>
            <a:custGeom>
              <a:avLst/>
              <a:gdLst/>
              <a:ahLst/>
              <a:cxnLst/>
              <a:rect r="r" b="b" t="t" l="l"/>
              <a:pathLst>
                <a:path h="1671066" w="4967859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4689348" y="0"/>
                  </a:lnTo>
                  <a:cubicBezTo>
                    <a:pt x="4843145" y="0"/>
                    <a:pt x="4967859" y="124714"/>
                    <a:pt x="4967859" y="278511"/>
                  </a:cubicBezTo>
                  <a:lnTo>
                    <a:pt x="4967859" y="1392555"/>
                  </a:lnTo>
                  <a:cubicBezTo>
                    <a:pt x="4967859" y="1546352"/>
                    <a:pt x="4843145" y="1671066"/>
                    <a:pt x="4689348" y="1671066"/>
                  </a:cubicBezTo>
                  <a:lnTo>
                    <a:pt x="278511" y="1671066"/>
                  </a:lnTo>
                  <a:cubicBezTo>
                    <a:pt x="124714" y="1670939"/>
                    <a:pt x="0" y="1546352"/>
                    <a:pt x="0" y="1392555"/>
                  </a:cubicBezTo>
                  <a:close/>
                </a:path>
              </a:pathLst>
            </a:custGeom>
            <a:solidFill>
              <a:srgbClr val="5F7A4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967796" cy="1671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4F2EC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PLANNER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i="true">
                  <a:solidFill>
                    <a:srgbClr val="F4F2EC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f_next_best_step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36524" y="4771130"/>
            <a:ext cx="194787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595959"/>
                </a:solidFill>
                <a:latin typeface="Nunito Bold"/>
                <a:ea typeface="Nunito Bold"/>
                <a:cs typeface="Nunito Bold"/>
                <a:sym typeface="Nunito Bold"/>
              </a:rPr>
              <a:t>raw natural language </a:t>
            </a: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from the human </a:t>
            </a:r>
          </a:p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(or LLM oracle)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15898" y="4752080"/>
            <a:ext cx="322838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inspects 10% (cap at 30) of the most </a:t>
            </a:r>
            <a:r>
              <a:rPr lang="en-US" b="true" sz="1800">
                <a:solidFill>
                  <a:srgbClr val="595959"/>
                </a:solidFill>
                <a:latin typeface="Nunito Bold"/>
                <a:ea typeface="Nunito Bold"/>
                <a:cs typeface="Nunito Bold"/>
                <a:sym typeface="Nunito Bold"/>
              </a:rPr>
              <a:t>uncertain boundary points </a:t>
            </a: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of affected clusters and </a:t>
            </a:r>
            <a:r>
              <a:rPr lang="en-US" b="true" sz="1800">
                <a:solidFill>
                  <a:srgbClr val="595959"/>
                </a:solidFill>
                <a:latin typeface="Nunito Bold"/>
                <a:ea typeface="Nunito Bold"/>
                <a:cs typeface="Nunito Bold"/>
                <a:sym typeface="Nunito Bold"/>
              </a:rPr>
              <a:t>corrects obvious misplacements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95005" y="4077300"/>
            <a:ext cx="36829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dispatches each op to the </a:t>
            </a:r>
            <a:r>
              <a:rPr lang="en-US" b="true" sz="1800">
                <a:solidFill>
                  <a:srgbClr val="595959"/>
                </a:solidFill>
                <a:latin typeface="Nunito Bold"/>
                <a:ea typeface="Nunito Bold"/>
                <a:cs typeface="Nunito Bold"/>
                <a:sym typeface="Nunito Bold"/>
              </a:rPr>
              <a:t>clustering engine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24110" y="7596007"/>
            <a:ext cx="322838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595959"/>
                </a:solidFill>
                <a:latin typeface="Nunito Bold"/>
                <a:ea typeface="Nunito Bold"/>
                <a:cs typeface="Nunito Bold"/>
                <a:sym typeface="Nunito Bold"/>
              </a:rPr>
              <a:t>planner decides the response</a:t>
            </a: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: show </a:t>
            </a: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(display result)</a:t>
            </a: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, ask </a:t>
            </a: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(surface an uncertainty)</a:t>
            </a: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, or stop </a:t>
            </a: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(cognitive overload / convergence)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19472" y="4752080"/>
            <a:ext cx="608450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LLM classifies </a:t>
            </a:r>
            <a:r>
              <a:rPr lang="en-US" b="true" sz="1800">
                <a:solidFill>
                  <a:srgbClr val="595959"/>
                </a:solidFill>
                <a:latin typeface="Nunito Bold"/>
                <a:ea typeface="Nunito Bold"/>
                <a:cs typeface="Nunito Bold"/>
                <a:sym typeface="Nunito Bold"/>
              </a:rPr>
              <a:t>intent </a:t>
            </a: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→ emits </a:t>
            </a:r>
            <a:r>
              <a:rPr lang="en-US" b="true" sz="1800">
                <a:solidFill>
                  <a:srgbClr val="595959"/>
                </a:solidFill>
                <a:latin typeface="Nunito Bold"/>
                <a:ea typeface="Nunito Bold"/>
                <a:cs typeface="Nunito Bold"/>
                <a:sym typeface="Nunito Bold"/>
              </a:rPr>
              <a:t>structured JSON </a:t>
            </a:r>
            <a:r>
              <a:rPr lang="en-US" sz="18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operations </a:t>
            </a: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(merge / split / rename / move / semantic_reembed / cluster_reembed)</a:t>
            </a:r>
          </a:p>
        </p:txBody>
      </p:sp>
      <p:sp>
        <p:nvSpPr>
          <p:cNvPr name="TextBox 35" id="35"/>
          <p:cNvSpPr txBox="true"/>
          <p:nvPr/>
        </p:nvSpPr>
        <p:spPr>
          <a:xfrm rot="-1195369">
            <a:off x="7486528" y="3069674"/>
            <a:ext cx="213999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snapshot</a:t>
            </a:r>
          </a:p>
          <a:p>
            <a:pPr algn="ctr">
              <a:lnSpc>
                <a:spcPts val="1920"/>
              </a:lnSpc>
            </a:pPr>
            <a:r>
              <a:rPr lang="en-US" sz="16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committed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116039" y="6716968"/>
            <a:ext cx="3725847" cy="1253250"/>
            <a:chOff x="0" y="0"/>
            <a:chExt cx="4967796" cy="1671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67859" cy="1671064"/>
            </a:xfrm>
            <a:custGeom>
              <a:avLst/>
              <a:gdLst/>
              <a:ahLst/>
              <a:cxnLst/>
              <a:rect r="r" b="b" t="t" l="l"/>
              <a:pathLst>
                <a:path h="1671064" w="4967859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4689348" y="0"/>
                  </a:lnTo>
                  <a:cubicBezTo>
                    <a:pt x="4843145" y="0"/>
                    <a:pt x="4967859" y="124714"/>
                    <a:pt x="4967859" y="278511"/>
                  </a:cubicBezTo>
                  <a:lnTo>
                    <a:pt x="4967859" y="1392553"/>
                  </a:lnTo>
                  <a:cubicBezTo>
                    <a:pt x="4967859" y="1546350"/>
                    <a:pt x="4843145" y="1671064"/>
                    <a:pt x="4689348" y="1671064"/>
                  </a:cubicBezTo>
                  <a:lnTo>
                    <a:pt x="278511" y="1671064"/>
                  </a:lnTo>
                  <a:cubicBezTo>
                    <a:pt x="124714" y="1670937"/>
                    <a:pt x="0" y="1546350"/>
                    <a:pt x="0" y="1392553"/>
                  </a:cubicBezTo>
                  <a:close/>
                </a:path>
              </a:pathLst>
            </a:custGeom>
            <a:solidFill>
              <a:srgbClr val="5F7A4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967796" cy="167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4F2EC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SENSOR</a:t>
              </a:r>
            </a:p>
            <a:p>
              <a:pPr algn="ctr">
                <a:lnSpc>
                  <a:spcPts val="2640"/>
                </a:lnSpc>
              </a:pPr>
              <a:r>
                <a:rPr lang="en-US" b="true" sz="2200" i="true">
                  <a:solidFill>
                    <a:srgbClr val="F4F2EC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f_cluster_uncertainty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045087" y="8198820"/>
            <a:ext cx="38677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detects when two clusters bleed into each other (</a:t>
            </a:r>
            <a:r>
              <a:rPr lang="en-US" b="true" sz="1800" i="true">
                <a:solidFill>
                  <a:srgbClr val="595959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merge candidate</a:t>
            </a: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) or when a cluster's points are too spread out (</a:t>
            </a:r>
            <a:r>
              <a:rPr lang="en-US" b="true" sz="1800" i="true">
                <a:solidFill>
                  <a:srgbClr val="595959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split candidate</a:t>
            </a: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56549" y="7047605"/>
            <a:ext cx="3725847" cy="1253250"/>
            <a:chOff x="0" y="0"/>
            <a:chExt cx="4967796" cy="1671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967859" cy="1671064"/>
            </a:xfrm>
            <a:custGeom>
              <a:avLst/>
              <a:gdLst/>
              <a:ahLst/>
              <a:cxnLst/>
              <a:rect r="r" b="b" t="t" l="l"/>
              <a:pathLst>
                <a:path h="1671064" w="4967859">
                  <a:moveTo>
                    <a:pt x="0" y="278511"/>
                  </a:moveTo>
                  <a:cubicBezTo>
                    <a:pt x="0" y="124714"/>
                    <a:pt x="124714" y="0"/>
                    <a:pt x="278511" y="0"/>
                  </a:cubicBezTo>
                  <a:lnTo>
                    <a:pt x="4689348" y="0"/>
                  </a:lnTo>
                  <a:cubicBezTo>
                    <a:pt x="4843145" y="0"/>
                    <a:pt x="4967859" y="124714"/>
                    <a:pt x="4967859" y="278511"/>
                  </a:cubicBezTo>
                  <a:lnTo>
                    <a:pt x="4967859" y="1392553"/>
                  </a:lnTo>
                  <a:cubicBezTo>
                    <a:pt x="4967859" y="1546350"/>
                    <a:pt x="4843145" y="1671064"/>
                    <a:pt x="4689348" y="1671064"/>
                  </a:cubicBezTo>
                  <a:lnTo>
                    <a:pt x="278511" y="1671064"/>
                  </a:lnTo>
                  <a:cubicBezTo>
                    <a:pt x="124714" y="1670937"/>
                    <a:pt x="0" y="1546350"/>
                    <a:pt x="0" y="1392553"/>
                  </a:cubicBezTo>
                  <a:close/>
                </a:path>
              </a:pathLst>
            </a:custGeom>
            <a:solidFill>
              <a:srgbClr val="5F7A4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967796" cy="167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4F2EC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JUDGE</a:t>
              </a:r>
            </a:p>
            <a:p>
              <a:pPr algn="ctr">
                <a:lnSpc>
                  <a:spcPts val="3359"/>
                </a:lnSpc>
              </a:pPr>
              <a:r>
                <a:rPr lang="en-US" b="true" sz="2799" i="true">
                  <a:solidFill>
                    <a:srgbClr val="F4F2EC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f_eval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705282" y="8453257"/>
            <a:ext cx="322838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595959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end-of-session quality score</a:t>
            </a:r>
          </a:p>
        </p:txBody>
      </p:sp>
      <p:sp>
        <p:nvSpPr>
          <p:cNvPr name="AutoShape 44" id="44"/>
          <p:cNvSpPr/>
          <p:nvPr/>
        </p:nvSpPr>
        <p:spPr>
          <a:xfrm>
            <a:off x="13335000" y="3364370"/>
            <a:ext cx="748666" cy="610179"/>
          </a:xfrm>
          <a:prstGeom prst="line">
            <a:avLst/>
          </a:prstGeom>
          <a:ln cap="flat" w="3810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V="true">
            <a:off x="3185160" y="3974548"/>
            <a:ext cx="1562892" cy="60382"/>
          </a:xfrm>
          <a:prstGeom prst="line">
            <a:avLst/>
          </a:prstGeom>
          <a:ln cap="flat" w="3810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V="true">
            <a:off x="7482840" y="3332550"/>
            <a:ext cx="2348866" cy="748100"/>
          </a:xfrm>
          <a:prstGeom prst="line">
            <a:avLst/>
          </a:prstGeom>
          <a:ln cap="flat" w="3810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47" id="47"/>
          <p:cNvSpPr/>
          <p:nvPr/>
        </p:nvSpPr>
        <p:spPr>
          <a:xfrm>
            <a:off x="15841885" y="3959175"/>
            <a:ext cx="2158845" cy="3384418"/>
          </a:xfrm>
          <a:custGeom>
            <a:avLst/>
            <a:gdLst/>
            <a:ahLst/>
            <a:cxnLst/>
            <a:rect r="r" b="b" t="t" l="l"/>
            <a:pathLst>
              <a:path h="3384418" w="2158845">
                <a:moveTo>
                  <a:pt x="1616302" y="0"/>
                </a:moveTo>
                <a:quadBezTo>
                  <a:pt x="3241096" y="2854114"/>
                  <a:pt x="0" y="3384418"/>
                </a:quadBezTo>
              </a:path>
            </a:pathLst>
          </a:custGeom>
          <a:ln cap="flat" w="3810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 flipH="true" flipV="true">
            <a:off x="10730865" y="6884810"/>
            <a:ext cx="1384935" cy="457201"/>
          </a:xfrm>
          <a:prstGeom prst="line">
            <a:avLst/>
          </a:prstGeom>
          <a:ln cap="flat" w="3810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 flipH="true">
            <a:off x="5182395" y="6900050"/>
            <a:ext cx="1763235" cy="774180"/>
          </a:xfrm>
          <a:prstGeom prst="line">
            <a:avLst/>
          </a:prstGeom>
          <a:ln cap="flat" w="38100">
            <a:solidFill>
              <a:srgbClr val="595959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3200"/>
            <a:chOff x="0" y="0"/>
            <a:chExt cx="10972800" cy="45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227" r="0" b="-4172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02 — THE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088868" y="9669780"/>
            <a:ext cx="1371600" cy="343200"/>
            <a:chOff x="0" y="0"/>
            <a:chExt cx="1828800" cy="457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72" r="0" b="-2786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828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4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 / 17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095780" y="4933950"/>
            <a:ext cx="9644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50" y="1028700"/>
            <a:ext cx="11635502" cy="1097400"/>
            <a:chOff x="0" y="0"/>
            <a:chExt cx="15514003" cy="146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14000" cy="1463195"/>
            </a:xfrm>
            <a:custGeom>
              <a:avLst/>
              <a:gdLst/>
              <a:ahLst/>
              <a:cxnLst/>
              <a:rect r="r" b="b" t="t" l="l"/>
              <a:pathLst>
                <a:path h="1463195" w="15514000">
                  <a:moveTo>
                    <a:pt x="0" y="0"/>
                  </a:moveTo>
                  <a:lnTo>
                    <a:pt x="15514000" y="0"/>
                  </a:lnTo>
                  <a:lnTo>
                    <a:pt x="15514000" y="1463195"/>
                  </a:lnTo>
                  <a:lnTo>
                    <a:pt x="0" y="14631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41" r="28487" b="-9774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5514003" cy="146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1F1F1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Core Engine</a:t>
              </a: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 - inside the </a:t>
              </a:r>
              <a:r>
                <a:rPr lang="en-US" sz="4800" i="true">
                  <a:solidFill>
                    <a:srgbClr val="1F1F1F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executor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8738" y="2641813"/>
            <a:ext cx="847427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f_apply_operations available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29239" y="5629275"/>
            <a:ext cx="242792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MERGE / SPLIT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27962" y="7562850"/>
            <a:ext cx="319623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RENAME / REMOVE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12695" y="6744919"/>
            <a:ext cx="265009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cluster_reembed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17198" y="4223380"/>
            <a:ext cx="300323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semantic_reembed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3096" y="6243638"/>
            <a:ext cx="262020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runs GMM on the affected subset, replaces old cluster(s) with new 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15975" y="8129588"/>
            <a:ext cx="2620208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updates the snapshot, no re-clustering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23055" y="7346766"/>
            <a:ext cx="4429372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zooms into one cluster, re-embeds its points along a semantic axis (e.g. "split the music cluster by sentiment"), leaves all other clusters untouched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76177" y="4870293"/>
            <a:ext cx="288527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dissolves everything and re-clusters the full dataset along a new axis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2743200" y="3365677"/>
            <a:ext cx="2337435" cy="19971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5080635" y="3365677"/>
            <a:ext cx="1560066" cy="38354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5065395" y="3365677"/>
            <a:ext cx="7672346" cy="30950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5095875" y="3365677"/>
            <a:ext cx="10260638" cy="6013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059" y="1015775"/>
            <a:ext cx="16599722" cy="986028"/>
            <a:chOff x="0" y="0"/>
            <a:chExt cx="22132963" cy="1314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32970" cy="1314708"/>
            </a:xfrm>
            <a:custGeom>
              <a:avLst/>
              <a:gdLst/>
              <a:ahLst/>
              <a:cxnLst/>
              <a:rect r="r" b="b" t="t" l="l"/>
              <a:pathLst>
                <a:path h="1314708" w="22132970">
                  <a:moveTo>
                    <a:pt x="0" y="0"/>
                  </a:moveTo>
                  <a:lnTo>
                    <a:pt x="22132970" y="0"/>
                  </a:lnTo>
                  <a:lnTo>
                    <a:pt x="22132970" y="1314708"/>
                  </a:lnTo>
                  <a:lnTo>
                    <a:pt x="0" y="13147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088" r="0" b="-2739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132963" cy="1314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2B2B29"/>
                  </a:solidFill>
                  <a:latin typeface="Nunito"/>
                  <a:ea typeface="Nunito"/>
                  <a:cs typeface="Nunito"/>
                  <a:sym typeface="Nunito"/>
                </a:rPr>
                <a:t>Which datasets were used — and why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1524" y="3173959"/>
            <a:ext cx="5186258" cy="2538070"/>
            <a:chOff x="0" y="0"/>
            <a:chExt cx="6915010" cy="33840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15023" cy="3384035"/>
            </a:xfrm>
            <a:custGeom>
              <a:avLst/>
              <a:gdLst/>
              <a:ahLst/>
              <a:cxnLst/>
              <a:rect r="r" b="b" t="t" l="l"/>
              <a:pathLst>
                <a:path h="3384035" w="6915023">
                  <a:moveTo>
                    <a:pt x="0" y="0"/>
                  </a:moveTo>
                  <a:lnTo>
                    <a:pt x="6915023" y="0"/>
                  </a:lnTo>
                  <a:lnTo>
                    <a:pt x="6915023" y="3384035"/>
                  </a:lnTo>
                  <a:lnTo>
                    <a:pt x="0" y="3384035"/>
                  </a:lnTo>
                  <a:close/>
                </a:path>
              </a:pathLst>
            </a:custGeom>
            <a:solidFill>
              <a:srgbClr val="EFEEE8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37888" y="3183493"/>
            <a:ext cx="109259" cy="2528535"/>
            <a:chOff x="0" y="0"/>
            <a:chExt cx="128118" cy="29649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57791" y="3173959"/>
            <a:ext cx="5186258" cy="2538070"/>
            <a:chOff x="0" y="0"/>
            <a:chExt cx="6915010" cy="3384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15023" cy="3384035"/>
            </a:xfrm>
            <a:custGeom>
              <a:avLst/>
              <a:gdLst/>
              <a:ahLst/>
              <a:cxnLst/>
              <a:rect r="r" b="b" t="t" l="l"/>
              <a:pathLst>
                <a:path h="3384035" w="6915023">
                  <a:moveTo>
                    <a:pt x="0" y="0"/>
                  </a:moveTo>
                  <a:lnTo>
                    <a:pt x="6915023" y="0"/>
                  </a:lnTo>
                  <a:lnTo>
                    <a:pt x="6915023" y="3384035"/>
                  </a:lnTo>
                  <a:lnTo>
                    <a:pt x="0" y="3384035"/>
                  </a:lnTo>
                  <a:close/>
                </a:path>
              </a:pathLst>
            </a:custGeom>
            <a:solidFill>
              <a:srgbClr val="EFEEE8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554155" y="3183493"/>
            <a:ext cx="109259" cy="2528535"/>
            <a:chOff x="0" y="0"/>
            <a:chExt cx="128118" cy="2964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C19B3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274058" y="3173959"/>
            <a:ext cx="5186258" cy="2538070"/>
            <a:chOff x="0" y="0"/>
            <a:chExt cx="6915010" cy="33840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15023" cy="3384035"/>
            </a:xfrm>
            <a:custGeom>
              <a:avLst/>
              <a:gdLst/>
              <a:ahLst/>
              <a:cxnLst/>
              <a:rect r="r" b="b" t="t" l="l"/>
              <a:pathLst>
                <a:path h="3384035" w="6915023">
                  <a:moveTo>
                    <a:pt x="0" y="0"/>
                  </a:moveTo>
                  <a:lnTo>
                    <a:pt x="6915023" y="0"/>
                  </a:lnTo>
                  <a:lnTo>
                    <a:pt x="6915023" y="3384035"/>
                  </a:lnTo>
                  <a:lnTo>
                    <a:pt x="0" y="3384035"/>
                  </a:lnTo>
                  <a:close/>
                </a:path>
              </a:pathLst>
            </a:custGeom>
            <a:solidFill>
              <a:srgbClr val="EFEEE8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270421" y="3183493"/>
            <a:ext cx="109259" cy="2528535"/>
            <a:chOff x="0" y="0"/>
            <a:chExt cx="128118" cy="29649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143" cy="2964942"/>
            </a:xfrm>
            <a:custGeom>
              <a:avLst/>
              <a:gdLst/>
              <a:ahLst/>
              <a:cxnLst/>
              <a:rect r="r" b="b" t="t" l="l"/>
              <a:pathLst>
                <a:path h="2964942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964942"/>
                  </a:lnTo>
                  <a:lnTo>
                    <a:pt x="0" y="2964942"/>
                  </a:lnTo>
                  <a:close/>
                </a:path>
              </a:pathLst>
            </a:custGeom>
            <a:solidFill>
              <a:srgbClr val="4F668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41524" y="6445453"/>
            <a:ext cx="16618791" cy="2118417"/>
            <a:chOff x="0" y="0"/>
            <a:chExt cx="22158388" cy="28245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58452" cy="2824607"/>
            </a:xfrm>
            <a:custGeom>
              <a:avLst/>
              <a:gdLst/>
              <a:ahLst/>
              <a:cxnLst/>
              <a:rect r="r" b="b" t="t" l="l"/>
              <a:pathLst>
                <a:path h="2824607" w="22158452">
                  <a:moveTo>
                    <a:pt x="0" y="0"/>
                  </a:moveTo>
                  <a:lnTo>
                    <a:pt x="22158452" y="0"/>
                  </a:lnTo>
                  <a:lnTo>
                    <a:pt x="22158452" y="2824607"/>
                  </a:lnTo>
                  <a:lnTo>
                    <a:pt x="0" y="2824607"/>
                  </a:lnTo>
                  <a:close/>
                </a:path>
              </a:pathLst>
            </a:custGeom>
            <a:solidFill>
              <a:srgbClr val="E7E3CD"/>
            </a:solidFill>
            <a:ln w="19065" cap="sq">
              <a:solidFill>
                <a:srgbClr val="DBD6B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51059" y="6445453"/>
            <a:ext cx="101112" cy="2108883"/>
            <a:chOff x="0" y="0"/>
            <a:chExt cx="128118" cy="26721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143" cy="2672080"/>
            </a:xfrm>
            <a:custGeom>
              <a:avLst/>
              <a:gdLst/>
              <a:ahLst/>
              <a:cxnLst/>
              <a:rect r="r" b="b" t="t" l="l"/>
              <a:pathLst>
                <a:path h="26720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2672080"/>
                  </a:lnTo>
                  <a:lnTo>
                    <a:pt x="0" y="267208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2960" y="617220"/>
            <a:ext cx="8229600" cy="343200"/>
            <a:chOff x="0" y="0"/>
            <a:chExt cx="10972800" cy="457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227" r="0" b="-4172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972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03 — THE DATASETS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088868" y="9669780"/>
            <a:ext cx="1371600" cy="343200"/>
            <a:chOff x="0" y="0"/>
            <a:chExt cx="1828800" cy="457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28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72" r="0" b="-2786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828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5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 / 17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51059" y="1990373"/>
            <a:ext cx="1659972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476" i="true">
                <a:solidFill>
                  <a:srgbClr val="5E5E57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Three corpora · ~1,200 points each · plus a frozen 300-point held-out split.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80500" y="3412646"/>
            <a:ext cx="461813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 spc="216">
                <a:solidFill>
                  <a:srgbClr val="7F9560"/>
                </a:solidFill>
                <a:latin typeface="Nunito Bold"/>
                <a:ea typeface="Nunito Bold"/>
                <a:cs typeface="Nunito Bold"/>
                <a:sym typeface="Nunito Bold"/>
              </a:rPr>
              <a:t>SENTIMENT AXIS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80500" y="3791674"/>
            <a:ext cx="47004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776" b="true">
                <a:solidFill>
                  <a:srgbClr val="2B2B2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amazon_reviews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0500" y="4354468"/>
            <a:ext cx="459066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Product reviews — positive vs negative tone.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0500" y="5209051"/>
            <a:ext cx="461813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C8C86"/>
                </a:solidFill>
                <a:latin typeface="Nunito"/>
                <a:ea typeface="Nunito"/>
                <a:cs typeface="Nunito"/>
                <a:sym typeface="Nunito"/>
              </a:rPr>
              <a:t>1,200 base · +300 held-out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896767" y="3412646"/>
            <a:ext cx="461813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 spc="216">
                <a:solidFill>
                  <a:srgbClr val="C19B34"/>
                </a:solidFill>
                <a:latin typeface="Nunito Bold"/>
                <a:ea typeface="Nunito Bold"/>
                <a:cs typeface="Nunito Bold"/>
                <a:sym typeface="Nunito Bold"/>
              </a:rPr>
              <a:t>TOPIC AXIS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96767" y="3791674"/>
            <a:ext cx="47004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776" b="true">
                <a:solidFill>
                  <a:srgbClr val="2B2B2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20_newsgroups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96767" y="4354468"/>
            <a:ext cx="459066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Six well-separated newsgroups — distinct subjects.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96767" y="5257924"/>
            <a:ext cx="461813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C8C86"/>
                </a:solidFill>
                <a:latin typeface="Nunito"/>
                <a:ea typeface="Nunito"/>
                <a:cs typeface="Nunito"/>
                <a:sym typeface="Nunito"/>
              </a:rPr>
              <a:t>1,200 base · +300 held-out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13034" y="3412646"/>
            <a:ext cx="461813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b="true" sz="1801" spc="216">
                <a:solidFill>
                  <a:srgbClr val="4F6680"/>
                </a:solidFill>
                <a:latin typeface="Nunito Bold"/>
                <a:ea typeface="Nunito Bold"/>
                <a:cs typeface="Nunito Bold"/>
                <a:sym typeface="Nunito Bold"/>
              </a:rPr>
              <a:t>SENTIMENT AXIS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613034" y="3791674"/>
            <a:ext cx="470048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776" b="true">
                <a:solidFill>
                  <a:srgbClr val="2B2B29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imdb_reviews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13034" y="4354468"/>
            <a:ext cx="4590669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Movie reviews — a second sentiment domain.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13034" y="5209051"/>
            <a:ext cx="461813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C8C86"/>
                </a:solidFill>
                <a:latin typeface="Nunito"/>
                <a:ea typeface="Nunito"/>
                <a:cs typeface="Nunito"/>
                <a:sym typeface="Nunito"/>
              </a:rPr>
              <a:t>1,200 base · +300 held-out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07951" y="6721678"/>
            <a:ext cx="823603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b="true" sz="1876" spc="214">
                <a:solidFill>
                  <a:srgbClr val="5E7348"/>
                </a:solidFill>
                <a:latin typeface="Nunito Bold"/>
                <a:ea typeface="Nunito Bold"/>
                <a:cs typeface="Nunito Bold"/>
                <a:sym typeface="Nunito Bold"/>
              </a:rPr>
              <a:t>WHY THIS MIX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80500" y="7150303"/>
            <a:ext cx="1559324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599" indent="-190299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20NG (topic) is the opposite axis of Amazon (sentiment) → proof the system is dataset-agnostic, not tuned to one corpus.</a:t>
            </a:r>
          </a:p>
          <a:p>
            <a:pPr algn="l" marL="380599" indent="-190299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IMDB confirms the sentiment behaviour on a second domain.</a:t>
            </a:r>
          </a:p>
          <a:p>
            <a:pPr algn="l" marL="380599" indent="-190299" lvl="1">
              <a:lnSpc>
                <a:spcPts val="2521"/>
              </a:lnSpc>
              <a:buFont typeface="Arial"/>
              <a:buChar char="•"/>
            </a:pPr>
            <a:r>
              <a:rPr lang="en-US" sz="2101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The frozen +300 split feeds the generalization test — “new”, unseen data.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51059" y="8817102"/>
            <a:ext cx="1659972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b="true" sz="2176" i="true">
                <a:solidFill>
                  <a:srgbClr val="5E7348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Labels are never used. </a:t>
            </a:r>
            <a:r>
              <a:rPr lang="en-US" sz="2176" i="true">
                <a:solidFill>
                  <a:srgbClr val="5E5E57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We read only title + text — clustering is unsupervised, and scoring against labels would be out of scope.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1059" y="1015775"/>
            <a:ext cx="16599722" cy="986028"/>
            <a:chOff x="0" y="0"/>
            <a:chExt cx="22132963" cy="13147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32970" cy="1314708"/>
            </a:xfrm>
            <a:custGeom>
              <a:avLst/>
              <a:gdLst/>
              <a:ahLst/>
              <a:cxnLst/>
              <a:rect r="r" b="b" t="t" l="l"/>
              <a:pathLst>
                <a:path h="1314708" w="22132970">
                  <a:moveTo>
                    <a:pt x="0" y="0"/>
                  </a:moveTo>
                  <a:lnTo>
                    <a:pt x="22132970" y="0"/>
                  </a:lnTo>
                  <a:lnTo>
                    <a:pt x="22132970" y="1314708"/>
                  </a:lnTo>
                  <a:lnTo>
                    <a:pt x="0" y="13147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2088" r="0" b="-2739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132963" cy="1314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2B2B29"/>
                  </a:solidFill>
                  <a:latin typeface="Nunito"/>
                  <a:ea typeface="Nunito"/>
                  <a:cs typeface="Nunito"/>
                  <a:sym typeface="Nunito"/>
                </a:rPr>
                <a:t>K-means vs GMM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51059" y="1990373"/>
            <a:ext cx="1659972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2"/>
              </a:lnSpc>
            </a:pPr>
            <a:r>
              <a:rPr lang="en-US" sz="2676" i="true">
                <a:solidFill>
                  <a:srgbClr val="5E5E57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GMM is now primary — k-means is the automatic fallback when EM doesn’t converge.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41524" y="2708358"/>
            <a:ext cx="7975759" cy="2489873"/>
            <a:chOff x="0" y="0"/>
            <a:chExt cx="10634345" cy="33198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4345" cy="3319780"/>
            </a:xfrm>
            <a:custGeom>
              <a:avLst/>
              <a:gdLst/>
              <a:ahLst/>
              <a:cxnLst/>
              <a:rect r="r" b="b" t="t" l="l"/>
              <a:pathLst>
                <a:path h="3319780" w="10634345">
                  <a:moveTo>
                    <a:pt x="0" y="0"/>
                  </a:moveTo>
                  <a:lnTo>
                    <a:pt x="10634345" y="0"/>
                  </a:lnTo>
                  <a:lnTo>
                    <a:pt x="10634345" y="3319780"/>
                  </a:lnTo>
                  <a:lnTo>
                    <a:pt x="0" y="3319780"/>
                  </a:lnTo>
                  <a:close/>
                </a:path>
              </a:pathLst>
            </a:custGeom>
            <a:solidFill>
              <a:srgbClr val="EFEEE8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51059" y="2717892"/>
            <a:ext cx="96088" cy="2470814"/>
            <a:chOff x="0" y="0"/>
            <a:chExt cx="128118" cy="32944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43" cy="3294380"/>
            </a:xfrm>
            <a:custGeom>
              <a:avLst/>
              <a:gdLst/>
              <a:ahLst/>
              <a:cxnLst/>
              <a:rect r="r" b="b" t="t" l="l"/>
              <a:pathLst>
                <a:path h="32943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C19B3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7951" y="2937520"/>
            <a:ext cx="727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b="true" sz="2076" spc="197">
                <a:solidFill>
                  <a:srgbClr val="C19B34"/>
                </a:solidFill>
                <a:latin typeface="Nunito Bold"/>
                <a:ea typeface="Nunito Bold"/>
                <a:cs typeface="Nunito Bold"/>
                <a:sym typeface="Nunito Bold"/>
              </a:rPr>
              <a:t>K-MEANS · FALLBACK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5713" y="3419846"/>
            <a:ext cx="708747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3226" indent="-201613" lvl="1">
              <a:lnSpc>
                <a:spcPts val="2671"/>
              </a:lnSpc>
              <a:buFont typeface="Arial"/>
              <a:buChar char="•"/>
            </a:pPr>
            <a:r>
              <a:rPr lang="en-US" sz="2226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Assumes spherical clusters with equal variance.</a:t>
            </a:r>
          </a:p>
          <a:p>
            <a:pPr algn="l" marL="403226" indent="-201613" lvl="1">
              <a:lnSpc>
                <a:spcPts val="2671"/>
              </a:lnSpc>
              <a:buFont typeface="Arial"/>
              <a:buChar char="•"/>
            </a:pPr>
            <a:r>
              <a:rPr lang="en-US" sz="2226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Soft assignments = softmax over negative distances (a temperature “hack”).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84557" y="2708358"/>
            <a:ext cx="7975759" cy="2489873"/>
            <a:chOff x="0" y="0"/>
            <a:chExt cx="10634345" cy="33198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34345" cy="3319780"/>
            </a:xfrm>
            <a:custGeom>
              <a:avLst/>
              <a:gdLst/>
              <a:ahLst/>
              <a:cxnLst/>
              <a:rect r="r" b="b" t="t" l="l"/>
              <a:pathLst>
                <a:path h="3319780" w="10634345">
                  <a:moveTo>
                    <a:pt x="0" y="0"/>
                  </a:moveTo>
                  <a:lnTo>
                    <a:pt x="10634345" y="0"/>
                  </a:lnTo>
                  <a:lnTo>
                    <a:pt x="10634345" y="3319780"/>
                  </a:lnTo>
                  <a:lnTo>
                    <a:pt x="0" y="3319780"/>
                  </a:lnTo>
                  <a:close/>
                </a:path>
              </a:pathLst>
            </a:custGeom>
            <a:solidFill>
              <a:srgbClr val="EFEEE8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494091" y="2717892"/>
            <a:ext cx="96088" cy="2470814"/>
            <a:chOff x="0" y="0"/>
            <a:chExt cx="128118" cy="32944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143" cy="3294380"/>
            </a:xfrm>
            <a:custGeom>
              <a:avLst/>
              <a:gdLst/>
              <a:ahLst/>
              <a:cxnLst/>
              <a:rect r="r" b="b" t="t" l="l"/>
              <a:pathLst>
                <a:path h="3294380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50984" y="2937520"/>
            <a:ext cx="727035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b="true" sz="2076" spc="197">
                <a:solidFill>
                  <a:srgbClr val="5E7348"/>
                </a:solidFill>
                <a:latin typeface="Nunito Bold"/>
                <a:ea typeface="Nunito Bold"/>
                <a:cs typeface="Nunito Bold"/>
                <a:sym typeface="Nunito Bold"/>
              </a:rPr>
              <a:t>GMM · PRIMARY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50984" y="3419846"/>
            <a:ext cx="7087476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5115" indent="-192558" lvl="1">
              <a:lnSpc>
                <a:spcPts val="2551"/>
              </a:lnSpc>
              <a:buFont typeface="Arial"/>
              <a:buChar char="•"/>
            </a:pPr>
            <a:r>
              <a:rPr lang="en-US" sz="2126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Models each cluster’s shape and spread via covariance.</a:t>
            </a:r>
          </a:p>
          <a:p>
            <a:pPr algn="l" marL="385115" indent="-192558" lvl="1">
              <a:lnSpc>
                <a:spcPts val="2551"/>
              </a:lnSpc>
              <a:buFont typeface="Arial"/>
              <a:buChar char="•"/>
            </a:pPr>
            <a:r>
              <a:rPr lang="en-US" sz="2126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Soft assignments = native EM posteriors — probabilistic, clean.</a:t>
            </a:r>
          </a:p>
          <a:p>
            <a:pPr algn="l" marL="385115" indent="-192558" lvl="1">
              <a:lnSpc>
                <a:spcPts val="2551"/>
              </a:lnSpc>
              <a:buFont typeface="Arial"/>
              <a:buChar char="•"/>
            </a:pPr>
            <a:r>
              <a:rPr lang="en-US" sz="2126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A wide cluster can outweigh a narrow one at equal Euclidean distance.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94412" y="5353421"/>
            <a:ext cx="274534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1"/>
              </a:lnSpc>
            </a:pPr>
            <a:r>
              <a:rPr lang="en-US" b="true" sz="2151" spc="195">
                <a:solidFill>
                  <a:srgbClr val="C19B34"/>
                </a:solidFill>
                <a:latin typeface="Nunito Bold"/>
                <a:ea typeface="Nunito Bold"/>
                <a:cs typeface="Nunito Bold"/>
                <a:sym typeface="Nunito Bold"/>
              </a:rPr>
              <a:t>K-MEANS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42254" y="5353421"/>
            <a:ext cx="274534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1"/>
              </a:lnSpc>
            </a:pPr>
            <a:r>
              <a:rPr lang="en-US" b="true" sz="2151" spc="195">
                <a:solidFill>
                  <a:srgbClr val="5E7348"/>
                </a:solidFill>
                <a:latin typeface="Nunito Bold"/>
                <a:ea typeface="Nunito Bold"/>
                <a:cs typeface="Nunito Bold"/>
                <a:sym typeface="Nunito Bold"/>
              </a:rPr>
              <a:t>GMM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87728" y="5890574"/>
            <a:ext cx="834952" cy="834952"/>
            <a:chOff x="0" y="0"/>
            <a:chExt cx="946887" cy="9468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6912" cy="946912"/>
            </a:xfrm>
            <a:custGeom>
              <a:avLst/>
              <a:gdLst/>
              <a:ahLst/>
              <a:cxnLst/>
              <a:rect r="r" b="b" t="t" l="l"/>
              <a:pathLst>
                <a:path h="946912" w="946912">
                  <a:moveTo>
                    <a:pt x="0" y="473456"/>
                  </a:moveTo>
                  <a:cubicBezTo>
                    <a:pt x="0" y="211963"/>
                    <a:pt x="211963" y="0"/>
                    <a:pt x="473456" y="0"/>
                  </a:cubicBezTo>
                  <a:cubicBezTo>
                    <a:pt x="734949" y="0"/>
                    <a:pt x="946912" y="211963"/>
                    <a:pt x="946912" y="473456"/>
                  </a:cubicBezTo>
                  <a:cubicBezTo>
                    <a:pt x="946912" y="734949"/>
                    <a:pt x="734949" y="946912"/>
                    <a:pt x="473456" y="946912"/>
                  </a:cubicBezTo>
                  <a:cubicBezTo>
                    <a:pt x="211963" y="946912"/>
                    <a:pt x="0" y="734949"/>
                    <a:pt x="0" y="473456"/>
                  </a:cubicBezTo>
                  <a:close/>
                </a:path>
              </a:pathLst>
            </a:custGeom>
            <a:solidFill>
              <a:srgbClr val="ECEBE4"/>
            </a:solidFill>
            <a:ln w="23831" cap="sq">
              <a:solidFill>
                <a:srgbClr val="C19B34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816126" y="5890574"/>
            <a:ext cx="831323" cy="831323"/>
            <a:chOff x="0" y="0"/>
            <a:chExt cx="946887" cy="94688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6912" cy="946912"/>
            </a:xfrm>
            <a:custGeom>
              <a:avLst/>
              <a:gdLst/>
              <a:ahLst/>
              <a:cxnLst/>
              <a:rect r="r" b="b" t="t" l="l"/>
              <a:pathLst>
                <a:path h="946912" w="946912">
                  <a:moveTo>
                    <a:pt x="0" y="473456"/>
                  </a:moveTo>
                  <a:cubicBezTo>
                    <a:pt x="0" y="211963"/>
                    <a:pt x="211963" y="0"/>
                    <a:pt x="473456" y="0"/>
                  </a:cubicBezTo>
                  <a:cubicBezTo>
                    <a:pt x="734949" y="0"/>
                    <a:pt x="946912" y="211963"/>
                    <a:pt x="946912" y="473456"/>
                  </a:cubicBezTo>
                  <a:cubicBezTo>
                    <a:pt x="946912" y="734949"/>
                    <a:pt x="734949" y="946912"/>
                    <a:pt x="473456" y="946912"/>
                  </a:cubicBezTo>
                  <a:cubicBezTo>
                    <a:pt x="211963" y="946912"/>
                    <a:pt x="0" y="734949"/>
                    <a:pt x="0" y="473456"/>
                  </a:cubicBezTo>
                  <a:close/>
                </a:path>
              </a:pathLst>
            </a:custGeom>
            <a:solidFill>
              <a:srgbClr val="ECEBE4"/>
            </a:solidFill>
            <a:ln w="23831" cap="sq">
              <a:solidFill>
                <a:srgbClr val="C19B3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657554" y="5769416"/>
            <a:ext cx="19069" cy="952481"/>
            <a:chOff x="0" y="0"/>
            <a:chExt cx="25425" cy="12699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">
                  <a:moveTo>
                    <a:pt x="0" y="0"/>
                  </a:moveTo>
                  <a:lnTo>
                    <a:pt x="25400" y="1270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365000" t="0" r="-6365100" b="1"/>
              </a:stretch>
            </a:blipFill>
            <a:ln w="19065" cap="sq">
              <a:solidFill>
                <a:srgbClr val="8C8C86"/>
              </a:solidFill>
              <a:prstDash val="dash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584725" y="6223873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2B2B2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203440" y="5769416"/>
            <a:ext cx="1536630" cy="887663"/>
            <a:chOff x="0" y="0"/>
            <a:chExt cx="2048840" cy="11835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8764" cy="1183455"/>
            </a:xfrm>
            <a:custGeom>
              <a:avLst/>
              <a:gdLst/>
              <a:ahLst/>
              <a:cxnLst/>
              <a:rect r="r" b="b" t="t" l="l"/>
              <a:pathLst>
                <a:path h="1183455" w="2048764">
                  <a:moveTo>
                    <a:pt x="0" y="591728"/>
                  </a:moveTo>
                  <a:cubicBezTo>
                    <a:pt x="0" y="264969"/>
                    <a:pt x="458597" y="0"/>
                    <a:pt x="1024382" y="0"/>
                  </a:cubicBezTo>
                  <a:cubicBezTo>
                    <a:pt x="1590167" y="0"/>
                    <a:pt x="2048764" y="264969"/>
                    <a:pt x="2048764" y="591728"/>
                  </a:cubicBezTo>
                  <a:cubicBezTo>
                    <a:pt x="2048764" y="918486"/>
                    <a:pt x="1590167" y="1183455"/>
                    <a:pt x="1024382" y="1183455"/>
                  </a:cubicBezTo>
                  <a:cubicBezTo>
                    <a:pt x="458597" y="1183455"/>
                    <a:pt x="0" y="918623"/>
                    <a:pt x="0" y="591728"/>
                  </a:cubicBezTo>
                  <a:close/>
                </a:path>
              </a:pathLst>
            </a:custGeom>
            <a:solidFill>
              <a:srgbClr val="ECEBE4"/>
            </a:solidFill>
            <a:ln w="26691" cap="sq">
              <a:solidFill>
                <a:srgbClr val="5E734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001636" y="5769416"/>
            <a:ext cx="887663" cy="887663"/>
            <a:chOff x="0" y="0"/>
            <a:chExt cx="946887" cy="9468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6912" cy="946912"/>
            </a:xfrm>
            <a:custGeom>
              <a:avLst/>
              <a:gdLst/>
              <a:ahLst/>
              <a:cxnLst/>
              <a:rect r="r" b="b" t="t" l="l"/>
              <a:pathLst>
                <a:path h="946912" w="946912">
                  <a:moveTo>
                    <a:pt x="0" y="473456"/>
                  </a:moveTo>
                  <a:cubicBezTo>
                    <a:pt x="0" y="211963"/>
                    <a:pt x="211963" y="0"/>
                    <a:pt x="473456" y="0"/>
                  </a:cubicBezTo>
                  <a:cubicBezTo>
                    <a:pt x="734949" y="0"/>
                    <a:pt x="946912" y="211963"/>
                    <a:pt x="946912" y="473456"/>
                  </a:cubicBezTo>
                  <a:cubicBezTo>
                    <a:pt x="946912" y="734949"/>
                    <a:pt x="734949" y="946912"/>
                    <a:pt x="473456" y="946912"/>
                  </a:cubicBezTo>
                  <a:cubicBezTo>
                    <a:pt x="211963" y="946912"/>
                    <a:pt x="0" y="734949"/>
                    <a:pt x="0" y="473456"/>
                  </a:cubicBezTo>
                  <a:close/>
                </a:path>
              </a:pathLst>
            </a:custGeom>
            <a:solidFill>
              <a:srgbClr val="ECEBE4"/>
            </a:solidFill>
            <a:ln w="23831" cap="sq">
              <a:solidFill>
                <a:srgbClr val="7F956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881916" y="5769416"/>
            <a:ext cx="19069" cy="952481"/>
            <a:chOff x="0" y="0"/>
            <a:chExt cx="25425" cy="12699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4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5400">
                  <a:moveTo>
                    <a:pt x="0" y="0"/>
                  </a:moveTo>
                  <a:lnTo>
                    <a:pt x="25400" y="12700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365000" t="0" r="-6365100" b="1"/>
              </a:stretch>
            </a:blipFill>
            <a:ln w="19065" cap="sq">
              <a:solidFill>
                <a:srgbClr val="8C8C86"/>
              </a:solidFill>
              <a:prstDash val="dash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644362" y="616330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710" cy="219710"/>
            </a:xfrm>
            <a:custGeom>
              <a:avLst/>
              <a:gdLst/>
              <a:ahLst/>
              <a:cxnLst/>
              <a:rect r="r" b="b" t="t" l="l"/>
              <a:pathLst>
                <a:path h="219710" w="219710">
                  <a:moveTo>
                    <a:pt x="0" y="109855"/>
                  </a:moveTo>
                  <a:cubicBezTo>
                    <a:pt x="0" y="49149"/>
                    <a:pt x="49149" y="0"/>
                    <a:pt x="109855" y="0"/>
                  </a:cubicBezTo>
                  <a:cubicBezTo>
                    <a:pt x="170561" y="0"/>
                    <a:pt x="219710" y="49149"/>
                    <a:pt x="219710" y="109855"/>
                  </a:cubicBezTo>
                  <a:cubicBezTo>
                    <a:pt x="219710" y="170561"/>
                    <a:pt x="170561" y="219710"/>
                    <a:pt x="109855" y="219710"/>
                  </a:cubicBezTo>
                  <a:cubicBezTo>
                    <a:pt x="49149" y="219710"/>
                    <a:pt x="0" y="170434"/>
                    <a:pt x="0" y="109855"/>
                  </a:cubicBezTo>
                  <a:close/>
                </a:path>
              </a:pathLst>
            </a:custGeom>
            <a:solidFill>
              <a:srgbClr val="5E7348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51059" y="6973176"/>
            <a:ext cx="1659972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1"/>
              </a:lnSpc>
            </a:pPr>
            <a:r>
              <a:rPr lang="en-US" sz="2151" i="true">
                <a:solidFill>
                  <a:srgbClr val="5E5E57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Same point, different boundary — the wider Gaussian claims a point that k-means assigns to the nearer centroid.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41524" y="7540161"/>
            <a:ext cx="16618791" cy="1391736"/>
            <a:chOff x="0" y="0"/>
            <a:chExt cx="22158388" cy="18556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158452" cy="1855597"/>
            </a:xfrm>
            <a:custGeom>
              <a:avLst/>
              <a:gdLst/>
              <a:ahLst/>
              <a:cxnLst/>
              <a:rect r="r" b="b" t="t" l="l"/>
              <a:pathLst>
                <a:path h="1855597" w="22158452">
                  <a:moveTo>
                    <a:pt x="0" y="0"/>
                  </a:moveTo>
                  <a:lnTo>
                    <a:pt x="22158452" y="0"/>
                  </a:lnTo>
                  <a:lnTo>
                    <a:pt x="22158452" y="1855597"/>
                  </a:lnTo>
                  <a:lnTo>
                    <a:pt x="0" y="1855597"/>
                  </a:lnTo>
                  <a:close/>
                </a:path>
              </a:pathLst>
            </a:custGeom>
            <a:solidFill>
              <a:srgbClr val="E7E3CD"/>
            </a:solidFill>
            <a:ln w="19065" cap="sq">
              <a:solidFill>
                <a:srgbClr val="DBD6B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51059" y="7549696"/>
            <a:ext cx="96088" cy="1372676"/>
            <a:chOff x="0" y="0"/>
            <a:chExt cx="128118" cy="183023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143" cy="1830197"/>
            </a:xfrm>
            <a:custGeom>
              <a:avLst/>
              <a:gdLst/>
              <a:ahLst/>
              <a:cxnLst/>
              <a:rect r="r" b="b" t="t" l="l"/>
              <a:pathLst>
                <a:path h="183019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07951" y="7755598"/>
            <a:ext cx="15844761" cy="1089031"/>
            <a:chOff x="0" y="0"/>
            <a:chExt cx="21126348" cy="14520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126343" cy="1452042"/>
            </a:xfrm>
            <a:custGeom>
              <a:avLst/>
              <a:gdLst/>
              <a:ahLst/>
              <a:cxnLst/>
              <a:rect r="r" b="b" t="t" l="l"/>
              <a:pathLst>
                <a:path h="1452042" w="21126343">
                  <a:moveTo>
                    <a:pt x="0" y="0"/>
                  </a:moveTo>
                  <a:lnTo>
                    <a:pt x="21126343" y="0"/>
                  </a:lnTo>
                  <a:lnTo>
                    <a:pt x="21126343" y="1452042"/>
                  </a:lnTo>
                  <a:lnTo>
                    <a:pt x="0" y="1452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119" r="0" b="-22887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1126348" cy="14520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1"/>
                </a:lnSpc>
              </a:pPr>
              <a:r>
                <a:rPr lang="en-US" sz="2151" b="true">
                  <a:solidFill>
                    <a:srgbClr val="5E7348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Why diagonal covariance.  </a:t>
              </a:r>
              <a:r>
                <a:rPr lang="en-US" sz="2151">
                  <a:solidFill>
                    <a:srgbClr val="434341"/>
                  </a:solidFill>
                  <a:latin typeface="Nunito"/>
                  <a:ea typeface="Nunito"/>
                  <a:cs typeface="Nunito"/>
                  <a:sym typeface="Nunito"/>
                </a:rPr>
                <a:t>Full covariance on 384-dim ≈ 147k parameters per component → singular matrices; diagonal keeps it tractable.   </a:t>
              </a:r>
            </a:p>
            <a:p>
              <a:pPr algn="l">
                <a:lnSpc>
                  <a:spcPts val="2581"/>
                </a:lnSpc>
              </a:pPr>
              <a:r>
                <a:rPr lang="en-US" sz="2151" i="true">
                  <a:solidFill>
                    <a:srgbClr val="5E5E57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Honest note — silhouette stays ~0.03–0.05 on review embeddings for both. The geometric metric is not the objective.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2960" y="617220"/>
            <a:ext cx="8229600" cy="343200"/>
            <a:chOff x="0" y="0"/>
            <a:chExt cx="10972800" cy="457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227" r="0" b="-41722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0972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04 — ALGORITHM CHOICE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6098393" y="9669780"/>
            <a:ext cx="1371600" cy="343200"/>
            <a:chOff x="0" y="0"/>
            <a:chExt cx="1828800" cy="457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28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72" r="0" b="-2786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828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6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 / 17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05 — DEMO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3154680"/>
            <a:ext cx="18283428" cy="2057400"/>
            <a:chOff x="0" y="0"/>
            <a:chExt cx="24377904" cy="2743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77904" cy="2743200"/>
            </a:xfrm>
            <a:custGeom>
              <a:avLst/>
              <a:gdLst/>
              <a:ahLst/>
              <a:cxnLst/>
              <a:rect r="r" b="b" t="t" l="l"/>
              <a:pathLst>
                <a:path h="27432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157" r="0" b="-1231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377904" cy="2743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i="true">
                  <a:solidFill>
                    <a:srgbClr val="1F1F1F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Live Demo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6494" y="6068759"/>
            <a:ext cx="82296" cy="2331720"/>
            <a:chOff x="0" y="0"/>
            <a:chExt cx="109728" cy="3108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7A956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48790" y="6049709"/>
            <a:ext cx="7069074" cy="2350770"/>
            <a:chOff x="0" y="0"/>
            <a:chExt cx="9425432" cy="3134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25432" cy="3134360"/>
            </a:xfrm>
            <a:custGeom>
              <a:avLst/>
              <a:gdLst/>
              <a:ahLst/>
              <a:cxnLst/>
              <a:rect r="r" b="b" t="t" l="l"/>
              <a:pathLst>
                <a:path h="3134360" w="9425432">
                  <a:moveTo>
                    <a:pt x="0" y="0"/>
                  </a:moveTo>
                  <a:lnTo>
                    <a:pt x="9425432" y="0"/>
                  </a:lnTo>
                  <a:lnTo>
                    <a:pt x="9425432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018919" y="6243454"/>
            <a:ext cx="6583680" cy="364998"/>
            <a:chOff x="0" y="0"/>
            <a:chExt cx="8778240" cy="4866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78240" cy="486664"/>
            </a:xfrm>
            <a:custGeom>
              <a:avLst/>
              <a:gdLst/>
              <a:ahLst/>
              <a:cxnLst/>
              <a:rect r="r" b="b" t="t" l="l"/>
              <a:pathLst>
                <a:path h="48666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6664"/>
                  </a:lnTo>
                  <a:lnTo>
                    <a:pt x="0" y="486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490" r="0" b="-29843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8778240" cy="477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A9568"/>
                  </a:solidFill>
                  <a:latin typeface="Nunito"/>
                  <a:ea typeface="Nunito"/>
                  <a:cs typeface="Nunito"/>
                  <a:sym typeface="Nunito"/>
                </a:rPr>
                <a:t>MAIN FEATURES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018919" y="6708077"/>
            <a:ext cx="6583804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8" indent="-431799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Dataset upload and visualization</a:t>
            </a:r>
          </a:p>
          <a:p>
            <a:pPr algn="l" marL="863598" indent="-431799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Session manager</a:t>
            </a:r>
          </a:p>
          <a:p>
            <a:pPr algn="l" marL="863598" indent="-431799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Chat panel</a:t>
            </a:r>
          </a:p>
          <a:p>
            <a:pPr algn="l" marL="863598" indent="-431799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Evaluation interface</a:t>
            </a:r>
          </a:p>
          <a:p>
            <a:pPr algn="l" marL="863598" indent="-431799" lvl="1">
              <a:lnSpc>
                <a:spcPts val="2399"/>
              </a:lnSpc>
              <a:buFont typeface="Arial"/>
              <a:buChar char="•"/>
            </a:pPr>
            <a:r>
              <a:rPr lang="en-US" sz="19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UMAP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94139" y="6059234"/>
            <a:ext cx="82296" cy="2331720"/>
            <a:chOff x="0" y="0"/>
            <a:chExt cx="109728" cy="3108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108960"/>
                  </a:lnTo>
                  <a:lnTo>
                    <a:pt x="0" y="3108960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66910" y="6049709"/>
            <a:ext cx="7069074" cy="2350770"/>
            <a:chOff x="0" y="0"/>
            <a:chExt cx="9425432" cy="3134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25432" cy="3134360"/>
            </a:xfrm>
            <a:custGeom>
              <a:avLst/>
              <a:gdLst/>
              <a:ahLst/>
              <a:cxnLst/>
              <a:rect r="r" b="b" t="t" l="l"/>
              <a:pathLst>
                <a:path h="3134360" w="9425432">
                  <a:moveTo>
                    <a:pt x="0" y="0"/>
                  </a:moveTo>
                  <a:lnTo>
                    <a:pt x="9425432" y="0"/>
                  </a:lnTo>
                  <a:lnTo>
                    <a:pt x="9425432" y="3134360"/>
                  </a:lnTo>
                  <a:lnTo>
                    <a:pt x="0" y="313436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837039" y="6243454"/>
            <a:ext cx="6583680" cy="364998"/>
            <a:chOff x="0" y="0"/>
            <a:chExt cx="8778240" cy="4866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78240" cy="486664"/>
            </a:xfrm>
            <a:custGeom>
              <a:avLst/>
              <a:gdLst/>
              <a:ahLst/>
              <a:cxnLst/>
              <a:rect r="r" b="b" t="t" l="l"/>
              <a:pathLst>
                <a:path h="48666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486664"/>
                  </a:lnTo>
                  <a:lnTo>
                    <a:pt x="0" y="486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490" r="0" b="-29843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8778240" cy="477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F7A4A"/>
                  </a:solidFill>
                  <a:latin typeface="Nunito"/>
                  <a:ea typeface="Nunito"/>
                  <a:cs typeface="Nunito"/>
                  <a:sym typeface="Nunito"/>
                </a:rPr>
                <a:t>UI EXPLOITS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837039" y="6698552"/>
            <a:ext cx="658368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601" indent="-4318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Clustering history</a:t>
            </a:r>
          </a:p>
          <a:p>
            <a:pPr algn="l" marL="863601" indent="-4318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Cluster selection</a:t>
            </a:r>
          </a:p>
          <a:p>
            <a:pPr algn="l" marL="863601" indent="-4318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Data points search bar</a:t>
            </a:r>
          </a:p>
          <a:p>
            <a:pPr algn="l" marL="863601" indent="-4318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Samples pinning</a:t>
            </a:r>
          </a:p>
          <a:p>
            <a:pPr algn="l" marL="863601" indent="-431801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Turns, cognitive load and cost monitoring</a:t>
            </a:r>
          </a:p>
          <a:p>
            <a:pPr algn="l" marL="863601" indent="-431801" lvl="1">
              <a:lnSpc>
                <a:spcPts val="2400"/>
              </a:lnSpc>
            </a:pPr>
          </a:p>
          <a:p>
            <a:pPr algn="l" marL="863601" indent="-431801" lvl="1">
              <a:lnSpc>
                <a:spcPts val="2400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6088868" y="9669780"/>
            <a:ext cx="1371600" cy="343200"/>
            <a:chOff x="0" y="0"/>
            <a:chExt cx="1828800" cy="457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8800" cy="457606"/>
            </a:xfrm>
            <a:custGeom>
              <a:avLst/>
              <a:gdLst/>
              <a:ahLst/>
              <a:cxnLst/>
              <a:rect r="r" b="b" t="t" l="l"/>
              <a:pathLst>
                <a:path h="457606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606"/>
                  </a:lnTo>
                  <a:lnTo>
                    <a:pt x="0" y="4576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872" r="0" b="-2786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828800" cy="457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7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 / 17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06 — RELATED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83344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References and original contributions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71488"/>
            <a:ext cx="83157" cy="6539431"/>
            <a:chOff x="0" y="0"/>
            <a:chExt cx="101386" cy="7972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386" cy="7972929"/>
            </a:xfrm>
            <a:custGeom>
              <a:avLst/>
              <a:gdLst/>
              <a:ahLst/>
              <a:cxnLst/>
              <a:rect r="r" b="b" t="t" l="l"/>
              <a:pathLst>
                <a:path h="7972929" w="101386">
                  <a:moveTo>
                    <a:pt x="0" y="0"/>
                  </a:moveTo>
                  <a:lnTo>
                    <a:pt x="101386" y="0"/>
                  </a:lnTo>
                  <a:lnTo>
                    <a:pt x="101386" y="7972929"/>
                  </a:lnTo>
                  <a:lnTo>
                    <a:pt x="0" y="7972929"/>
                  </a:lnTo>
                  <a:close/>
                </a:path>
              </a:pathLst>
            </a:custGeom>
            <a:solidFill>
              <a:srgbClr val="7A956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6493" y="2560676"/>
            <a:ext cx="7995433" cy="6561056"/>
            <a:chOff x="0" y="0"/>
            <a:chExt cx="9748098" cy="79992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48098" cy="7999294"/>
            </a:xfrm>
            <a:custGeom>
              <a:avLst/>
              <a:gdLst/>
              <a:ahLst/>
              <a:cxnLst/>
              <a:rect r="r" b="b" t="t" l="l"/>
              <a:pathLst>
                <a:path h="7999294" w="9748098">
                  <a:moveTo>
                    <a:pt x="0" y="0"/>
                  </a:moveTo>
                  <a:lnTo>
                    <a:pt x="9748098" y="0"/>
                  </a:lnTo>
                  <a:lnTo>
                    <a:pt x="9748098" y="7999294"/>
                  </a:lnTo>
                  <a:lnTo>
                    <a:pt x="0" y="7999294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9449" y="2871090"/>
            <a:ext cx="7504958" cy="442357"/>
            <a:chOff x="0" y="0"/>
            <a:chExt cx="9150107" cy="5393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50107" cy="539326"/>
            </a:xfrm>
            <a:custGeom>
              <a:avLst/>
              <a:gdLst/>
              <a:ahLst/>
              <a:cxnLst/>
              <a:rect r="r" b="b" t="t" l="l"/>
              <a:pathLst>
                <a:path h="539326" w="9150107">
                  <a:moveTo>
                    <a:pt x="0" y="0"/>
                  </a:moveTo>
                  <a:lnTo>
                    <a:pt x="9150107" y="0"/>
                  </a:lnTo>
                  <a:lnTo>
                    <a:pt x="9150107" y="539326"/>
                  </a:lnTo>
                  <a:lnTo>
                    <a:pt x="0" y="5393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92" r="-8227" b="-3001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9150107" cy="5298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>
                  <a:solidFill>
                    <a:srgbClr val="5F7A4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FOUND IN LITERATURE  ·  References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27586" y="2582283"/>
            <a:ext cx="84746" cy="6528636"/>
            <a:chOff x="0" y="0"/>
            <a:chExt cx="103493" cy="79729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493" cy="7972907"/>
            </a:xfrm>
            <a:custGeom>
              <a:avLst/>
              <a:gdLst/>
              <a:ahLst/>
              <a:cxnLst/>
              <a:rect r="r" b="b" t="t" l="l"/>
              <a:pathLst>
                <a:path h="7972907" w="103493">
                  <a:moveTo>
                    <a:pt x="0" y="0"/>
                  </a:moveTo>
                  <a:lnTo>
                    <a:pt x="103493" y="0"/>
                  </a:lnTo>
                  <a:lnTo>
                    <a:pt x="103493" y="7972907"/>
                  </a:lnTo>
                  <a:lnTo>
                    <a:pt x="0" y="7972907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12332" y="2560676"/>
            <a:ext cx="8148136" cy="6550226"/>
            <a:chOff x="0" y="0"/>
            <a:chExt cx="9950674" cy="79992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50674" cy="7999272"/>
            </a:xfrm>
            <a:custGeom>
              <a:avLst/>
              <a:gdLst/>
              <a:ahLst/>
              <a:cxnLst/>
              <a:rect r="r" b="b" t="t" l="l"/>
              <a:pathLst>
                <a:path h="7999272" w="9950674">
                  <a:moveTo>
                    <a:pt x="0" y="0"/>
                  </a:moveTo>
                  <a:lnTo>
                    <a:pt x="9950674" y="0"/>
                  </a:lnTo>
                  <a:lnTo>
                    <a:pt x="9950674" y="7999272"/>
                  </a:lnTo>
                  <a:lnTo>
                    <a:pt x="0" y="7999272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505726" y="2786162"/>
            <a:ext cx="7741730" cy="517761"/>
            <a:chOff x="0" y="0"/>
            <a:chExt cx="9340256" cy="6246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40256" cy="624669"/>
            </a:xfrm>
            <a:custGeom>
              <a:avLst/>
              <a:gdLst/>
              <a:ahLst/>
              <a:cxnLst/>
              <a:rect r="r" b="b" t="t" l="l"/>
              <a:pathLst>
                <a:path h="624669" w="9340256">
                  <a:moveTo>
                    <a:pt x="0" y="0"/>
                  </a:moveTo>
                  <a:lnTo>
                    <a:pt x="9340256" y="0"/>
                  </a:lnTo>
                  <a:lnTo>
                    <a:pt x="9340256" y="624669"/>
                  </a:lnTo>
                  <a:lnTo>
                    <a:pt x="0" y="6246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03" r="-6024" b="-24549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9525"/>
              <a:ext cx="9340256" cy="615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2299">
                  <a:solidFill>
                    <a:srgbClr val="5F7A4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Our contribution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8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 / 17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16363" y="3640126"/>
            <a:ext cx="7775927" cy="519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10" indent="-246905" lvl="1">
              <a:lnSpc>
                <a:spcPts val="2744"/>
              </a:lnSpc>
              <a:buFont typeface="Arial"/>
              <a:buChar char="•"/>
            </a:pPr>
            <a:r>
              <a:rPr lang="en-US" b="true" sz="228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Schild et al. — </a:t>
            </a:r>
            <a:r>
              <a:rPr lang="en-US" sz="228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Interactive Clustering (2021) — iterative loop: cluster → </a:t>
            </a:r>
            <a:r>
              <a:rPr lang="en-US" sz="2287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expert annotates pairs as MUST-LINK / CANNOT-LINK </a:t>
            </a:r>
            <a:r>
              <a:rPr lang="en-US" sz="228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→ re-cluster with constraints</a:t>
            </a:r>
          </a:p>
          <a:p>
            <a:pPr algn="l">
              <a:lnSpc>
                <a:spcPts val="2744"/>
              </a:lnSpc>
            </a:pPr>
          </a:p>
          <a:p>
            <a:pPr algn="l" marL="515399" indent="-257700" lvl="1">
              <a:lnSpc>
                <a:spcPts val="2864"/>
              </a:lnSpc>
              <a:buFont typeface="Arial"/>
              <a:buChar char="•"/>
            </a:pPr>
            <a:r>
              <a:rPr lang="en-US" b="true" sz="238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Zhang et al. — </a:t>
            </a:r>
            <a:r>
              <a:rPr lang="en-US" sz="238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ClusterLLM (2023) — LLM answers triplet questions to </a:t>
            </a:r>
            <a:r>
              <a:rPr lang="en-US" sz="2387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fine-tune a  local embedder</a:t>
            </a:r>
            <a:r>
              <a:rPr lang="en-US" sz="238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toward the intended clustering perspective</a:t>
            </a:r>
          </a:p>
          <a:p>
            <a:pPr algn="l">
              <a:lnSpc>
                <a:spcPts val="2744"/>
              </a:lnSpc>
            </a:pPr>
          </a:p>
          <a:p>
            <a:pPr algn="l" marL="493810" indent="-246905" lvl="1">
              <a:lnSpc>
                <a:spcPts val="2744"/>
              </a:lnSpc>
              <a:buFont typeface="Arial"/>
              <a:buChar char="•"/>
            </a:pPr>
            <a:r>
              <a:rPr lang="en-US" b="true" sz="228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Hong et al. — </a:t>
            </a:r>
            <a:r>
              <a:rPr lang="en-US" sz="228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Dial-In LLM (2025) — fully automated: two fine-tuned LLM judges </a:t>
            </a:r>
            <a:r>
              <a:rPr lang="en-US" sz="2287" u="sng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replace the human oracle entirely</a:t>
            </a:r>
          </a:p>
          <a:p>
            <a:pPr algn="l">
              <a:lnSpc>
                <a:spcPts val="2744"/>
              </a:lnSpc>
            </a:pPr>
          </a:p>
          <a:p>
            <a:pPr algn="l" marL="493810" indent="-246905" lvl="1">
              <a:lnSpc>
                <a:spcPts val="2744"/>
              </a:lnSpc>
              <a:buFont typeface="Arial"/>
              <a:buChar char="•"/>
            </a:pPr>
            <a:r>
              <a:rPr lang="en-US" b="true" sz="2287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Fischer &amp; Biemann — </a:t>
            </a:r>
            <a:r>
              <a:rPr lang="en-US" sz="228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Perspectives (2026) — visual HITL on an interactive 2D map; few-shot SetFit+LoRA fine-tuning after user validation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69613" y="3351149"/>
            <a:ext cx="7793757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193" indent="-239596" lvl="1">
              <a:lnSpc>
                <a:spcPts val="2663"/>
              </a:lnSpc>
              <a:buFont typeface="Arial"/>
              <a:buChar char="•"/>
            </a:pPr>
            <a:r>
              <a:rPr lang="en-US" b="true" sz="221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Conversational oracle </a:t>
            </a:r>
            <a:r>
              <a:rPr lang="en-US" sz="22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— free natural language replaces binary annotation (Schild), structured Q&amp;A (ClusterLLM), or UI manipulation (Perspectives)</a:t>
            </a:r>
          </a:p>
          <a:p>
            <a:pPr algn="l">
              <a:lnSpc>
                <a:spcPts val="2663"/>
              </a:lnSpc>
            </a:pPr>
          </a:p>
          <a:p>
            <a:pPr algn="l" marL="479193" indent="-239596" lvl="1">
              <a:lnSpc>
                <a:spcPts val="2663"/>
              </a:lnSpc>
              <a:buFont typeface="Arial"/>
              <a:buChar char="•"/>
            </a:pPr>
            <a:r>
              <a:rPr lang="en-US" b="true" sz="221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On-demand semantic axis steering</a:t>
            </a:r>
            <a:r>
              <a:rPr lang="en-US" sz="22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— oracle redirects the clustering perspective  mid-session; axis emerges from dialogue, not upfront configuration</a:t>
            </a:r>
          </a:p>
          <a:p>
            <a:pPr algn="l">
              <a:lnSpc>
                <a:spcPts val="2663"/>
              </a:lnSpc>
            </a:pPr>
          </a:p>
          <a:p>
            <a:pPr algn="l" marL="479193" indent="-239596" lvl="1">
              <a:lnSpc>
                <a:spcPts val="2663"/>
              </a:lnSpc>
              <a:buFont typeface="Arial"/>
              <a:buChar char="•"/>
            </a:pPr>
            <a:r>
              <a:rPr lang="en-US" b="true" sz="221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Evaluation without ground truth</a:t>
            </a:r>
            <a:r>
              <a:rPr lang="en-US" sz="22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— oracle defines correctness during the session; metrics A3 (cognitive load), B3 (compliance), B4 (contradiction) have no equivalent in related work</a:t>
            </a:r>
          </a:p>
          <a:p>
            <a:pPr algn="l">
              <a:lnSpc>
                <a:spcPts val="2663"/>
              </a:lnSpc>
            </a:pPr>
          </a:p>
          <a:p>
            <a:pPr algn="l" marL="479193" indent="-239596" lvl="1">
              <a:lnSpc>
                <a:spcPts val="2663"/>
              </a:lnSpc>
              <a:buFont typeface="Arial"/>
              <a:buChar char="•"/>
            </a:pPr>
            <a:r>
              <a:rPr lang="en-US" b="true" sz="221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LLM-as-oracle eval harness </a:t>
            </a:r>
            <a:r>
              <a:rPr lang="en-US" sz="22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— automated evaluation pipeline with 23 personas and scripted scenarios; enables reproducible sessions without human subjects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06 — RELATED 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83344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References and original contributions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8846820"/>
            <a:ext cx="16637508" cy="685800"/>
            <a:chOff x="0" y="0"/>
            <a:chExt cx="22183344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707" r="0" b="-4227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2183344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The most original piece isn’t the code — it’s the evaluation question: </a:t>
              </a:r>
              <a:r>
                <a:rPr lang="en-US" sz="1800" i="true">
                  <a:solidFill>
                    <a:srgbClr val="5F7A4A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how do you measure whether a conversational clustering works, when there is no right answer?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9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 / 17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378220" y="2340985"/>
            <a:ext cx="9531560" cy="6290829"/>
          </a:xfrm>
          <a:custGeom>
            <a:avLst/>
            <a:gdLst/>
            <a:ahLst/>
            <a:cxnLst/>
            <a:rect r="r" b="b" t="t" l="l"/>
            <a:pathLst>
              <a:path h="6290829" w="9531560">
                <a:moveTo>
                  <a:pt x="0" y="0"/>
                </a:moveTo>
                <a:lnTo>
                  <a:pt x="9531560" y="0"/>
                </a:lnTo>
                <a:lnTo>
                  <a:pt x="9531560" y="6290830"/>
                </a:lnTo>
                <a:lnTo>
                  <a:pt x="0" y="6290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07 — ORIGINAL CONTRIBUTION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0070" y="1420405"/>
            <a:ext cx="8321040" cy="1097280"/>
            <a:chOff x="0" y="0"/>
            <a:chExt cx="1109472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4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-99945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109472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Semantic Re-embedding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10 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/ 17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01210" y="2714930"/>
            <a:ext cx="15085579" cy="6543370"/>
          </a:xfrm>
          <a:custGeom>
            <a:avLst/>
            <a:gdLst/>
            <a:ahLst/>
            <a:cxnLst/>
            <a:rect r="r" b="b" t="t" l="l"/>
            <a:pathLst>
              <a:path h="6543370" w="15085579">
                <a:moveTo>
                  <a:pt x="0" y="0"/>
                </a:moveTo>
                <a:lnTo>
                  <a:pt x="15085580" y="0"/>
                </a:lnTo>
                <a:lnTo>
                  <a:pt x="15085580" y="6543370"/>
                </a:lnTo>
                <a:lnTo>
                  <a:pt x="0" y="65433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07 — ORIGINAL CONTRIBUTION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9595" y="1420405"/>
            <a:ext cx="8321040" cy="1097280"/>
            <a:chOff x="0" y="0"/>
            <a:chExt cx="1109472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94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-99945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109472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Semantic Re-embedding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11 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/ 17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91850" y="2974885"/>
            <a:ext cx="17047411" cy="5455172"/>
          </a:xfrm>
          <a:custGeom>
            <a:avLst/>
            <a:gdLst/>
            <a:ahLst/>
            <a:cxnLst/>
            <a:rect r="r" b="b" t="t" l="l"/>
            <a:pathLst>
              <a:path h="5455172" w="17047411">
                <a:moveTo>
                  <a:pt x="0" y="0"/>
                </a:moveTo>
                <a:lnTo>
                  <a:pt x="17047412" y="0"/>
                </a:lnTo>
                <a:lnTo>
                  <a:pt x="17047412" y="5455171"/>
                </a:lnTo>
                <a:lnTo>
                  <a:pt x="0" y="5455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21792" y="8610181"/>
            <a:ext cx="16637508" cy="685800"/>
            <a:chOff x="0" y="0"/>
            <a:chExt cx="22183344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83344" cy="914400"/>
            </a:xfrm>
            <a:custGeom>
              <a:avLst/>
              <a:gdLst/>
              <a:ahLst/>
              <a:cxnLst/>
              <a:rect r="r" b="b" t="t" l="l"/>
              <a:pathLst>
                <a:path h="91440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707" r="0" b="-4227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183344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i="true">
                  <a:solidFill>
                    <a:srgbClr val="5F7A4A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+ related experiments (NN propagation, embedder model, final embedding refinement)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08 — 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9454703" cy="1097280"/>
            <a:chOff x="0" y="0"/>
            <a:chExt cx="12606271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0627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606271">
                  <a:moveTo>
                    <a:pt x="0" y="0"/>
                  </a:moveTo>
                  <a:lnTo>
                    <a:pt x="12606271" y="0"/>
                  </a:lnTo>
                  <a:lnTo>
                    <a:pt x="1260627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-7597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606271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Measuring without ground truth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2960" y="2058476"/>
            <a:ext cx="1663750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i="true">
                <a:solidFill>
                  <a:srgbClr val="2F2F2F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No ground truth. The oracle is the only target.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13435" y="2991926"/>
            <a:ext cx="16656558" cy="768591"/>
            <a:chOff x="0" y="0"/>
            <a:chExt cx="22208744" cy="10247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208744" cy="1024788"/>
            </a:xfrm>
            <a:custGeom>
              <a:avLst/>
              <a:gdLst/>
              <a:ahLst/>
              <a:cxnLst/>
              <a:rect r="r" b="b" t="t" l="l"/>
              <a:pathLst>
                <a:path h="1024788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024788"/>
                  </a:lnTo>
                  <a:lnTo>
                    <a:pt x="0" y="1024788"/>
                  </a:lnTo>
                  <a:close/>
                </a:path>
              </a:pathLst>
            </a:custGeom>
            <a:solidFill>
              <a:srgbClr val="E8E3C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" y="3002313"/>
            <a:ext cx="960120" cy="747819"/>
            <a:chOff x="0" y="0"/>
            <a:chExt cx="1280160" cy="9970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" cy="997091"/>
            </a:xfrm>
            <a:custGeom>
              <a:avLst/>
              <a:gdLst/>
              <a:ahLst/>
              <a:cxnLst/>
              <a:rect r="r" b="b" t="t" l="l"/>
              <a:pathLst>
                <a:path h="997091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997091"/>
                  </a:lnTo>
                  <a:lnTo>
                    <a:pt x="0" y="997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1645" t="0" r="-41645" b="829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280160" cy="99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ID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00300" y="3002313"/>
            <a:ext cx="1920240" cy="747819"/>
            <a:chOff x="0" y="0"/>
            <a:chExt cx="2560320" cy="9970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0320" cy="997091"/>
            </a:xfrm>
            <a:custGeom>
              <a:avLst/>
              <a:gdLst/>
              <a:ahLst/>
              <a:cxnLst/>
              <a:rect r="r" b="b" t="t" l="l"/>
              <a:pathLst>
                <a:path h="99709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97091"/>
                  </a:lnTo>
                  <a:lnTo>
                    <a:pt x="0" y="997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0" r="0" b="41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560320" cy="99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FAMILY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94860" y="3002313"/>
            <a:ext cx="1645920" cy="747819"/>
            <a:chOff x="0" y="0"/>
            <a:chExt cx="2194560" cy="9970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" cy="997091"/>
            </a:xfrm>
            <a:custGeom>
              <a:avLst/>
              <a:gdLst/>
              <a:ahLst/>
              <a:cxnLst/>
              <a:rect r="r" b="b" t="t" l="l"/>
              <a:pathLst>
                <a:path h="997091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97091"/>
                  </a:lnTo>
                  <a:lnTo>
                    <a:pt x="0" y="997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82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94560" cy="99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TYPE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15100" y="3002313"/>
            <a:ext cx="10012680" cy="747819"/>
            <a:chOff x="0" y="0"/>
            <a:chExt cx="13350240" cy="9970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50239" cy="997091"/>
            </a:xfrm>
            <a:custGeom>
              <a:avLst/>
              <a:gdLst/>
              <a:ahLst/>
              <a:cxnLst/>
              <a:rect r="r" b="b" t="t" l="l"/>
              <a:pathLst>
                <a:path h="997091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997091"/>
                  </a:lnTo>
                  <a:lnTo>
                    <a:pt x="0" y="997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5035" r="0" b="-20674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3350240" cy="99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ROLE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5860" y="3750131"/>
            <a:ext cx="960120" cy="628168"/>
            <a:chOff x="0" y="0"/>
            <a:chExt cx="1280160" cy="837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0" cy="837557"/>
            </a:xfrm>
            <a:custGeom>
              <a:avLst/>
              <a:gdLst/>
              <a:ahLst/>
              <a:cxnLst/>
              <a:rect r="r" b="b" t="t" l="l"/>
              <a:pathLst>
                <a:path h="83755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829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2801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A1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00300" y="3750131"/>
            <a:ext cx="1920240" cy="628168"/>
            <a:chOff x="0" y="0"/>
            <a:chExt cx="2560320" cy="83755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0" r="0" b="-541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Family A · math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57700" y="3750131"/>
            <a:ext cx="1645920" cy="628168"/>
            <a:chOff x="0" y="0"/>
            <a:chExt cx="2194560" cy="8375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" cy="837557"/>
            </a:xfrm>
            <a:custGeom>
              <a:avLst/>
              <a:gdLst/>
              <a:ahLst/>
              <a:cxnLst/>
              <a:rect r="r" b="b" t="t" l="l"/>
              <a:pathLst>
                <a:path h="83755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1" r="0" b="30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1945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Silhouette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515100" y="3750131"/>
            <a:ext cx="10012680" cy="628168"/>
            <a:chOff x="0" y="0"/>
            <a:chExt cx="13350240" cy="837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350239" cy="837557"/>
            </a:xfrm>
            <a:custGeom>
              <a:avLst/>
              <a:gdLst/>
              <a:ahLst/>
              <a:cxnLst/>
              <a:rect r="r" b="b" t="t" l="l"/>
              <a:pathLst>
                <a:path h="83755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28" r="0" b="-25643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335024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Cluster cohesion · deterministic · diagnostic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13435" y="4367912"/>
            <a:ext cx="16656558" cy="648940"/>
            <a:chOff x="0" y="0"/>
            <a:chExt cx="22208744" cy="8652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208744" cy="865254"/>
            </a:xfrm>
            <a:custGeom>
              <a:avLst/>
              <a:gdLst/>
              <a:ahLst/>
              <a:cxnLst/>
              <a:rect r="r" b="b" t="t" l="l"/>
              <a:pathLst>
                <a:path h="865254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865254"/>
                  </a:lnTo>
                  <a:lnTo>
                    <a:pt x="0" y="865254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165860" y="4378299"/>
            <a:ext cx="960120" cy="628168"/>
            <a:chOff x="0" y="0"/>
            <a:chExt cx="1280160" cy="8375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0" cy="837557"/>
            </a:xfrm>
            <a:custGeom>
              <a:avLst/>
              <a:gdLst/>
              <a:ahLst/>
              <a:cxnLst/>
              <a:rect r="r" b="b" t="t" l="l"/>
              <a:pathLst>
                <a:path h="83755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829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2801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A2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00300" y="4378299"/>
            <a:ext cx="1920240" cy="628168"/>
            <a:chOff x="0" y="0"/>
            <a:chExt cx="2560320" cy="8375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0" r="0" b="-541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Family A · math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457700" y="4367912"/>
            <a:ext cx="1920240" cy="628168"/>
            <a:chOff x="0" y="0"/>
            <a:chExt cx="2560320" cy="83755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1" r="14285" b="309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Weighted turns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515100" y="4378299"/>
            <a:ext cx="10012680" cy="628168"/>
            <a:chOff x="0" y="0"/>
            <a:chExt cx="13350240" cy="83755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350239" cy="837557"/>
            </a:xfrm>
            <a:custGeom>
              <a:avLst/>
              <a:gdLst/>
              <a:ahLst/>
              <a:cxnLst/>
              <a:rect r="r" b="b" t="t" l="l"/>
              <a:pathLst>
                <a:path h="83755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28" r="0" b="-25643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1335024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Turns-to-convergence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5860" y="5006466"/>
            <a:ext cx="960120" cy="628168"/>
            <a:chOff x="0" y="0"/>
            <a:chExt cx="1280160" cy="83755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837557"/>
            </a:xfrm>
            <a:custGeom>
              <a:avLst/>
              <a:gdLst/>
              <a:ahLst/>
              <a:cxnLst/>
              <a:rect r="r" b="b" t="t" l="l"/>
              <a:pathLst>
                <a:path h="83755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829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12801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A3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400300" y="5006466"/>
            <a:ext cx="1920240" cy="628168"/>
            <a:chOff x="0" y="0"/>
            <a:chExt cx="2560320" cy="83755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0" r="0" b="-541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Family A · math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4457700" y="5006466"/>
            <a:ext cx="1645920" cy="628168"/>
            <a:chOff x="0" y="0"/>
            <a:chExt cx="2194560" cy="83755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4560" cy="837557"/>
            </a:xfrm>
            <a:custGeom>
              <a:avLst/>
              <a:gdLst/>
              <a:ahLst/>
              <a:cxnLst/>
              <a:rect r="r" b="b" t="t" l="l"/>
              <a:pathLst>
                <a:path h="83755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1" r="0" b="309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1945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Cognitive load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515100" y="5006466"/>
            <a:ext cx="10012680" cy="628168"/>
            <a:chOff x="0" y="0"/>
            <a:chExt cx="13350240" cy="83755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350239" cy="837557"/>
            </a:xfrm>
            <a:custGeom>
              <a:avLst/>
              <a:gdLst/>
              <a:ahLst/>
              <a:cxnLst/>
              <a:rect r="r" b="b" t="t" l="l"/>
              <a:pathLst>
                <a:path h="83755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28" r="0" b="-25643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335024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Max of turn / token / cluster count scoring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13435" y="5624247"/>
            <a:ext cx="16656558" cy="648940"/>
            <a:chOff x="0" y="0"/>
            <a:chExt cx="22208744" cy="86525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208744" cy="865254"/>
            </a:xfrm>
            <a:custGeom>
              <a:avLst/>
              <a:gdLst/>
              <a:ahLst/>
              <a:cxnLst/>
              <a:rect r="r" b="b" t="t" l="l"/>
              <a:pathLst>
                <a:path h="865254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865254"/>
                  </a:lnTo>
                  <a:lnTo>
                    <a:pt x="0" y="865254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165860" y="5634634"/>
            <a:ext cx="960120" cy="628168"/>
            <a:chOff x="0" y="0"/>
            <a:chExt cx="1280160" cy="83755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280160" cy="837557"/>
            </a:xfrm>
            <a:custGeom>
              <a:avLst/>
              <a:gdLst/>
              <a:ahLst/>
              <a:cxnLst/>
              <a:rect r="r" b="b" t="t" l="l"/>
              <a:pathLst>
                <a:path h="83755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829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2801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>
                  <a:solidFill>
                    <a:srgbClr val="5F7A4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B1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400300" y="5634634"/>
            <a:ext cx="1920240" cy="628168"/>
            <a:chOff x="0" y="0"/>
            <a:chExt cx="2560320" cy="83755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0" r="0" b="-541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Family B · LLM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457700" y="5634634"/>
            <a:ext cx="1645920" cy="628168"/>
            <a:chOff x="0" y="0"/>
            <a:chExt cx="2194560" cy="83755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94560" cy="837557"/>
            </a:xfrm>
            <a:custGeom>
              <a:avLst/>
              <a:gdLst/>
              <a:ahLst/>
              <a:cxnLst/>
              <a:rect r="r" b="b" t="t" l="l"/>
              <a:pathLst>
                <a:path h="83755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1" r="0" b="309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1945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Overall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515100" y="5634634"/>
            <a:ext cx="10012680" cy="628168"/>
            <a:chOff x="0" y="0"/>
            <a:chExt cx="13350240" cy="83755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350239" cy="837557"/>
            </a:xfrm>
            <a:custGeom>
              <a:avLst/>
              <a:gdLst/>
              <a:ahLst/>
              <a:cxnLst/>
              <a:rect r="r" b="b" t="t" l="l"/>
              <a:pathLst>
                <a:path h="83755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28" r="0" b="-25643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335024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Synthetic judgment over B2-B4 scores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165860" y="6262801"/>
            <a:ext cx="960120" cy="628168"/>
            <a:chOff x="0" y="0"/>
            <a:chExt cx="1280160" cy="83755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80160" cy="837557"/>
            </a:xfrm>
            <a:custGeom>
              <a:avLst/>
              <a:gdLst/>
              <a:ahLst/>
              <a:cxnLst/>
              <a:rect r="r" b="b" t="t" l="l"/>
              <a:pathLst>
                <a:path h="83755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829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2801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B2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400300" y="6262801"/>
            <a:ext cx="1920240" cy="628168"/>
            <a:chOff x="0" y="0"/>
            <a:chExt cx="2560320" cy="83755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0" r="0" b="-5417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Family B · LLM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457700" y="6247430"/>
            <a:ext cx="1645920" cy="628168"/>
            <a:chOff x="0" y="0"/>
            <a:chExt cx="2194560" cy="837557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94560" cy="837557"/>
            </a:xfrm>
            <a:custGeom>
              <a:avLst/>
              <a:gdLst/>
              <a:ahLst/>
              <a:cxnLst/>
              <a:rect r="r" b="b" t="t" l="l"/>
              <a:pathLst>
                <a:path h="83755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1" r="0" b="309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1945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Coherence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515100" y="6262801"/>
            <a:ext cx="10012680" cy="628168"/>
            <a:chOff x="0" y="0"/>
            <a:chExt cx="13350240" cy="83755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3350239" cy="837557"/>
            </a:xfrm>
            <a:custGeom>
              <a:avLst/>
              <a:gdLst/>
              <a:ahLst/>
              <a:cxnLst/>
              <a:rect r="r" b="b" t="t" l="l"/>
              <a:pathLst>
                <a:path h="83755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28" r="0" b="-25643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1335024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Were the clusters semantically coherent?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13435" y="6880583"/>
            <a:ext cx="16656558" cy="648940"/>
            <a:chOff x="0" y="0"/>
            <a:chExt cx="22208744" cy="86525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208744" cy="865254"/>
            </a:xfrm>
            <a:custGeom>
              <a:avLst/>
              <a:gdLst/>
              <a:ahLst/>
              <a:cxnLst/>
              <a:rect r="r" b="b" t="t" l="l"/>
              <a:pathLst>
                <a:path h="865254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865254"/>
                  </a:lnTo>
                  <a:lnTo>
                    <a:pt x="0" y="865254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165860" y="6890969"/>
            <a:ext cx="960120" cy="628168"/>
            <a:chOff x="0" y="0"/>
            <a:chExt cx="1280160" cy="837557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80160" cy="837557"/>
            </a:xfrm>
            <a:custGeom>
              <a:avLst/>
              <a:gdLst/>
              <a:ahLst/>
              <a:cxnLst/>
              <a:rect r="r" b="b" t="t" l="l"/>
              <a:pathLst>
                <a:path h="83755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829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12801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B3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400300" y="6890969"/>
            <a:ext cx="1920240" cy="628168"/>
            <a:chOff x="0" y="0"/>
            <a:chExt cx="2560320" cy="83755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0" r="0" b="-541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Family B · LLM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457700" y="6890969"/>
            <a:ext cx="1645920" cy="628168"/>
            <a:chOff x="0" y="0"/>
            <a:chExt cx="2194560" cy="83755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194560" cy="837557"/>
            </a:xfrm>
            <a:custGeom>
              <a:avLst/>
              <a:gdLst/>
              <a:ahLst/>
              <a:cxnLst/>
              <a:rect r="r" b="b" t="t" l="l"/>
              <a:pathLst>
                <a:path h="83755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1" r="0" b="309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21945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Compliance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515100" y="6890969"/>
            <a:ext cx="10012680" cy="628168"/>
            <a:chOff x="0" y="0"/>
            <a:chExt cx="13350240" cy="83755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350239" cy="837557"/>
            </a:xfrm>
            <a:custGeom>
              <a:avLst/>
              <a:gdLst/>
              <a:ahLst/>
              <a:cxnLst/>
              <a:rect r="r" b="b" t="t" l="l"/>
              <a:pathLst>
                <a:path h="83755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28" r="0" b="-2564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1335024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Did the system follow oracle intent?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65860" y="7519136"/>
            <a:ext cx="960120" cy="628168"/>
            <a:chOff x="0" y="0"/>
            <a:chExt cx="1280160" cy="837557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280160" cy="837557"/>
            </a:xfrm>
            <a:custGeom>
              <a:avLst/>
              <a:gdLst/>
              <a:ahLst/>
              <a:cxnLst/>
              <a:rect r="r" b="b" t="t" l="l"/>
              <a:pathLst>
                <a:path h="837557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829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2801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B4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2400300" y="7519136"/>
            <a:ext cx="1920240" cy="628168"/>
            <a:chOff x="0" y="0"/>
            <a:chExt cx="2560320" cy="83755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60320" cy="837557"/>
            </a:xfrm>
            <a:custGeom>
              <a:avLst/>
              <a:gdLst/>
              <a:ahLst/>
              <a:cxnLst/>
              <a:rect r="r" b="b" t="t" l="l"/>
              <a:pathLst>
                <a:path h="837557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10" r="0" b="-5417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256032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Family B · LLM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4457700" y="7519136"/>
            <a:ext cx="1645920" cy="628168"/>
            <a:chOff x="0" y="0"/>
            <a:chExt cx="2194560" cy="83755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194560" cy="837557"/>
            </a:xfrm>
            <a:custGeom>
              <a:avLst/>
              <a:gdLst/>
              <a:ahLst/>
              <a:cxnLst/>
              <a:rect r="r" b="b" t="t" l="l"/>
              <a:pathLst>
                <a:path h="837557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1" r="0" b="309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219456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Contradiction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515100" y="7519136"/>
            <a:ext cx="10012680" cy="628168"/>
            <a:chOff x="0" y="0"/>
            <a:chExt cx="13350240" cy="837557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3350239" cy="837557"/>
            </a:xfrm>
            <a:custGeom>
              <a:avLst/>
              <a:gdLst/>
              <a:ahLst/>
              <a:cxnLst/>
              <a:rect r="r" b="b" t="t" l="l"/>
              <a:pathLst>
                <a:path h="837557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837557"/>
                  </a:lnTo>
                  <a:lnTo>
                    <a:pt x="0" y="83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28" r="0" b="-25643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13350240" cy="83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Was the oracle contradictory?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22960" y="8161020"/>
            <a:ext cx="82296" cy="1028700"/>
            <a:chOff x="0" y="0"/>
            <a:chExt cx="109728" cy="13716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9728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895731" y="8151495"/>
            <a:ext cx="16574262" cy="1047750"/>
            <a:chOff x="0" y="0"/>
            <a:chExt cx="22099016" cy="13970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2099015" cy="1397000"/>
            </a:xfrm>
            <a:custGeom>
              <a:avLst/>
              <a:gdLst/>
              <a:ahLst/>
              <a:cxnLst/>
              <a:rect r="r" b="b" t="t" l="l"/>
              <a:pathLst>
                <a:path h="1397000" w="22099015">
                  <a:moveTo>
                    <a:pt x="0" y="0"/>
                  </a:moveTo>
                  <a:lnTo>
                    <a:pt x="22099015" y="0"/>
                  </a:lnTo>
                  <a:lnTo>
                    <a:pt x="22099015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E8E3C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234440" y="8229600"/>
            <a:ext cx="15951708" cy="891540"/>
            <a:chOff x="0" y="0"/>
            <a:chExt cx="21268944" cy="11887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126894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1268944">
                  <a:moveTo>
                    <a:pt x="0" y="0"/>
                  </a:moveTo>
                  <a:lnTo>
                    <a:pt x="21268944" y="0"/>
                  </a:lnTo>
                  <a:lnTo>
                    <a:pt x="2126894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632" r="0" b="-298632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21268944" cy="1188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i="true">
                  <a:solidFill>
                    <a:srgbClr val="5F7A4A"/>
                  </a:solidFill>
                  <a:latin typeface="Nunito Bold Italics"/>
                  <a:ea typeface="Nunito Bold Italics"/>
                  <a:cs typeface="Nunito Bold Italics"/>
                  <a:sym typeface="Nunito Bold Italics"/>
                </a:rPr>
                <a:t>B4 is a discount factor. </a:t>
              </a:r>
              <a:r>
                <a:rPr lang="en-US" sz="20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With B4 high, B1 partially excuses low B2 / B3.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12 </a:t>
              </a: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/ 17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549252" y="284662"/>
            <a:ext cx="6920741" cy="2450090"/>
            <a:chOff x="0" y="0"/>
            <a:chExt cx="9227654" cy="326678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227536" cy="3266733"/>
            </a:xfrm>
            <a:custGeom>
              <a:avLst/>
              <a:gdLst/>
              <a:ahLst/>
              <a:cxnLst/>
              <a:rect r="r" b="b" t="t" l="l"/>
              <a:pathLst>
                <a:path h="3266733" w="9227536">
                  <a:moveTo>
                    <a:pt x="0" y="0"/>
                  </a:moveTo>
                  <a:lnTo>
                    <a:pt x="9227536" y="0"/>
                  </a:lnTo>
                  <a:lnTo>
                    <a:pt x="9227536" y="3266733"/>
                  </a:lnTo>
                  <a:lnTo>
                    <a:pt x="0" y="3266733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D6D4C8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830435" y="392894"/>
            <a:ext cx="2641797" cy="404494"/>
            <a:chOff x="0" y="0"/>
            <a:chExt cx="3522396" cy="539325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522400" cy="539319"/>
            </a:xfrm>
            <a:custGeom>
              <a:avLst/>
              <a:gdLst/>
              <a:ahLst/>
              <a:cxnLst/>
              <a:rect r="r" b="b" t="t" l="l"/>
              <a:pathLst>
                <a:path h="539319" w="3522400">
                  <a:moveTo>
                    <a:pt x="0" y="0"/>
                  </a:moveTo>
                  <a:lnTo>
                    <a:pt x="3522400" y="0"/>
                  </a:lnTo>
                  <a:lnTo>
                    <a:pt x="3522400" y="539319"/>
                  </a:lnTo>
                  <a:lnTo>
                    <a:pt x="0" y="539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09" r="0" b="-5841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9525"/>
              <a:ext cx="3522396" cy="529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5F7A4A"/>
                  </a:solidFill>
                  <a:latin typeface="Nunito"/>
                  <a:ea typeface="Nunito"/>
                  <a:cs typeface="Nunito"/>
                  <a:sym typeface="Nunito"/>
                </a:rPr>
                <a:t>A4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0830435" y="731025"/>
            <a:ext cx="3333241" cy="572007"/>
            <a:chOff x="0" y="0"/>
            <a:chExt cx="4444322" cy="762677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444326" cy="762681"/>
            </a:xfrm>
            <a:custGeom>
              <a:avLst/>
              <a:gdLst/>
              <a:ahLst/>
              <a:cxnLst/>
              <a:rect r="r" b="b" t="t" l="l"/>
              <a:pathLst>
                <a:path h="762681" w="4444326">
                  <a:moveTo>
                    <a:pt x="0" y="0"/>
                  </a:moveTo>
                  <a:lnTo>
                    <a:pt x="4444326" y="0"/>
                  </a:lnTo>
                  <a:lnTo>
                    <a:pt x="4444326" y="762681"/>
                  </a:lnTo>
                  <a:lnTo>
                    <a:pt x="0" y="762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204" r="20743" b="-20776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4444322" cy="762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OOD rate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830435" y="1187913"/>
            <a:ext cx="2641797" cy="372323"/>
            <a:chOff x="0" y="0"/>
            <a:chExt cx="3522396" cy="49643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522400" cy="496431"/>
            </a:xfrm>
            <a:custGeom>
              <a:avLst/>
              <a:gdLst/>
              <a:ahLst/>
              <a:cxnLst/>
              <a:rect r="r" b="b" t="t" l="l"/>
              <a:pathLst>
                <a:path h="496431" w="3522400">
                  <a:moveTo>
                    <a:pt x="0" y="0"/>
                  </a:moveTo>
                  <a:lnTo>
                    <a:pt x="3522400" y="0"/>
                  </a:lnTo>
                  <a:lnTo>
                    <a:pt x="3522400" y="496431"/>
                  </a:lnTo>
                  <a:lnTo>
                    <a:pt x="0" y="4964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725" r="0" b="-78784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9525"/>
              <a:ext cx="3522396" cy="486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59"/>
                </a:lnSpc>
              </a:pPr>
              <a:r>
                <a:rPr lang="en-US" sz="1799">
                  <a:solidFill>
                    <a:srgbClr val="5F7A4A"/>
                  </a:solidFill>
                  <a:latin typeface="Nunito"/>
                  <a:ea typeface="Nunito"/>
                  <a:cs typeface="Nunito"/>
                  <a:sym typeface="Nunito"/>
                </a:rPr>
                <a:t>Generalization only</a:t>
              </a:r>
            </a:p>
          </p:txBody>
        </p:sp>
      </p:grpSp>
      <p:sp>
        <p:nvSpPr>
          <p:cNvPr name="TextBox 134" id="134"/>
          <p:cNvSpPr txBox="true"/>
          <p:nvPr/>
        </p:nvSpPr>
        <p:spPr>
          <a:xfrm rot="0">
            <a:off x="10830625" y="1610801"/>
            <a:ext cx="6236671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ow many new points look unusually far from their assigned cluster compared to the cluster’s own baseline spread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8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08 — EVALUATION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83344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LLM-as-oracle persona sessions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346589"/>
            <a:ext cx="82296" cy="2970681"/>
            <a:chOff x="0" y="0"/>
            <a:chExt cx="109728" cy="39609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" cy="3960872"/>
            </a:xfrm>
            <a:custGeom>
              <a:avLst/>
              <a:gdLst/>
              <a:ahLst/>
              <a:cxnLst/>
              <a:rect r="r" b="b" t="t" l="l"/>
              <a:pathLst>
                <a:path h="3960872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960872"/>
                  </a:lnTo>
                  <a:lnTo>
                    <a:pt x="0" y="396087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6206" y="2333242"/>
            <a:ext cx="7646279" cy="2997375"/>
            <a:chOff x="0" y="0"/>
            <a:chExt cx="10195039" cy="39964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95052" cy="3996464"/>
            </a:xfrm>
            <a:custGeom>
              <a:avLst/>
              <a:gdLst/>
              <a:ahLst/>
              <a:cxnLst/>
              <a:rect r="r" b="b" t="t" l="l"/>
              <a:pathLst>
                <a:path h="3996464" w="10195052">
                  <a:moveTo>
                    <a:pt x="0" y="0"/>
                  </a:moveTo>
                  <a:lnTo>
                    <a:pt x="10195052" y="0"/>
                  </a:lnTo>
                  <a:lnTo>
                    <a:pt x="10195052" y="3996464"/>
                  </a:lnTo>
                  <a:lnTo>
                    <a:pt x="0" y="3996464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12958" y="2502292"/>
            <a:ext cx="7149998" cy="2394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true">
                <a:solidFill>
                  <a:srgbClr val="5F7A4A"/>
                </a:solidFill>
                <a:latin typeface="Nunito Bold"/>
                <a:ea typeface="Nunito Bold"/>
                <a:cs typeface="Nunito Bold"/>
                <a:sym typeface="Nunito Bold"/>
              </a:rPr>
              <a:t>HOW IT WORKS</a:t>
            </a:r>
          </a:p>
          <a:p>
            <a:pPr algn="l">
              <a:lnSpc>
                <a:spcPts val="2315"/>
              </a:lnSpc>
            </a:pPr>
          </a:p>
          <a:p>
            <a:pPr algn="l">
              <a:lnSpc>
                <a:spcPts val="2430"/>
              </a:lnSpc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An LLM plays the oracle and runs a clustering session end-to-end — no human in the loop.</a:t>
            </a:r>
          </a:p>
          <a:p>
            <a:pPr algn="l">
              <a:lnSpc>
                <a:spcPts val="2430"/>
              </a:lnSpc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Each persona is a JSON in </a:t>
            </a:r>
            <a:r>
              <a:rPr lang="en-US" sz="2000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personas/</a:t>
            </a: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 — goal, tone notes, dataset, k_initial, optional model override.</a:t>
            </a:r>
          </a:p>
          <a:p>
            <a:pPr algn="l">
              <a:lnSpc>
                <a:spcPts val="2430"/>
              </a:lnSpc>
            </a:pP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One session per persona (UI: </a:t>
            </a:r>
            <a:r>
              <a:rPr lang="en-US" sz="2000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persona/&lt;name&gt;</a:t>
            </a:r>
            <a:r>
              <a:rPr lang="en-US" sz="20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); the turn loop runs over the live API and evaluation is launched at th end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2960" y="6527907"/>
            <a:ext cx="82296" cy="2720731"/>
            <a:chOff x="0" y="0"/>
            <a:chExt cx="109728" cy="36276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" cy="3627704"/>
            </a:xfrm>
            <a:custGeom>
              <a:avLst/>
              <a:gdLst/>
              <a:ahLst/>
              <a:cxnLst/>
              <a:rect r="r" b="b" t="t" l="l"/>
              <a:pathLst>
                <a:path h="362770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627704"/>
                  </a:lnTo>
                  <a:lnTo>
                    <a:pt x="0" y="3627704"/>
                  </a:lnTo>
                  <a:close/>
                </a:path>
              </a:pathLst>
            </a:custGeom>
            <a:solidFill>
              <a:srgbClr val="C9A75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6206" y="6500629"/>
            <a:ext cx="7646279" cy="2748010"/>
            <a:chOff x="0" y="0"/>
            <a:chExt cx="10195039" cy="36640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95052" cy="3664076"/>
            </a:xfrm>
            <a:custGeom>
              <a:avLst/>
              <a:gdLst/>
              <a:ahLst/>
              <a:cxnLst/>
              <a:rect r="r" b="b" t="t" l="l"/>
              <a:pathLst>
                <a:path h="3664076" w="10195052">
                  <a:moveTo>
                    <a:pt x="0" y="0"/>
                  </a:moveTo>
                  <a:lnTo>
                    <a:pt x="10195052" y="0"/>
                  </a:lnTo>
                  <a:lnTo>
                    <a:pt x="10195052" y="3664076"/>
                  </a:lnTo>
                  <a:lnTo>
                    <a:pt x="0" y="3664076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12958" y="6722665"/>
            <a:ext cx="7149998" cy="28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5"/>
              </a:lnSpc>
            </a:pPr>
            <a:r>
              <a:rPr lang="en-US" sz="2000" b="true">
                <a:solidFill>
                  <a:srgbClr val="C9A75A"/>
                </a:solidFill>
                <a:latin typeface="Nunito Bold"/>
                <a:ea typeface="Nunito Bold"/>
                <a:cs typeface="Nunito Bold"/>
                <a:sym typeface="Nunito Bold"/>
              </a:rPr>
              <a:t>EACH RUN TERMINATES 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12958" y="7257215"/>
            <a:ext cx="3462699" cy="610187"/>
            <a:chOff x="0" y="0"/>
            <a:chExt cx="4616933" cy="8135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16958" cy="813609"/>
            </a:xfrm>
            <a:custGeom>
              <a:avLst/>
              <a:gdLst/>
              <a:ahLst/>
              <a:cxnLst/>
              <a:rect r="r" b="b" t="t" l="l"/>
              <a:pathLst>
                <a:path h="813609" w="4616958">
                  <a:moveTo>
                    <a:pt x="0" y="135661"/>
                  </a:moveTo>
                  <a:cubicBezTo>
                    <a:pt x="0" y="60741"/>
                    <a:pt x="44069" y="0"/>
                    <a:pt x="98425" y="0"/>
                  </a:cubicBezTo>
                  <a:lnTo>
                    <a:pt x="4518533" y="0"/>
                  </a:lnTo>
                  <a:cubicBezTo>
                    <a:pt x="4572889" y="0"/>
                    <a:pt x="4616958" y="60741"/>
                    <a:pt x="4616958" y="135661"/>
                  </a:cubicBezTo>
                  <a:lnTo>
                    <a:pt x="4616958" y="677957"/>
                  </a:lnTo>
                  <a:cubicBezTo>
                    <a:pt x="4616958" y="752877"/>
                    <a:pt x="4572889" y="813609"/>
                    <a:pt x="4518533" y="813609"/>
                  </a:cubicBezTo>
                  <a:lnTo>
                    <a:pt x="98425" y="813609"/>
                  </a:lnTo>
                  <a:cubicBezTo>
                    <a:pt x="44069" y="813609"/>
                    <a:pt x="0" y="752877"/>
                    <a:pt x="0" y="677957"/>
                  </a:cubicBezTo>
                  <a:close/>
                </a:path>
              </a:pathLst>
            </a:custGeom>
            <a:solidFill>
              <a:srgbClr val="EAF0E4"/>
            </a:solidFill>
            <a:ln w="12700" cap="sq">
              <a:solidFill>
                <a:srgbClr val="5F7A4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616933" cy="832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81"/>
                </a:lnSpc>
              </a:pPr>
              <a:r>
                <a:rPr lang="en-US" sz="2000">
                  <a:solidFill>
                    <a:srgbClr val="3F5233"/>
                  </a:solidFill>
                  <a:latin typeface="Consolas"/>
                  <a:ea typeface="Consolas"/>
                  <a:cs typeface="Consolas"/>
                  <a:sym typeface="Consolas"/>
                </a:rPr>
                <a:t>oracle_satisfied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59909" y="7257215"/>
            <a:ext cx="3462699" cy="610187"/>
            <a:chOff x="0" y="0"/>
            <a:chExt cx="4616933" cy="8135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16958" cy="813609"/>
            </a:xfrm>
            <a:custGeom>
              <a:avLst/>
              <a:gdLst/>
              <a:ahLst/>
              <a:cxnLst/>
              <a:rect r="r" b="b" t="t" l="l"/>
              <a:pathLst>
                <a:path h="813609" w="4616958">
                  <a:moveTo>
                    <a:pt x="0" y="135661"/>
                  </a:moveTo>
                  <a:cubicBezTo>
                    <a:pt x="0" y="60741"/>
                    <a:pt x="44069" y="0"/>
                    <a:pt x="98425" y="0"/>
                  </a:cubicBezTo>
                  <a:lnTo>
                    <a:pt x="4518533" y="0"/>
                  </a:lnTo>
                  <a:cubicBezTo>
                    <a:pt x="4572889" y="0"/>
                    <a:pt x="4616958" y="60741"/>
                    <a:pt x="4616958" y="135661"/>
                  </a:cubicBezTo>
                  <a:lnTo>
                    <a:pt x="4616958" y="677957"/>
                  </a:lnTo>
                  <a:cubicBezTo>
                    <a:pt x="4616958" y="752877"/>
                    <a:pt x="4572889" y="813609"/>
                    <a:pt x="4518533" y="813609"/>
                  </a:cubicBezTo>
                  <a:lnTo>
                    <a:pt x="98425" y="813609"/>
                  </a:lnTo>
                  <a:cubicBezTo>
                    <a:pt x="44069" y="813609"/>
                    <a:pt x="0" y="752877"/>
                    <a:pt x="0" y="677957"/>
                  </a:cubicBezTo>
                  <a:close/>
                </a:path>
              </a:pathLst>
            </a:custGeom>
            <a:solidFill>
              <a:srgbClr val="EFEDE6"/>
            </a:solidFill>
            <a:ln w="12700" cap="sq">
              <a:solidFill>
                <a:srgbClr val="7A7A6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616933" cy="8326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81"/>
                </a:lnSpc>
              </a:pPr>
              <a:r>
                <a:rPr lang="en-US" sz="2000">
                  <a:solidFill>
                    <a:srgbClr val="5A5A50"/>
                  </a:solidFill>
                  <a:latin typeface="Consolas"/>
                  <a:ea typeface="Consolas"/>
                  <a:cs typeface="Consolas"/>
                  <a:sym typeface="Consolas"/>
                </a:rPr>
                <a:t>system_stop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2958" y="8029328"/>
            <a:ext cx="3462699" cy="774405"/>
            <a:chOff x="0" y="0"/>
            <a:chExt cx="4616933" cy="10325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16958" cy="1032565"/>
            </a:xfrm>
            <a:custGeom>
              <a:avLst/>
              <a:gdLst/>
              <a:ahLst/>
              <a:cxnLst/>
              <a:rect r="r" b="b" t="t" l="l"/>
              <a:pathLst>
                <a:path h="1032565" w="4616958">
                  <a:moveTo>
                    <a:pt x="0" y="172171"/>
                  </a:moveTo>
                  <a:cubicBezTo>
                    <a:pt x="0" y="77088"/>
                    <a:pt x="44069" y="0"/>
                    <a:pt x="98425" y="0"/>
                  </a:cubicBezTo>
                  <a:lnTo>
                    <a:pt x="4518533" y="0"/>
                  </a:lnTo>
                  <a:cubicBezTo>
                    <a:pt x="4572889" y="0"/>
                    <a:pt x="4616958" y="77088"/>
                    <a:pt x="4616958" y="172171"/>
                  </a:cubicBezTo>
                  <a:lnTo>
                    <a:pt x="4616958" y="860413"/>
                  </a:lnTo>
                  <a:cubicBezTo>
                    <a:pt x="4616958" y="955496"/>
                    <a:pt x="4572889" y="1032565"/>
                    <a:pt x="4518533" y="1032565"/>
                  </a:cubicBezTo>
                  <a:lnTo>
                    <a:pt x="98425" y="1032565"/>
                  </a:lnTo>
                  <a:cubicBezTo>
                    <a:pt x="44069" y="1032565"/>
                    <a:pt x="0" y="955496"/>
                    <a:pt x="0" y="860413"/>
                  </a:cubicBezTo>
                  <a:close/>
                </a:path>
              </a:pathLst>
            </a:custGeom>
            <a:solidFill>
              <a:srgbClr val="F6EFDD"/>
            </a:solidFill>
            <a:ln w="12700" cap="sq">
              <a:solidFill>
                <a:srgbClr val="C9A75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616933" cy="1051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81"/>
                </a:lnSpc>
              </a:pPr>
              <a:r>
                <a:rPr lang="en-US" sz="2000">
                  <a:solidFill>
                    <a:srgbClr val="8A6D24"/>
                  </a:solidFill>
                  <a:latin typeface="Consolas"/>
                  <a:ea typeface="Consolas"/>
                  <a:cs typeface="Consolas"/>
                  <a:sym typeface="Consolas"/>
                </a:rPr>
                <a:t>max_turns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759909" y="8029328"/>
            <a:ext cx="3462699" cy="774405"/>
            <a:chOff x="0" y="0"/>
            <a:chExt cx="4616933" cy="10325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16958" cy="1032565"/>
            </a:xfrm>
            <a:custGeom>
              <a:avLst/>
              <a:gdLst/>
              <a:ahLst/>
              <a:cxnLst/>
              <a:rect r="r" b="b" t="t" l="l"/>
              <a:pathLst>
                <a:path h="1032565" w="4616958">
                  <a:moveTo>
                    <a:pt x="0" y="172171"/>
                  </a:moveTo>
                  <a:cubicBezTo>
                    <a:pt x="0" y="77088"/>
                    <a:pt x="44069" y="0"/>
                    <a:pt x="98425" y="0"/>
                  </a:cubicBezTo>
                  <a:lnTo>
                    <a:pt x="4518533" y="0"/>
                  </a:lnTo>
                  <a:cubicBezTo>
                    <a:pt x="4572889" y="0"/>
                    <a:pt x="4616958" y="77088"/>
                    <a:pt x="4616958" y="172171"/>
                  </a:cubicBezTo>
                  <a:lnTo>
                    <a:pt x="4616958" y="860413"/>
                  </a:lnTo>
                  <a:cubicBezTo>
                    <a:pt x="4616958" y="955496"/>
                    <a:pt x="4572889" y="1032565"/>
                    <a:pt x="4518533" y="1032565"/>
                  </a:cubicBezTo>
                  <a:lnTo>
                    <a:pt x="98425" y="1032565"/>
                  </a:lnTo>
                  <a:cubicBezTo>
                    <a:pt x="44069" y="1032565"/>
                    <a:pt x="0" y="955496"/>
                    <a:pt x="0" y="860413"/>
                  </a:cubicBezTo>
                  <a:close/>
                </a:path>
              </a:pathLst>
            </a:custGeom>
            <a:solidFill>
              <a:srgbClr val="F4E7E1"/>
            </a:solidFill>
            <a:ln w="12700" cap="sq">
              <a:solidFill>
                <a:srgbClr val="B4634A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616933" cy="1051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81"/>
                </a:lnSpc>
              </a:pPr>
              <a:r>
                <a:rPr lang="en-US" sz="2000">
                  <a:solidFill>
                    <a:srgbClr val="9B4A34"/>
                  </a:solidFill>
                  <a:latin typeface="Consolas"/>
                  <a:ea typeface="Consolas"/>
                  <a:cs typeface="Consolas"/>
                  <a:sym typeface="Consolas"/>
                </a:rPr>
                <a:t>error: oracle_parse / api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82958" y="2300139"/>
            <a:ext cx="82296" cy="6948499"/>
            <a:chOff x="0" y="0"/>
            <a:chExt cx="109728" cy="92646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" cy="9264666"/>
            </a:xfrm>
            <a:custGeom>
              <a:avLst/>
              <a:gdLst/>
              <a:ahLst/>
              <a:cxnLst/>
              <a:rect r="r" b="b" t="t" l="l"/>
              <a:pathLst>
                <a:path h="9264666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9264666"/>
                  </a:lnTo>
                  <a:lnTo>
                    <a:pt x="0" y="9264666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946204" y="2290477"/>
            <a:ext cx="8523789" cy="6967823"/>
            <a:chOff x="0" y="0"/>
            <a:chExt cx="11365052" cy="92904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65103" cy="9290431"/>
            </a:xfrm>
            <a:custGeom>
              <a:avLst/>
              <a:gdLst/>
              <a:ahLst/>
              <a:cxnLst/>
              <a:rect r="r" b="b" t="t" l="l"/>
              <a:pathLst>
                <a:path h="9290431" w="11365103">
                  <a:moveTo>
                    <a:pt x="0" y="0"/>
                  </a:moveTo>
                  <a:lnTo>
                    <a:pt x="11365103" y="0"/>
                  </a:lnTo>
                  <a:lnTo>
                    <a:pt x="11365103" y="9290431"/>
                  </a:lnTo>
                  <a:lnTo>
                    <a:pt x="0" y="9290431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0" y="2416283"/>
            <a:ext cx="8119996" cy="6714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9A998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"name": </a:t>
            </a:r>
            <a:r>
              <a:rPr lang="en-US" sz="1600">
                <a:solidFill>
                  <a:srgbClr val="2F2F2F"/>
                </a:solidFill>
                <a:latin typeface="Consolas"/>
                <a:ea typeface="Consolas"/>
                <a:cs typeface="Consolas"/>
                <a:sym typeface="Consolas"/>
              </a:rPr>
              <a:t>"never_satisfied_max_turns",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"description": </a:t>
            </a:r>
            <a:r>
              <a:rPr lang="en-US" sz="1600">
                <a:solidFill>
                  <a:srgbClr val="2F2F2F"/>
                </a:solidFill>
                <a:latin typeface="Consolas"/>
                <a:ea typeface="Consolas"/>
                <a:cs typeface="Consolas"/>
                <a:sym typeface="Consolas"/>
              </a:rPr>
              <a:t>"Always finds something new to criticise and never sets satisfied=true. Stresses max-turns termination, long-session state coherence, and oracle-preference accumulation over many turns.",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"dataset": </a:t>
            </a:r>
            <a:r>
              <a:rPr lang="en-US" sz="1600">
                <a:solidFill>
                  <a:srgbClr val="2F2F2F"/>
                </a:solidFill>
                <a:latin typeface="Consolas"/>
                <a:ea typeface="Consolas"/>
                <a:cs typeface="Consolas"/>
                <a:sym typeface="Consolas"/>
              </a:rPr>
              <a:t>"amazon_reviews",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"k_initial": </a:t>
            </a:r>
            <a:r>
              <a:rPr lang="en-US" sz="1600">
                <a:solidFill>
                  <a:srgbClr val="C9A75A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US" sz="1600">
                <a:solidFill>
                  <a:srgbClr val="9A998E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"model": </a:t>
            </a:r>
            <a:r>
              <a:rPr lang="en-US" sz="1600">
                <a:solidFill>
                  <a:srgbClr val="C9A75A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-US" sz="1600">
                <a:solidFill>
                  <a:srgbClr val="9A998E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"goal": </a:t>
            </a:r>
            <a:r>
              <a:rPr lang="en-US" sz="1600">
                <a:solidFill>
                  <a:srgbClr val="2F2F2F"/>
                </a:solidFill>
                <a:latin typeface="Consolas"/>
                <a:ea typeface="Consolas"/>
                <a:cs typeface="Consolas"/>
                <a:sym typeface="Consolas"/>
              </a:rPr>
              <a:t>"Drive a long session where every turn introduces a NEW criticism: turn 1 names are generic, turn 2 a cluster is too broad, turn 3 a cluster needs renaming, turn 4 two clusters should merge, turn 5 a cluster should split, turn 6 a re-embed by some axis, turn 7 a rename, and so on. Each criticism must be plausible. Never declare satisfied — let the runner hit max_turns.",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"notes": </a:t>
            </a:r>
            <a:r>
              <a:rPr lang="en-US" sz="1600">
                <a:solidFill>
                  <a:srgbClr val="9A998E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  "tone": </a:t>
            </a:r>
            <a:r>
              <a:rPr lang="en-US" sz="1600">
                <a:solidFill>
                  <a:srgbClr val="2F2F2F"/>
                </a:solidFill>
                <a:latin typeface="Consolas"/>
                <a:ea typeface="Consolas"/>
                <a:cs typeface="Consolas"/>
                <a:sym typeface="Consolas"/>
              </a:rPr>
              <a:t>"chronically dissatisfied but constructive — always finds the next thing",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  "language": </a:t>
            </a:r>
            <a:r>
              <a:rPr lang="en-US" sz="1600">
                <a:solidFill>
                  <a:srgbClr val="2F2F2F"/>
                </a:solidFill>
                <a:latin typeface="Consolas"/>
                <a:ea typeface="Consolas"/>
                <a:cs typeface="Consolas"/>
                <a:sym typeface="Consolas"/>
              </a:rPr>
              <a:t>"English",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  "should_contradict": </a:t>
            </a:r>
            <a:r>
              <a:rPr lang="en-US" sz="1600">
                <a:solidFill>
                  <a:srgbClr val="C9A75A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-US" sz="1600">
                <a:solidFill>
                  <a:srgbClr val="9A998E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5F7A4A"/>
                </a:solidFill>
                <a:latin typeface="Consolas"/>
                <a:ea typeface="Consolas"/>
                <a:cs typeface="Consolas"/>
                <a:sym typeface="Consolas"/>
              </a:rPr>
              <a:t>    "extra": </a:t>
            </a:r>
            <a:r>
              <a:rPr lang="en-US" sz="1600">
                <a:solidFill>
                  <a:srgbClr val="2F2F2F"/>
                </a:solidFill>
                <a:latin typeface="Consolas"/>
                <a:ea typeface="Consolas"/>
                <a:cs typeface="Consolas"/>
                <a:sym typeface="Consolas"/>
              </a:rPr>
              <a:t>"Set satisfied=false on EVERY turn — including the last possible one. Each turn must request a DIFFERENT kind of change from the previous turn (don't loop on renames). Vary feedback_type across global / cluster / point. The point is to exercise long-running sessions and force termination via max_turns rather than oracle satisfaction."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9A998E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ts val="2073"/>
              </a:lnSpc>
            </a:pPr>
            <a:r>
              <a:rPr lang="en-US" sz="1600">
                <a:solidFill>
                  <a:srgbClr val="9A998E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8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13 / 17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8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09 —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83344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What works — and what’s weak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69998"/>
            <a:ext cx="82296" cy="470002"/>
            <a:chOff x="0" y="0"/>
            <a:chExt cx="109728" cy="6266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" cy="626618"/>
            </a:xfrm>
            <a:custGeom>
              <a:avLst/>
              <a:gdLst/>
              <a:ahLst/>
              <a:cxnLst/>
              <a:rect r="r" b="b" t="t" l="l"/>
              <a:pathLst>
                <a:path h="626618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626618"/>
                  </a:lnTo>
                  <a:lnTo>
                    <a:pt x="0" y="626618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6206" y="2260473"/>
            <a:ext cx="16583787" cy="489052"/>
            <a:chOff x="0" y="0"/>
            <a:chExt cx="22111716" cy="6520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11715" cy="652018"/>
            </a:xfrm>
            <a:custGeom>
              <a:avLst/>
              <a:gdLst/>
              <a:ahLst/>
              <a:cxnLst/>
              <a:rect r="r" b="b" t="t" l="l"/>
              <a:pathLst>
                <a:path h="652018" w="22111715">
                  <a:moveTo>
                    <a:pt x="0" y="0"/>
                  </a:moveTo>
                  <a:lnTo>
                    <a:pt x="22111715" y="0"/>
                  </a:lnTo>
                  <a:lnTo>
                    <a:pt x="22111715" y="652018"/>
                  </a:lnTo>
                  <a:lnTo>
                    <a:pt x="0" y="652018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77575" y="2260473"/>
            <a:ext cx="15445161" cy="470000"/>
            <a:chOff x="0" y="0"/>
            <a:chExt cx="20593548" cy="626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93551" cy="626665"/>
            </a:xfrm>
            <a:custGeom>
              <a:avLst/>
              <a:gdLst/>
              <a:ahLst/>
              <a:cxnLst/>
              <a:rect r="r" b="b" t="t" l="l"/>
              <a:pathLst>
                <a:path h="626665" w="20593551">
                  <a:moveTo>
                    <a:pt x="0" y="0"/>
                  </a:moveTo>
                  <a:lnTo>
                    <a:pt x="20593551" y="0"/>
                  </a:lnTo>
                  <a:lnTo>
                    <a:pt x="20593551" y="626665"/>
                  </a:lnTo>
                  <a:lnTo>
                    <a:pt x="0" y="6266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8488" r="-4399" b="-6184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0593548" cy="645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4"/>
                </a:lnSpc>
              </a:pPr>
              <a:r>
                <a:rPr lang="en-US" sz="1799" b="true">
                  <a:solidFill>
                    <a:srgbClr val="5F7A4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SETUP    </a:t>
              </a:r>
              <a:r>
                <a:rPr lang="en-US" sz="17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63 persona runs (3 datasets × 21)  ·  6 real-user sessions  ·  3 no-dialogue baselines  ·  95% bootstrap CIs (10 000 resamples)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43534" y="3195808"/>
            <a:ext cx="7858849" cy="4125354"/>
            <a:chOff x="0" y="0"/>
            <a:chExt cx="12071956" cy="63369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071955" cy="6336919"/>
            </a:xfrm>
            <a:custGeom>
              <a:avLst/>
              <a:gdLst/>
              <a:ahLst/>
              <a:cxnLst/>
              <a:rect r="r" b="b" t="t" l="l"/>
              <a:pathLst>
                <a:path h="6336919" w="12071955">
                  <a:moveTo>
                    <a:pt x="0" y="0"/>
                  </a:moveTo>
                  <a:lnTo>
                    <a:pt x="12071955" y="0"/>
                  </a:lnTo>
                  <a:lnTo>
                    <a:pt x="12071955" y="6336919"/>
                  </a:lnTo>
                  <a:lnTo>
                    <a:pt x="0" y="6336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" t="0" r="-112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02957" y="2995549"/>
            <a:ext cx="82296" cy="2186336"/>
            <a:chOff x="0" y="0"/>
            <a:chExt cx="109728" cy="2915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" cy="2915152"/>
            </a:xfrm>
            <a:custGeom>
              <a:avLst/>
              <a:gdLst/>
              <a:ahLst/>
              <a:cxnLst/>
              <a:rect r="r" b="b" t="t" l="l"/>
              <a:pathLst>
                <a:path h="2915152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2915152"/>
                  </a:lnTo>
                  <a:lnTo>
                    <a:pt x="0" y="291515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166203" y="2983649"/>
            <a:ext cx="8303790" cy="2198236"/>
            <a:chOff x="0" y="0"/>
            <a:chExt cx="11071720" cy="29309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71733" cy="2931019"/>
            </a:xfrm>
            <a:custGeom>
              <a:avLst/>
              <a:gdLst/>
              <a:ahLst/>
              <a:cxnLst/>
              <a:rect r="r" b="b" t="t" l="l"/>
              <a:pathLst>
                <a:path h="2931019" w="11071733">
                  <a:moveTo>
                    <a:pt x="0" y="0"/>
                  </a:moveTo>
                  <a:lnTo>
                    <a:pt x="11071733" y="0"/>
                  </a:lnTo>
                  <a:lnTo>
                    <a:pt x="11071733" y="2931019"/>
                  </a:lnTo>
                  <a:lnTo>
                    <a:pt x="0" y="2931019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02957" y="5305710"/>
            <a:ext cx="82296" cy="2329996"/>
            <a:chOff x="0" y="0"/>
            <a:chExt cx="109728" cy="31066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" cy="3106674"/>
            </a:xfrm>
            <a:custGeom>
              <a:avLst/>
              <a:gdLst/>
              <a:ahLst/>
              <a:cxnLst/>
              <a:rect r="r" b="b" t="t" l="l"/>
              <a:pathLst>
                <a:path h="3106674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3106674"/>
                  </a:lnTo>
                  <a:lnTo>
                    <a:pt x="0" y="3106674"/>
                  </a:lnTo>
                  <a:close/>
                </a:path>
              </a:pathLst>
            </a:custGeom>
            <a:solidFill>
              <a:srgbClr val="C9A75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66203" y="5296185"/>
            <a:ext cx="8303790" cy="2349046"/>
            <a:chOff x="0" y="0"/>
            <a:chExt cx="11071720" cy="31320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71733" cy="3132074"/>
            </a:xfrm>
            <a:custGeom>
              <a:avLst/>
              <a:gdLst/>
              <a:ahLst/>
              <a:cxnLst/>
              <a:rect r="r" b="b" t="t" l="l"/>
              <a:pathLst>
                <a:path h="3132074" w="11071733">
                  <a:moveTo>
                    <a:pt x="0" y="0"/>
                  </a:moveTo>
                  <a:lnTo>
                    <a:pt x="11071733" y="0"/>
                  </a:lnTo>
                  <a:lnTo>
                    <a:pt x="11071733" y="3132074"/>
                  </a:lnTo>
                  <a:lnTo>
                    <a:pt x="0" y="3132074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102957" y="7772374"/>
            <a:ext cx="82296" cy="1359999"/>
            <a:chOff x="0" y="0"/>
            <a:chExt cx="109728" cy="18133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" cy="1813306"/>
            </a:xfrm>
            <a:custGeom>
              <a:avLst/>
              <a:gdLst/>
              <a:ahLst/>
              <a:cxnLst/>
              <a:rect r="r" b="b" t="t" l="l"/>
              <a:pathLst>
                <a:path h="1813306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813306"/>
                  </a:lnTo>
                  <a:lnTo>
                    <a:pt x="0" y="1813306"/>
                  </a:lnTo>
                  <a:close/>
                </a:path>
              </a:pathLst>
            </a:custGeom>
            <a:solidFill>
              <a:srgbClr val="9A998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66203" y="7762849"/>
            <a:ext cx="8303790" cy="1379049"/>
            <a:chOff x="0" y="0"/>
            <a:chExt cx="11071720" cy="18387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71733" cy="1838706"/>
            </a:xfrm>
            <a:custGeom>
              <a:avLst/>
              <a:gdLst/>
              <a:ahLst/>
              <a:cxnLst/>
              <a:rect r="r" b="b" t="t" l="l"/>
              <a:pathLst>
                <a:path h="1838706" w="11071733">
                  <a:moveTo>
                    <a:pt x="0" y="0"/>
                  </a:moveTo>
                  <a:lnTo>
                    <a:pt x="11071733" y="0"/>
                  </a:lnTo>
                  <a:lnTo>
                    <a:pt x="11071733" y="1838706"/>
                  </a:lnTo>
                  <a:lnTo>
                    <a:pt x="0" y="1838706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8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14 / 17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51773" y="7626181"/>
            <a:ext cx="7899997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 b="true">
                <a:solidFill>
                  <a:srgbClr val="5F7A4A"/>
                </a:solidFill>
                <a:latin typeface="Nunito Bold"/>
                <a:ea typeface="Nunito Bold"/>
                <a:cs typeface="Nunito Bold"/>
                <a:sym typeface="Nunito Bold"/>
              </a:rPr>
              <a:t>figure —</a:t>
            </a:r>
            <a:r>
              <a:rPr lang="en-US" sz="1499" i="true">
                <a:solidFill>
                  <a:srgbClr val="7A7A6E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 Pooled comparison of the real-user arm (n=6, red) against the LLM-persona arm (n=63, blue). Left panel shows the four 0–1 judge metrics (B1 overall, B2 coherence mean and min, B3 compliance)</a:t>
            </a:r>
          </a:p>
          <a:p>
            <a:pPr algn="l">
              <a:lnSpc>
                <a:spcPts val="194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412957" y="3214858"/>
            <a:ext cx="7950003" cy="183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2"/>
              </a:lnSpc>
            </a:pPr>
            <a:r>
              <a:rPr lang="en-US" sz="1799" b="true">
                <a:solidFill>
                  <a:srgbClr val="5F7A4A"/>
                </a:solidFill>
                <a:latin typeface="Nunito Bold"/>
                <a:ea typeface="Nunito Bold"/>
                <a:cs typeface="Nunito Bold"/>
                <a:sym typeface="Nunito Bold"/>
              </a:rPr>
              <a:t>WHAT WORKS</a:t>
            </a:r>
          </a:p>
          <a:p>
            <a:pPr algn="l">
              <a:lnSpc>
                <a:spcPts val="2084"/>
              </a:lnSpc>
            </a:pPr>
          </a:p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High oracle compliance — </a:t>
            </a:r>
            <a:r>
              <a:rPr lang="en-US" sz="17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B3 = 0.885 [0.828, 0.935]; 53/63 sessions end in oracle-satisfied state</a:t>
            </a:r>
          </a:p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Dialogue moves geometry — </a:t>
            </a:r>
            <a:r>
              <a:rPr lang="en-US" sz="17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A1 silhouette 0.031 [0.026, 0.035] → 0.140 [0.090, 0.194] (turn-0 → last-logged)</a:t>
            </a:r>
          </a:p>
          <a:p>
            <a:pPr algn="l">
              <a:lnSpc>
                <a:spcPts val="2159"/>
              </a:lnSpc>
            </a:pPr>
            <a:r>
              <a:rPr lang="en-US" sz="1799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Low cognitive load — </a:t>
            </a:r>
            <a:r>
              <a:rPr lang="en-US" sz="17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A3 = 1.28 / 5; almost no max-turns or system stops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12957" y="5474760"/>
            <a:ext cx="7950003" cy="202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"/>
              </a:lnSpc>
            </a:pPr>
            <a:r>
              <a:rPr lang="en-US" sz="1700" b="true">
                <a:solidFill>
                  <a:srgbClr val="C9A75A"/>
                </a:solidFill>
                <a:latin typeface="Nunito Bold"/>
                <a:ea typeface="Nunito Bold"/>
                <a:cs typeface="Nunito Bold"/>
                <a:sym typeface="Nunito Bold"/>
              </a:rPr>
              <a:t>WHAT’S WEAK</a:t>
            </a:r>
          </a:p>
          <a:p>
            <a:pPr algn="l">
              <a:lnSpc>
                <a:spcPts val="1968"/>
              </a:lnSpc>
            </a:pP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Dialogue costs B2 coherence — </a:t>
            </a: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pooled 0.625 [0.583, 0.665] vs 0.813 baseline, on every dataset.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20 Newsgroups is hardest — </a:t>
            </a: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worst on every B-dimension; not yet dataset-agnostic.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Simulation gap — </a:t>
            </a: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real users ≈ 2× harder (B4 0.553 vs 0.266); Amazon B3 0.900 → 0.580.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12957" y="7941424"/>
            <a:ext cx="7950003" cy="99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6"/>
              </a:lnSpc>
            </a:pPr>
            <a:r>
              <a:rPr lang="en-US" sz="1700" b="true">
                <a:solidFill>
                  <a:srgbClr val="7A7A6E"/>
                </a:solidFill>
                <a:latin typeface="Nunito Bold"/>
                <a:ea typeface="Nunito Bold"/>
                <a:cs typeface="Nunito Bold"/>
                <a:sym typeface="Nunito Bold"/>
              </a:rPr>
              <a:t>CAVEATS</a:t>
            </a:r>
          </a:p>
          <a:p>
            <a:pPr algn="l">
              <a:lnSpc>
                <a:spcPts val="1968"/>
              </a:lnSpc>
            </a:pP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How can judges be validated?</a:t>
            </a:r>
            <a:r>
              <a:rPr lang="en-US" sz="1700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 — </a:t>
            </a: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B1–B4 are relative, not absolute.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1F1F1F"/>
                </a:solidFill>
                <a:latin typeface="Nunito Bold"/>
                <a:ea typeface="Nunito Bold"/>
                <a:cs typeface="Nunito Bold"/>
                <a:sym typeface="Nunito Bold"/>
              </a:rPr>
              <a:t>Small control arms — </a:t>
            </a: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baseline n = 1 per dataset; user arm n = 2 per dataset.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1982" y="706363"/>
            <a:ext cx="15804037" cy="8296029"/>
            <a:chOff x="0" y="0"/>
            <a:chExt cx="12071956" cy="6336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1955" cy="6336919"/>
            </a:xfrm>
            <a:custGeom>
              <a:avLst/>
              <a:gdLst/>
              <a:ahLst/>
              <a:cxnLst/>
              <a:rect r="r" b="b" t="t" l="l"/>
              <a:pathLst>
                <a:path h="6336919" w="12071955">
                  <a:moveTo>
                    <a:pt x="0" y="0"/>
                  </a:moveTo>
                  <a:lnTo>
                    <a:pt x="12071955" y="0"/>
                  </a:lnTo>
                  <a:lnTo>
                    <a:pt x="12071955" y="6336919"/>
                  </a:lnTo>
                  <a:lnTo>
                    <a:pt x="0" y="6336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2" t="0" r="-11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41982" y="9285994"/>
            <a:ext cx="15804037" cy="89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877" b="true">
                <a:solidFill>
                  <a:srgbClr val="5F7A4A"/>
                </a:solidFill>
                <a:latin typeface="Nunito Bold"/>
                <a:ea typeface="Nunito Bold"/>
                <a:cs typeface="Nunito Bold"/>
                <a:sym typeface="Nunito Bold"/>
              </a:rPr>
              <a:t>figure — </a:t>
            </a:r>
            <a:r>
              <a:rPr lang="en-US" sz="1877" i="true">
                <a:solidFill>
                  <a:srgbClr val="7A7A6E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Pooled comparison of the real-user arm (n=6, red) against the LLM-persona arm (n=63, blue). Left panel shows the four 0–1 judge metrics (B1 overall, B2 coherence mean and min, B3 compliance)</a:t>
            </a:r>
          </a:p>
          <a:p>
            <a:pPr algn="l">
              <a:lnSpc>
                <a:spcPts val="2196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059" y="549069"/>
            <a:ext cx="12354049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spc="300">
                <a:solidFill>
                  <a:srgbClr val="8C8C86"/>
                </a:solidFill>
                <a:latin typeface="Nunito"/>
                <a:ea typeface="Nunito"/>
                <a:cs typeface="Nunito"/>
                <a:sym typeface="Nunito"/>
              </a:rPr>
              <a:t>03 — GENERALIZATION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1059" y="1015775"/>
            <a:ext cx="16599722" cy="986028"/>
            <a:chOff x="0" y="0"/>
            <a:chExt cx="22132963" cy="13147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32970" cy="1314708"/>
            </a:xfrm>
            <a:custGeom>
              <a:avLst/>
              <a:gdLst/>
              <a:ahLst/>
              <a:cxnLst/>
              <a:rect r="r" b="b" t="t" l="l"/>
              <a:pathLst>
                <a:path h="1314708" w="22132970">
                  <a:moveTo>
                    <a:pt x="0" y="0"/>
                  </a:moveTo>
                  <a:lnTo>
                    <a:pt x="22132970" y="0"/>
                  </a:lnTo>
                  <a:lnTo>
                    <a:pt x="22132970" y="1314708"/>
                  </a:lnTo>
                  <a:lnTo>
                    <a:pt x="0" y="13147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2088" r="0" b="-27396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2132963" cy="1314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2B2B29"/>
                  </a:solidFill>
                  <a:latin typeface="Nunito"/>
                  <a:ea typeface="Nunito"/>
                  <a:cs typeface="Nunito"/>
                  <a:sym typeface="Nunito"/>
                </a:rPr>
                <a:t>Does the clustering hold for new data?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1059" y="1990373"/>
            <a:ext cx="16599722" cy="549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176" i="true">
                <a:solidFill>
                  <a:srgbClr val="5E5E57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Once the oracle is satisfied, do incoming points stay coherent?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44713" y="3582105"/>
            <a:ext cx="14235760" cy="28594"/>
            <a:chOff x="0" y="0"/>
            <a:chExt cx="18981014" cy="381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81038" cy="38100"/>
            </a:xfrm>
            <a:custGeom>
              <a:avLst/>
              <a:gdLst/>
              <a:ahLst/>
              <a:cxnLst/>
              <a:rect r="r" b="b" t="t" l="l"/>
              <a:pathLst>
                <a:path h="38100" w="18981038">
                  <a:moveTo>
                    <a:pt x="0" y="0"/>
                  </a:moveTo>
                  <a:lnTo>
                    <a:pt x="18981038" y="381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9657204" r="0" b="-9657271"/>
              </a:stretch>
            </a:blipFill>
            <a:ln w="28597" cap="sq">
              <a:solidFill>
                <a:srgbClr val="8C8C86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321589" y="3582105"/>
            <a:ext cx="233353" cy="233353"/>
            <a:chOff x="0" y="0"/>
            <a:chExt cx="311137" cy="3111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1150" cy="311150"/>
            </a:xfrm>
            <a:custGeom>
              <a:avLst/>
              <a:gdLst/>
              <a:ahLst/>
              <a:cxnLst/>
              <a:rect r="r" b="b" t="t" l="l"/>
              <a:pathLst>
                <a:path h="311150" w="311150">
                  <a:moveTo>
                    <a:pt x="0" y="155575"/>
                  </a:moveTo>
                  <a:cubicBezTo>
                    <a:pt x="0" y="69596"/>
                    <a:pt x="69596" y="0"/>
                    <a:pt x="155575" y="0"/>
                  </a:cubicBezTo>
                  <a:cubicBezTo>
                    <a:pt x="241554" y="0"/>
                    <a:pt x="311150" y="69596"/>
                    <a:pt x="311150" y="155575"/>
                  </a:cubicBezTo>
                  <a:cubicBezTo>
                    <a:pt x="311150" y="241554"/>
                    <a:pt x="241427" y="311150"/>
                    <a:pt x="155575" y="311150"/>
                  </a:cubicBezTo>
                  <a:cubicBezTo>
                    <a:pt x="69723" y="311150"/>
                    <a:pt x="0" y="241427"/>
                    <a:pt x="0" y="155575"/>
                  </a:cubicBez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5912" y="3479721"/>
            <a:ext cx="233353" cy="233353"/>
            <a:chOff x="0" y="0"/>
            <a:chExt cx="311137" cy="3111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1150" cy="311150"/>
            </a:xfrm>
            <a:custGeom>
              <a:avLst/>
              <a:gdLst/>
              <a:ahLst/>
              <a:cxnLst/>
              <a:rect r="r" b="b" t="t" l="l"/>
              <a:pathLst>
                <a:path h="311150" w="311150">
                  <a:moveTo>
                    <a:pt x="0" y="155575"/>
                  </a:moveTo>
                  <a:cubicBezTo>
                    <a:pt x="0" y="69596"/>
                    <a:pt x="69596" y="0"/>
                    <a:pt x="155575" y="0"/>
                  </a:cubicBezTo>
                  <a:cubicBezTo>
                    <a:pt x="241554" y="0"/>
                    <a:pt x="311150" y="69596"/>
                    <a:pt x="311150" y="155575"/>
                  </a:cubicBezTo>
                  <a:cubicBezTo>
                    <a:pt x="311150" y="241554"/>
                    <a:pt x="241427" y="311150"/>
                    <a:pt x="155575" y="311150"/>
                  </a:cubicBezTo>
                  <a:cubicBezTo>
                    <a:pt x="69723" y="311150"/>
                    <a:pt x="0" y="241427"/>
                    <a:pt x="0" y="155575"/>
                  </a:cubicBez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163796" y="3508029"/>
            <a:ext cx="233353" cy="233353"/>
            <a:chOff x="0" y="0"/>
            <a:chExt cx="311137" cy="3111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1150" cy="311150"/>
            </a:xfrm>
            <a:custGeom>
              <a:avLst/>
              <a:gdLst/>
              <a:ahLst/>
              <a:cxnLst/>
              <a:rect r="r" b="b" t="t" l="l"/>
              <a:pathLst>
                <a:path h="311150" w="311150">
                  <a:moveTo>
                    <a:pt x="0" y="155575"/>
                  </a:moveTo>
                  <a:cubicBezTo>
                    <a:pt x="0" y="69596"/>
                    <a:pt x="69596" y="0"/>
                    <a:pt x="155575" y="0"/>
                  </a:cubicBezTo>
                  <a:cubicBezTo>
                    <a:pt x="241554" y="0"/>
                    <a:pt x="311150" y="69596"/>
                    <a:pt x="311150" y="155575"/>
                  </a:cubicBezTo>
                  <a:cubicBezTo>
                    <a:pt x="311150" y="241554"/>
                    <a:pt x="241427" y="311150"/>
                    <a:pt x="155575" y="311150"/>
                  </a:cubicBezTo>
                  <a:cubicBezTo>
                    <a:pt x="69723" y="311150"/>
                    <a:pt x="0" y="241427"/>
                    <a:pt x="0" y="155575"/>
                  </a:cubicBezTo>
                  <a:close/>
                </a:path>
              </a:pathLst>
            </a:custGeom>
            <a:solidFill>
              <a:srgbClr val="5E734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88260" y="2753430"/>
            <a:ext cx="4667088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1"/>
              </a:lnSpc>
            </a:pPr>
            <a:r>
              <a:rPr lang="en-US" sz="2251" b="true">
                <a:solidFill>
                  <a:srgbClr val="2B2B29"/>
                </a:solidFill>
                <a:latin typeface="Nunito Bold"/>
                <a:ea typeface="Nunito Bold"/>
                <a:cs typeface="Nunito Bold"/>
                <a:sym typeface="Nunito Bold"/>
              </a:rPr>
              <a:t>t0 — oracle-converged</a:t>
            </a:r>
          </a:p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8C8C86"/>
                </a:solidFill>
                <a:latin typeface="Nunito"/>
                <a:ea typeface="Nunito"/>
                <a:cs typeface="Nunito"/>
                <a:sym typeface="Nunito"/>
              </a:rPr>
              <a:t>GMM geometry frozen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70240" y="2670096"/>
            <a:ext cx="514752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1"/>
              </a:lnSpc>
            </a:pPr>
            <a:r>
              <a:rPr lang="en-US" sz="2251" b="true">
                <a:solidFill>
                  <a:srgbClr val="2B2B29"/>
                </a:solidFill>
                <a:latin typeface="Nunito Bold"/>
                <a:ea typeface="Nunito Bold"/>
                <a:cs typeface="Nunito Bold"/>
                <a:sym typeface="Nunito Bold"/>
              </a:rPr>
              <a:t>ingest +300 held-out</a:t>
            </a:r>
          </a:p>
          <a:p>
            <a:pPr algn="ctr">
              <a:lnSpc>
                <a:spcPts val="2431"/>
              </a:lnSpc>
            </a:pPr>
            <a:r>
              <a:rPr lang="en-US" sz="2026">
                <a:solidFill>
                  <a:srgbClr val="8C8C86"/>
                </a:solidFill>
                <a:latin typeface="Nunito"/>
                <a:ea typeface="Nunito"/>
                <a:cs typeface="Nunito"/>
                <a:sym typeface="Nunito"/>
              </a:rPr>
              <a:t>assigned by posterior · read-only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66751" y="2688879"/>
            <a:ext cx="439254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1"/>
              </a:lnSpc>
            </a:pPr>
            <a:r>
              <a:rPr lang="en-US" sz="2251" b="true">
                <a:solidFill>
                  <a:srgbClr val="2B2B29"/>
                </a:solidFill>
                <a:latin typeface="Nunito Bold"/>
                <a:ea typeface="Nunito Bold"/>
                <a:cs typeface="Nunito Bold"/>
                <a:sym typeface="Nunito Bold"/>
              </a:rPr>
              <a:t>t1 — re-evaluated</a:t>
            </a:r>
          </a:p>
          <a:p>
            <a:pPr algn="r">
              <a:lnSpc>
                <a:spcPts val="2431"/>
              </a:lnSpc>
            </a:pPr>
            <a:r>
              <a:rPr lang="en-US" sz="2026">
                <a:solidFill>
                  <a:srgbClr val="8C8C86"/>
                </a:solidFill>
                <a:latin typeface="Nunito"/>
                <a:ea typeface="Nunito"/>
                <a:cs typeface="Nunito"/>
                <a:sym typeface="Nunito"/>
              </a:rPr>
              <a:t>snapshot compared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840496" y="3848824"/>
            <a:ext cx="3999278" cy="933381"/>
            <a:chOff x="0" y="0"/>
            <a:chExt cx="5146866" cy="12012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46929" cy="1201303"/>
            </a:xfrm>
            <a:custGeom>
              <a:avLst/>
              <a:gdLst/>
              <a:ahLst/>
              <a:cxnLst/>
              <a:rect r="r" b="b" t="t" l="l"/>
              <a:pathLst>
                <a:path h="1201303" w="5146929">
                  <a:moveTo>
                    <a:pt x="0" y="156719"/>
                  </a:moveTo>
                  <a:cubicBezTo>
                    <a:pt x="0" y="70181"/>
                    <a:pt x="50673" y="0"/>
                    <a:pt x="113157" y="0"/>
                  </a:cubicBezTo>
                  <a:lnTo>
                    <a:pt x="5033772" y="0"/>
                  </a:lnTo>
                  <a:cubicBezTo>
                    <a:pt x="5096256" y="0"/>
                    <a:pt x="5146929" y="70181"/>
                    <a:pt x="5146929" y="156719"/>
                  </a:cubicBezTo>
                  <a:lnTo>
                    <a:pt x="5146929" y="1044618"/>
                  </a:lnTo>
                  <a:cubicBezTo>
                    <a:pt x="5146929" y="1131156"/>
                    <a:pt x="5096256" y="1201303"/>
                    <a:pt x="5033772" y="1201303"/>
                  </a:cubicBezTo>
                  <a:lnTo>
                    <a:pt x="113157" y="1201303"/>
                  </a:lnTo>
                  <a:cubicBezTo>
                    <a:pt x="50673" y="1201161"/>
                    <a:pt x="0" y="1131156"/>
                    <a:pt x="0" y="1044618"/>
                  </a:cubicBezTo>
                  <a:close/>
                </a:path>
              </a:pathLst>
            </a:custGeom>
            <a:solidFill>
              <a:srgbClr val="F3F2ED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3059854" y="3984578"/>
            <a:ext cx="3566551" cy="676010"/>
            <a:chOff x="0" y="0"/>
            <a:chExt cx="4755401" cy="9013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5395" cy="901351"/>
            </a:xfrm>
            <a:custGeom>
              <a:avLst/>
              <a:gdLst/>
              <a:ahLst/>
              <a:cxnLst/>
              <a:rect r="r" b="b" t="t" l="l"/>
              <a:pathLst>
                <a:path h="901351" w="4755395">
                  <a:moveTo>
                    <a:pt x="0" y="0"/>
                  </a:moveTo>
                  <a:lnTo>
                    <a:pt x="4755395" y="0"/>
                  </a:lnTo>
                  <a:lnTo>
                    <a:pt x="4755395" y="901351"/>
                  </a:lnTo>
                  <a:lnTo>
                    <a:pt x="0" y="9013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59" r="0" b="-4544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4755401" cy="89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2B2B29"/>
                  </a:solidFill>
                  <a:latin typeface="Nunito"/>
                  <a:ea typeface="Nunito"/>
                  <a:cs typeface="Nunito"/>
                  <a:sym typeface="Nunito"/>
                </a:rPr>
                <a:t>A1 silhouette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5E7348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Δ ≈ 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32509" y="3848824"/>
            <a:ext cx="3860149" cy="933381"/>
            <a:chOff x="0" y="0"/>
            <a:chExt cx="5146866" cy="12445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46929" cy="1244597"/>
            </a:xfrm>
            <a:custGeom>
              <a:avLst/>
              <a:gdLst/>
              <a:ahLst/>
              <a:cxnLst/>
              <a:rect r="r" b="b" t="t" l="l"/>
              <a:pathLst>
                <a:path h="1244597" w="5146929">
                  <a:moveTo>
                    <a:pt x="0" y="162368"/>
                  </a:moveTo>
                  <a:cubicBezTo>
                    <a:pt x="0" y="72710"/>
                    <a:pt x="50673" y="0"/>
                    <a:pt x="113157" y="0"/>
                  </a:cubicBezTo>
                  <a:lnTo>
                    <a:pt x="5033772" y="0"/>
                  </a:lnTo>
                  <a:cubicBezTo>
                    <a:pt x="5096256" y="0"/>
                    <a:pt x="5146929" y="72710"/>
                    <a:pt x="5146929" y="162368"/>
                  </a:cubicBezTo>
                  <a:lnTo>
                    <a:pt x="5146929" y="1082268"/>
                  </a:lnTo>
                  <a:cubicBezTo>
                    <a:pt x="5146929" y="1171926"/>
                    <a:pt x="5096256" y="1244597"/>
                    <a:pt x="5033772" y="1244597"/>
                  </a:cubicBezTo>
                  <a:lnTo>
                    <a:pt x="113157" y="1244597"/>
                  </a:lnTo>
                  <a:cubicBezTo>
                    <a:pt x="50673" y="1244454"/>
                    <a:pt x="0" y="1171926"/>
                    <a:pt x="0" y="1082268"/>
                  </a:cubicBezTo>
                  <a:close/>
                </a:path>
              </a:pathLst>
            </a:custGeom>
            <a:solidFill>
              <a:srgbClr val="F3F2ED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379308" y="3984578"/>
            <a:ext cx="3566551" cy="676010"/>
            <a:chOff x="0" y="0"/>
            <a:chExt cx="4755401" cy="9013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5395" cy="901351"/>
            </a:xfrm>
            <a:custGeom>
              <a:avLst/>
              <a:gdLst/>
              <a:ahLst/>
              <a:cxnLst/>
              <a:rect r="r" b="b" t="t" l="l"/>
              <a:pathLst>
                <a:path h="901351" w="4755395">
                  <a:moveTo>
                    <a:pt x="0" y="0"/>
                  </a:moveTo>
                  <a:lnTo>
                    <a:pt x="4755395" y="0"/>
                  </a:lnTo>
                  <a:lnTo>
                    <a:pt x="4755395" y="901351"/>
                  </a:lnTo>
                  <a:lnTo>
                    <a:pt x="0" y="9013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59" r="0" b="-4544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4755401" cy="89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2B2B29"/>
                  </a:solidFill>
                  <a:latin typeface="Nunito"/>
                  <a:ea typeface="Nunito"/>
                  <a:cs typeface="Nunito"/>
                  <a:sym typeface="Nunito"/>
                </a:rPr>
                <a:t>A4 OOD rate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5E7348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8–14%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485393" y="3848824"/>
            <a:ext cx="3860149" cy="933381"/>
            <a:chOff x="0" y="0"/>
            <a:chExt cx="5146866" cy="12445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46929" cy="1244597"/>
            </a:xfrm>
            <a:custGeom>
              <a:avLst/>
              <a:gdLst/>
              <a:ahLst/>
              <a:cxnLst/>
              <a:rect r="r" b="b" t="t" l="l"/>
              <a:pathLst>
                <a:path h="1244597" w="5146929">
                  <a:moveTo>
                    <a:pt x="0" y="162368"/>
                  </a:moveTo>
                  <a:cubicBezTo>
                    <a:pt x="0" y="72710"/>
                    <a:pt x="50673" y="0"/>
                    <a:pt x="113157" y="0"/>
                  </a:cubicBezTo>
                  <a:lnTo>
                    <a:pt x="5033772" y="0"/>
                  </a:lnTo>
                  <a:cubicBezTo>
                    <a:pt x="5096256" y="0"/>
                    <a:pt x="5146929" y="72710"/>
                    <a:pt x="5146929" y="162368"/>
                  </a:cubicBezTo>
                  <a:lnTo>
                    <a:pt x="5146929" y="1082268"/>
                  </a:lnTo>
                  <a:cubicBezTo>
                    <a:pt x="5146929" y="1171926"/>
                    <a:pt x="5096256" y="1244597"/>
                    <a:pt x="5033772" y="1244597"/>
                  </a:cubicBezTo>
                  <a:lnTo>
                    <a:pt x="113157" y="1244597"/>
                  </a:lnTo>
                  <a:cubicBezTo>
                    <a:pt x="50673" y="1244454"/>
                    <a:pt x="0" y="1171926"/>
                    <a:pt x="0" y="1082268"/>
                  </a:cubicBezTo>
                  <a:close/>
                </a:path>
              </a:pathLst>
            </a:custGeom>
            <a:solidFill>
              <a:srgbClr val="F3F2ED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32192" y="3977509"/>
            <a:ext cx="3566551" cy="676010"/>
            <a:chOff x="0" y="0"/>
            <a:chExt cx="4755401" cy="9013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5395" cy="901351"/>
            </a:xfrm>
            <a:custGeom>
              <a:avLst/>
              <a:gdLst/>
              <a:ahLst/>
              <a:cxnLst/>
              <a:rect r="r" b="b" t="t" l="l"/>
              <a:pathLst>
                <a:path h="901351" w="4755395">
                  <a:moveTo>
                    <a:pt x="0" y="0"/>
                  </a:moveTo>
                  <a:lnTo>
                    <a:pt x="4755395" y="0"/>
                  </a:lnTo>
                  <a:lnTo>
                    <a:pt x="4755395" y="901351"/>
                  </a:lnTo>
                  <a:lnTo>
                    <a:pt x="0" y="9013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159" r="0" b="-4544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4755401" cy="89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>
                  <a:solidFill>
                    <a:srgbClr val="2B2B29"/>
                  </a:solidFill>
                  <a:latin typeface="Nunito"/>
                  <a:ea typeface="Nunito"/>
                  <a:cs typeface="Nunito"/>
                  <a:sym typeface="Nunito"/>
                </a:rPr>
                <a:t>B2 coherence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5E7348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Δ n.s.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41524" y="4932093"/>
            <a:ext cx="7975759" cy="2764412"/>
            <a:chOff x="0" y="0"/>
            <a:chExt cx="10634345" cy="36858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34345" cy="3685921"/>
            </a:xfrm>
            <a:custGeom>
              <a:avLst/>
              <a:gdLst/>
              <a:ahLst/>
              <a:cxnLst/>
              <a:rect r="r" b="b" t="t" l="l"/>
              <a:pathLst>
                <a:path h="3685921" w="10634345">
                  <a:moveTo>
                    <a:pt x="0" y="0"/>
                  </a:moveTo>
                  <a:lnTo>
                    <a:pt x="10634345" y="0"/>
                  </a:lnTo>
                  <a:lnTo>
                    <a:pt x="10634345" y="3685921"/>
                  </a:lnTo>
                  <a:lnTo>
                    <a:pt x="0" y="3685921"/>
                  </a:lnTo>
                  <a:close/>
                </a:path>
              </a:pathLst>
            </a:custGeom>
            <a:solidFill>
              <a:srgbClr val="EFEEE8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51059" y="4941618"/>
            <a:ext cx="96088" cy="2745343"/>
            <a:chOff x="0" y="0"/>
            <a:chExt cx="128118" cy="36604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07951" y="5151720"/>
            <a:ext cx="727035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b="true" sz="1876" spc="178">
                <a:solidFill>
                  <a:srgbClr val="5E7348"/>
                </a:solidFill>
                <a:latin typeface="Nunito Bold"/>
                <a:ea typeface="Nunito Bold"/>
                <a:cs typeface="Nunito Bold"/>
                <a:sym typeface="Nunito Bold"/>
              </a:rPr>
              <a:t>HOW WE MEASURE · LABEL-FREE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99391" y="5618445"/>
            <a:ext cx="708747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2233" indent="-181117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Re-score A1 (silhouette) + B2 (LLM coherence) at two snapshots around an ingestion event.</a:t>
            </a:r>
          </a:p>
          <a:p>
            <a:pPr algn="l" marL="362233" indent="-181117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Add A4 — out-of-distribution rate via Mahalanobis distance.</a:t>
            </a:r>
          </a:p>
          <a:p>
            <a:pPr algn="l" marL="362233" indent="-181117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Freeze the GMM, assign held-out points by posterior (read-only). No new metric, no ground truth.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84557" y="4932093"/>
            <a:ext cx="7975759" cy="2764412"/>
            <a:chOff x="0" y="0"/>
            <a:chExt cx="10634345" cy="36858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34345" cy="3685921"/>
            </a:xfrm>
            <a:custGeom>
              <a:avLst/>
              <a:gdLst/>
              <a:ahLst/>
              <a:cxnLst/>
              <a:rect r="r" b="b" t="t" l="l"/>
              <a:pathLst>
                <a:path h="3685921" w="10634345">
                  <a:moveTo>
                    <a:pt x="0" y="0"/>
                  </a:moveTo>
                  <a:lnTo>
                    <a:pt x="10634345" y="0"/>
                  </a:lnTo>
                  <a:lnTo>
                    <a:pt x="10634345" y="3685921"/>
                  </a:lnTo>
                  <a:lnTo>
                    <a:pt x="0" y="3685921"/>
                  </a:lnTo>
                  <a:close/>
                </a:path>
              </a:pathLst>
            </a:custGeom>
            <a:solidFill>
              <a:srgbClr val="EFEEE8"/>
            </a:solidFill>
            <a:ln w="19065" cap="sq">
              <a:solidFill>
                <a:srgbClr val="CAC9C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94091" y="4941618"/>
            <a:ext cx="96088" cy="2745343"/>
            <a:chOff x="0" y="0"/>
            <a:chExt cx="128118" cy="366045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143" cy="3660521"/>
            </a:xfrm>
            <a:custGeom>
              <a:avLst/>
              <a:gdLst/>
              <a:ahLst/>
              <a:cxnLst/>
              <a:rect r="r" b="b" t="t" l="l"/>
              <a:pathLst>
                <a:path h="3660521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3660521"/>
                  </a:lnTo>
                  <a:lnTo>
                    <a:pt x="0" y="3660521"/>
                  </a:lnTo>
                  <a:close/>
                </a:path>
              </a:pathLst>
            </a:custGeom>
            <a:solidFill>
              <a:srgbClr val="4F6680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850984" y="5151720"/>
            <a:ext cx="7270356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b="true" sz="1876" spc="178">
                <a:solidFill>
                  <a:srgbClr val="4F6680"/>
                </a:solidFill>
                <a:latin typeface="Nunito Bold"/>
                <a:ea typeface="Nunito Bold"/>
                <a:cs typeface="Nunito Bold"/>
                <a:sym typeface="Nunito Bold"/>
              </a:rPr>
              <a:t>WHAT WE FOUND · IT HOLDS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42424" y="5728583"/>
            <a:ext cx="7087476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2233" indent="-181117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Holds across Amazon · 20NG · IMDB.</a:t>
            </a:r>
          </a:p>
          <a:p>
            <a:pPr algn="l" marL="362233" indent="-181117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A1 Δ≈0 (CI crosses 0) · A4 OOD 8–14% (vs ~5%) · B2 Δ n.s. · B3 = 1.00.</a:t>
            </a:r>
          </a:p>
          <a:p>
            <a:pPr algn="l" marL="362233" indent="-181117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434341"/>
                </a:solidFill>
                <a:latin typeface="Nunito"/>
                <a:ea typeface="Nunito"/>
                <a:cs typeface="Nunito"/>
                <a:sym typeface="Nunito"/>
              </a:rPr>
              <a:t>Eval starts from a realistic converged state — a throwaway session run by a real oracle.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41524" y="8182280"/>
            <a:ext cx="16618791" cy="1089746"/>
            <a:chOff x="0" y="0"/>
            <a:chExt cx="22158388" cy="14529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158452" cy="1453007"/>
            </a:xfrm>
            <a:custGeom>
              <a:avLst/>
              <a:gdLst/>
              <a:ahLst/>
              <a:cxnLst/>
              <a:rect r="r" b="b" t="t" l="l"/>
              <a:pathLst>
                <a:path h="1453007" w="22158452">
                  <a:moveTo>
                    <a:pt x="0" y="0"/>
                  </a:moveTo>
                  <a:lnTo>
                    <a:pt x="22158452" y="0"/>
                  </a:lnTo>
                  <a:lnTo>
                    <a:pt x="22158452" y="1453007"/>
                  </a:lnTo>
                  <a:lnTo>
                    <a:pt x="0" y="1453007"/>
                  </a:lnTo>
                  <a:close/>
                </a:path>
              </a:pathLst>
            </a:custGeom>
            <a:solidFill>
              <a:srgbClr val="E7E3CD"/>
            </a:solidFill>
            <a:ln w="19065" cap="sq">
              <a:solidFill>
                <a:srgbClr val="DBD6B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851059" y="8191814"/>
            <a:ext cx="96088" cy="1070686"/>
            <a:chOff x="0" y="0"/>
            <a:chExt cx="128118" cy="142758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143" cy="1427607"/>
            </a:xfrm>
            <a:custGeom>
              <a:avLst/>
              <a:gdLst/>
              <a:ahLst/>
              <a:cxnLst/>
              <a:rect r="r" b="b" t="t" l="l"/>
              <a:pathLst>
                <a:path h="1427607" w="128143">
                  <a:moveTo>
                    <a:pt x="0" y="0"/>
                  </a:moveTo>
                  <a:lnTo>
                    <a:pt x="128143" y="0"/>
                  </a:lnTo>
                  <a:lnTo>
                    <a:pt x="128143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07951" y="8356530"/>
            <a:ext cx="15844761" cy="768697"/>
            <a:chOff x="0" y="0"/>
            <a:chExt cx="21126348" cy="10249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126343" cy="1024929"/>
            </a:xfrm>
            <a:custGeom>
              <a:avLst/>
              <a:gdLst/>
              <a:ahLst/>
              <a:cxnLst/>
              <a:rect r="r" b="b" t="t" l="l"/>
              <a:pathLst>
                <a:path h="1024929" w="21126343">
                  <a:moveTo>
                    <a:pt x="0" y="0"/>
                  </a:moveTo>
                  <a:lnTo>
                    <a:pt x="21126343" y="0"/>
                  </a:lnTo>
                  <a:lnTo>
                    <a:pt x="21126343" y="1024929"/>
                  </a:lnTo>
                  <a:lnTo>
                    <a:pt x="0" y="10249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1635" r="0" b="-35163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1126348" cy="10249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5E7348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The thesis.  </a:t>
              </a:r>
              <a:r>
                <a:rPr lang="en-US" sz="2000" i="true">
                  <a:solidFill>
                    <a:srgbClr val="434341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The dialogue serves the oracle’s preference — not the automatic metric. Against a no-dialogue baseline, there is no intrinsic gain on B2.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8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15 / 17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11 — CONTRIBUTIONS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83344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Who did what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527935"/>
            <a:ext cx="16656558" cy="567690"/>
            <a:chOff x="0" y="0"/>
            <a:chExt cx="22208744" cy="756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08744" cy="756920"/>
            </a:xfrm>
            <a:custGeom>
              <a:avLst/>
              <a:gdLst/>
              <a:ahLst/>
              <a:cxnLst/>
              <a:rect r="r" b="b" t="t" l="l"/>
              <a:pathLst>
                <a:path h="75692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756920"/>
                  </a:lnTo>
                  <a:lnTo>
                    <a:pt x="0" y="756920"/>
                  </a:lnTo>
                  <a:close/>
                </a:path>
              </a:pathLst>
            </a:custGeom>
            <a:solidFill>
              <a:srgbClr val="E8E3C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537460"/>
            <a:ext cx="1097280" cy="548640"/>
            <a:chOff x="0" y="0"/>
            <a:chExt cx="14630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4630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ROLE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537460" y="2537460"/>
            <a:ext cx="2194560" cy="548640"/>
            <a:chOff x="0" y="0"/>
            <a:chExt cx="292608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26080" cy="731520"/>
            </a:xfrm>
            <a:custGeom>
              <a:avLst/>
              <a:gdLst/>
              <a:ahLst/>
              <a:cxnLst/>
              <a:rect r="r" b="b" t="t" l="l"/>
              <a:pathLst>
                <a:path h="73152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92608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NAME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006340" y="2537460"/>
            <a:ext cx="10698480" cy="548640"/>
            <a:chOff x="0" y="0"/>
            <a:chExt cx="142646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264639" cy="731520"/>
            </a:xfrm>
            <a:custGeom>
              <a:avLst/>
              <a:gdLst/>
              <a:ahLst/>
              <a:cxnLst/>
              <a:rect r="r" b="b" t="t" l="l"/>
              <a:pathLst>
                <a:path h="73152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8" r="0" b="-32995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4264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MAIN CONTRIBUTION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3086100"/>
            <a:ext cx="82296" cy="1165860"/>
            <a:chOff x="0" y="0"/>
            <a:chExt cx="109728" cy="15544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65860" y="3086100"/>
            <a:ext cx="1097280" cy="1165860"/>
            <a:chOff x="0" y="0"/>
            <a:chExt cx="146304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322" t="0" r="-8632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46304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>
                  <a:solidFill>
                    <a:srgbClr val="5F7A4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537460" y="3086100"/>
            <a:ext cx="2194560" cy="1165860"/>
            <a:chOff x="0" y="0"/>
            <a:chExt cx="292608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9260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Davide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06340" y="3154680"/>
            <a:ext cx="10698480" cy="1028700"/>
            <a:chOff x="0" y="0"/>
            <a:chExt cx="1426464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2646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42646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Backend architecture · SQLAlchemy ORM · Sessions and datasets router · Dataset model · Evaluation · LLM-as-Oracle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13435" y="4242435"/>
            <a:ext cx="16656558" cy="1184910"/>
            <a:chOff x="0" y="0"/>
            <a:chExt cx="22208744" cy="15798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208744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4251960"/>
            <a:ext cx="82296" cy="1165860"/>
            <a:chOff x="0" y="0"/>
            <a:chExt cx="109728" cy="15544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7A9568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4251960"/>
            <a:ext cx="1097280" cy="1165860"/>
            <a:chOff x="0" y="0"/>
            <a:chExt cx="146304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322" t="0" r="-86322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46304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>
                  <a:solidFill>
                    <a:srgbClr val="7A9568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537460" y="4251960"/>
            <a:ext cx="2194560" cy="1165860"/>
            <a:chOff x="0" y="0"/>
            <a:chExt cx="292608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29260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Thomas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006340" y="4320540"/>
            <a:ext cx="10698480" cy="1028700"/>
            <a:chOff x="0" y="0"/>
            <a:chExt cx="1426464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2646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1426464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Embeddings · Datasets · UMAP visualisation (phase 1 + 2) · Generalisation eval · Bootstrap CI · Baseline arm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5417820"/>
            <a:ext cx="82296" cy="1165860"/>
            <a:chOff x="0" y="0"/>
            <a:chExt cx="109728" cy="1554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C9A75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5860" y="5417820"/>
            <a:ext cx="1097280" cy="1165860"/>
            <a:chOff x="0" y="0"/>
            <a:chExt cx="1463040" cy="1554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322" t="0" r="-8632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146304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>
                  <a:solidFill>
                    <a:srgbClr val="C9A75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537460" y="5417820"/>
            <a:ext cx="2194560" cy="1165860"/>
            <a:chOff x="0" y="0"/>
            <a:chExt cx="2926080" cy="15544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29260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Matteo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006340" y="5486400"/>
            <a:ext cx="10698480" cy="1028700"/>
            <a:chOff x="0" y="0"/>
            <a:chExt cx="1426464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2646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264639">
                  <a:moveTo>
                    <a:pt x="0" y="0"/>
                  </a:moveTo>
                  <a:lnTo>
                    <a:pt x="14264639" y="0"/>
                  </a:lnTo>
                  <a:lnTo>
                    <a:pt x="142646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0" b="-15264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1426464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Conversational turn loop · TurnBuilder staging · GMM soft assignments · Operation dispatch · Uncertainty detection · Boundary repair · Semantic re-embedding (for single clusters) · cluster_reembed · Evaluation runs &amp; analysis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3435" y="6574155"/>
            <a:ext cx="16656558" cy="1184910"/>
            <a:chOff x="0" y="0"/>
            <a:chExt cx="22208744" cy="15798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208744" cy="1579880"/>
            </a:xfrm>
            <a:custGeom>
              <a:avLst/>
              <a:gdLst/>
              <a:ahLst/>
              <a:cxnLst/>
              <a:rect r="r" b="b" t="t" l="l"/>
              <a:pathLst>
                <a:path h="157988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1579880"/>
                  </a:lnTo>
                  <a:lnTo>
                    <a:pt x="0" y="157988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6583680"/>
            <a:ext cx="82296" cy="1165860"/>
            <a:chOff x="0" y="0"/>
            <a:chExt cx="109728" cy="15544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5A7080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65860" y="6583680"/>
            <a:ext cx="1097280" cy="1165860"/>
            <a:chOff x="0" y="0"/>
            <a:chExt cx="1463040" cy="15544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322" t="0" r="-86322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46304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>
                  <a:solidFill>
                    <a:srgbClr val="5A7080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P4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537460" y="6583680"/>
            <a:ext cx="2194560" cy="1165860"/>
            <a:chOff x="0" y="0"/>
            <a:chExt cx="2926080" cy="15544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9525"/>
              <a:ext cx="29260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Nilo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006340" y="6652260"/>
            <a:ext cx="11082528" cy="1028700"/>
            <a:chOff x="0" y="0"/>
            <a:chExt cx="14776704" cy="1371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77670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4776703">
                  <a:moveTo>
                    <a:pt x="0" y="0"/>
                  </a:moveTo>
                  <a:lnTo>
                    <a:pt x="14776703" y="0"/>
                  </a:lnTo>
                  <a:lnTo>
                    <a:pt x="14776703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3465" b="-15264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9525"/>
              <a:ext cx="14776704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Prompt engineering (f_output iterations) · f_uncertainty cluster-level · f_next_best_step · Cognitive load · Multi-provider harness · Literature review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7749540"/>
            <a:ext cx="82296" cy="1165860"/>
            <a:chOff x="0" y="0"/>
            <a:chExt cx="109728" cy="15544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B85042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65860" y="7749540"/>
            <a:ext cx="1097280" cy="1165860"/>
            <a:chOff x="0" y="0"/>
            <a:chExt cx="1463040" cy="15544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322" t="0" r="-8632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463040" cy="1554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b="true" sz="1600">
                  <a:solidFill>
                    <a:srgbClr val="B85042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537460" y="7749540"/>
            <a:ext cx="2194560" cy="1165860"/>
            <a:chOff x="0" y="0"/>
            <a:chExt cx="2926080" cy="15544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260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61" t="0" r="-1816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2926080" cy="1544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Arianna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006340" y="7818120"/>
            <a:ext cx="12454128" cy="1028700"/>
            <a:chOff x="0" y="0"/>
            <a:chExt cx="16605504" cy="1371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6605503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605503">
                  <a:moveTo>
                    <a:pt x="0" y="0"/>
                  </a:moveTo>
                  <a:lnTo>
                    <a:pt x="16605503" y="0"/>
                  </a:lnTo>
                  <a:lnTo>
                    <a:pt x="16605503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44" r="14096" b="-15264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9525"/>
              <a:ext cx="16605504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Semantic re-embedding · Parallel research experiments embedding-related · User Interface design · Literature review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6088868" y="9669780"/>
            <a:ext cx="1371600" cy="342900"/>
            <a:chOff x="0" y="0"/>
            <a:chExt cx="1828800" cy="457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28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828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79"/>
                </a:lnSpc>
              </a:pPr>
              <a:r>
                <a:rPr lang="en-US" sz="1399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16 / 17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43950" y="3566160"/>
            <a:ext cx="192024" cy="891540"/>
            <a:chOff x="0" y="0"/>
            <a:chExt cx="256032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032" cy="1188720"/>
            </a:xfrm>
            <a:custGeom>
              <a:avLst/>
              <a:gdLst/>
              <a:ahLst/>
              <a:cxnLst/>
              <a:rect r="r" b="b" t="t" l="l"/>
              <a:pathLst>
                <a:path h="1188720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1188720"/>
                  </a:lnTo>
                  <a:lnTo>
                    <a:pt x="0" y="1188720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45702" y="3881628"/>
            <a:ext cx="192024" cy="576072"/>
            <a:chOff x="0" y="0"/>
            <a:chExt cx="256032" cy="768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032" cy="768096"/>
            </a:xfrm>
            <a:custGeom>
              <a:avLst/>
              <a:gdLst/>
              <a:ahLst/>
              <a:cxnLst/>
              <a:rect r="r" b="b" t="t" l="l"/>
              <a:pathLst>
                <a:path h="768096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768096"/>
                  </a:lnTo>
                  <a:lnTo>
                    <a:pt x="0" y="768096"/>
                  </a:lnTo>
                  <a:close/>
                </a:path>
              </a:pathLst>
            </a:custGeom>
            <a:solidFill>
              <a:srgbClr val="7A956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347454" y="4128516"/>
            <a:ext cx="192024" cy="329184"/>
            <a:chOff x="0" y="0"/>
            <a:chExt cx="256032" cy="438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032" cy="438912"/>
            </a:xfrm>
            <a:custGeom>
              <a:avLst/>
              <a:gdLst/>
              <a:ahLst/>
              <a:cxnLst/>
              <a:rect r="r" b="b" t="t" l="l"/>
              <a:pathLst>
                <a:path h="438912" w="256032">
                  <a:moveTo>
                    <a:pt x="0" y="0"/>
                  </a:moveTo>
                  <a:lnTo>
                    <a:pt x="256032" y="0"/>
                  </a:lnTo>
                  <a:lnTo>
                    <a:pt x="25603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B5C9A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4800600"/>
            <a:ext cx="18283428" cy="1371600"/>
            <a:chOff x="0" y="0"/>
            <a:chExt cx="24377904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24377904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sz="10800" i="true">
                  <a:solidFill>
                    <a:srgbClr val="1F1F1F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Thank you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23700">
            <a:off x="7760560" y="6441758"/>
            <a:ext cx="2762317" cy="0"/>
          </a:xfrm>
          <a:prstGeom prst="line">
            <a:avLst/>
          </a:prstGeom>
          <a:ln cap="rnd" w="9525">
            <a:solidFill>
              <a:srgbClr val="D6D4C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0" y="7269480"/>
            <a:ext cx="18283428" cy="411480"/>
            <a:chOff x="0" y="0"/>
            <a:chExt cx="24377904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77904" cy="548640"/>
            </a:xfrm>
            <a:custGeom>
              <a:avLst/>
              <a:gdLst/>
              <a:ahLst/>
              <a:cxnLst/>
              <a:rect r="r" b="b" t="t" l="l"/>
              <a:pathLst>
                <a:path h="54864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785" r="0" b="-8157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437790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9A998E"/>
                  </a:solidFill>
                  <a:latin typeface="Nunito"/>
                  <a:ea typeface="Nunito"/>
                  <a:cs typeface="Nunito"/>
                  <a:sym typeface="Nunito"/>
                </a:rPr>
                <a:t>github.com/blablaclust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8229600" cy="342900"/>
            <a:chOff x="0" y="0"/>
            <a:chExt cx="1097280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457200"/>
            </a:xfrm>
            <a:custGeom>
              <a:avLst/>
              <a:gdLst/>
              <a:ahLst/>
              <a:cxnLst/>
              <a:rect r="r" b="b" t="t" l="l"/>
              <a:pathLst>
                <a:path h="457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972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A</a:t>
              </a: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 — AGENTIC ARCHITECTURE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28700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2183344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What is agentic (and what isn’t)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537460"/>
            <a:ext cx="82296" cy="3154680"/>
            <a:chOff x="0" y="0"/>
            <a:chExt cx="109728" cy="4206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5731" y="2527935"/>
            <a:ext cx="2989936" cy="3173730"/>
            <a:chOff x="0" y="0"/>
            <a:chExt cx="3986581" cy="4231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653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86530">
                  <a:moveTo>
                    <a:pt x="0" y="0"/>
                  </a:moveTo>
                  <a:lnTo>
                    <a:pt x="3986530" y="0"/>
                  </a:lnTo>
                  <a:lnTo>
                    <a:pt x="398653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69848" y="2743200"/>
            <a:ext cx="2641702" cy="342900"/>
            <a:chOff x="0" y="0"/>
            <a:chExt cx="3522269" cy="45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22270" cy="457200"/>
            </a:xfrm>
            <a:custGeom>
              <a:avLst/>
              <a:gdLst/>
              <a:ahLst/>
              <a:cxnLst/>
              <a:rect r="r" b="b" t="t" l="l"/>
              <a:pathLst>
                <a:path h="45720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12" r="0" b="-1001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3522269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F7A4A"/>
                  </a:solidFill>
                  <a:latin typeface="Nunito"/>
                  <a:ea typeface="Nunito"/>
                  <a:cs typeface="Nunito"/>
                  <a:sym typeface="Nunito"/>
                </a:rPr>
                <a:t>AGENT 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9848" y="3113532"/>
            <a:ext cx="2641702" cy="480060"/>
            <a:chOff x="0" y="0"/>
            <a:chExt cx="3522269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22270" cy="640080"/>
            </a:xfrm>
            <a:custGeom>
              <a:avLst/>
              <a:gdLst/>
              <a:ahLst/>
              <a:cxnLst/>
              <a:rect r="r" b="b" t="t" l="l"/>
              <a:pathLst>
                <a:path h="64008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23" r="0" b="-5722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3522269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Executor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9848" y="3607308"/>
            <a:ext cx="2641702" cy="411480"/>
            <a:chOff x="0" y="0"/>
            <a:chExt cx="3522269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2227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93" r="0" b="-7509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522269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5F7A4A"/>
                  </a:solidFill>
                  <a:latin typeface="Nunito"/>
                  <a:ea typeface="Nunito"/>
                  <a:cs typeface="Nunito"/>
                  <a:sym typeface="Nunito"/>
                </a:rPr>
                <a:t>f_output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69848" y="4046220"/>
            <a:ext cx="2641702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Interprets NL into structured JSON operations.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219042" y="2537460"/>
            <a:ext cx="82296" cy="3154680"/>
            <a:chOff x="0" y="0"/>
            <a:chExt cx="109728" cy="4206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7A956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291813" y="2527935"/>
            <a:ext cx="2989936" cy="3173730"/>
            <a:chOff x="0" y="0"/>
            <a:chExt cx="3986581" cy="4231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8653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86530">
                  <a:moveTo>
                    <a:pt x="0" y="0"/>
                  </a:moveTo>
                  <a:lnTo>
                    <a:pt x="3986530" y="0"/>
                  </a:lnTo>
                  <a:lnTo>
                    <a:pt x="398653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4465930" y="2743200"/>
            <a:ext cx="2641702" cy="342900"/>
            <a:chOff x="0" y="0"/>
            <a:chExt cx="3522269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22270" cy="457200"/>
            </a:xfrm>
            <a:custGeom>
              <a:avLst/>
              <a:gdLst/>
              <a:ahLst/>
              <a:cxnLst/>
              <a:rect r="r" b="b" t="t" l="l"/>
              <a:pathLst>
                <a:path h="45720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12" r="0" b="-10011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3522269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7A9568"/>
                  </a:solidFill>
                  <a:latin typeface="Nunito"/>
                  <a:ea typeface="Nunito"/>
                  <a:cs typeface="Nunito"/>
                  <a:sym typeface="Nunito"/>
                </a:rPr>
                <a:t>AGENT 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65930" y="3113532"/>
            <a:ext cx="2641702" cy="493014"/>
            <a:chOff x="0" y="0"/>
            <a:chExt cx="3522269" cy="6573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22270" cy="657352"/>
            </a:xfrm>
            <a:custGeom>
              <a:avLst/>
              <a:gdLst/>
              <a:ahLst/>
              <a:cxnLst/>
              <a:rect r="r" b="b" t="t" l="l"/>
              <a:pathLst>
                <a:path h="657352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657352"/>
                  </a:lnTo>
                  <a:lnTo>
                    <a:pt x="0" y="657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719" r="0" b="-5309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3522269" cy="6478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Namer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65930" y="3607308"/>
            <a:ext cx="2641702" cy="411480"/>
            <a:chOff x="0" y="0"/>
            <a:chExt cx="3522269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2227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93" r="0" b="-7509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522269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9568"/>
                  </a:solidFill>
                  <a:latin typeface="Nunito"/>
                  <a:ea typeface="Nunito"/>
                  <a:cs typeface="Nunito"/>
                  <a:sym typeface="Nunito"/>
                </a:rPr>
                <a:t>cluster_naming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4465930" y="4046220"/>
            <a:ext cx="2641702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Takes the top 15% of points in a cluster and sends them to an LLM to decide the cluster's name.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7615123" y="2537460"/>
            <a:ext cx="82296" cy="3154680"/>
            <a:chOff x="0" y="0"/>
            <a:chExt cx="109728" cy="4206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C9A75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687894" y="2527935"/>
            <a:ext cx="2989936" cy="3173730"/>
            <a:chOff x="0" y="0"/>
            <a:chExt cx="3986581" cy="4231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8653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86530">
                  <a:moveTo>
                    <a:pt x="0" y="0"/>
                  </a:moveTo>
                  <a:lnTo>
                    <a:pt x="3986530" y="0"/>
                  </a:lnTo>
                  <a:lnTo>
                    <a:pt x="398653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862011" y="2743200"/>
            <a:ext cx="2641702" cy="342900"/>
            <a:chOff x="0" y="0"/>
            <a:chExt cx="3522269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22267" cy="457200"/>
            </a:xfrm>
            <a:custGeom>
              <a:avLst/>
              <a:gdLst/>
              <a:ahLst/>
              <a:cxnLst/>
              <a:rect r="r" b="b" t="t" l="l"/>
              <a:pathLst>
                <a:path h="457200" w="3522267">
                  <a:moveTo>
                    <a:pt x="0" y="0"/>
                  </a:moveTo>
                  <a:lnTo>
                    <a:pt x="3522267" y="0"/>
                  </a:lnTo>
                  <a:lnTo>
                    <a:pt x="3522267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12" r="0" b="-10011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3522269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C9A75A"/>
                  </a:solidFill>
                  <a:latin typeface="Nunito"/>
                  <a:ea typeface="Nunito"/>
                  <a:cs typeface="Nunito"/>
                  <a:sym typeface="Nunito"/>
                </a:rPr>
                <a:t>AGENT 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862011" y="3113532"/>
            <a:ext cx="2641702" cy="480060"/>
            <a:chOff x="0" y="0"/>
            <a:chExt cx="3522269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522267" cy="640080"/>
            </a:xfrm>
            <a:custGeom>
              <a:avLst/>
              <a:gdLst/>
              <a:ahLst/>
              <a:cxnLst/>
              <a:rect r="r" b="b" t="t" l="l"/>
              <a:pathLst>
                <a:path h="640080" w="3522267">
                  <a:moveTo>
                    <a:pt x="0" y="0"/>
                  </a:moveTo>
                  <a:lnTo>
                    <a:pt x="3522267" y="0"/>
                  </a:lnTo>
                  <a:lnTo>
                    <a:pt x="3522267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23" r="0" b="-5722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3522269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Planner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862011" y="3607308"/>
            <a:ext cx="2641702" cy="411480"/>
            <a:chOff x="0" y="0"/>
            <a:chExt cx="3522269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522267" cy="548640"/>
            </a:xfrm>
            <a:custGeom>
              <a:avLst/>
              <a:gdLst/>
              <a:ahLst/>
              <a:cxnLst/>
              <a:rect r="r" b="b" t="t" l="l"/>
              <a:pathLst>
                <a:path h="548640" w="3522267">
                  <a:moveTo>
                    <a:pt x="0" y="0"/>
                  </a:moveTo>
                  <a:lnTo>
                    <a:pt x="3522267" y="0"/>
                  </a:lnTo>
                  <a:lnTo>
                    <a:pt x="352226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93" r="0" b="-7509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522269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C9A75A"/>
                  </a:solidFill>
                  <a:latin typeface="Nunito"/>
                  <a:ea typeface="Nunito"/>
                  <a:cs typeface="Nunito"/>
                  <a:sym typeface="Nunito"/>
                </a:rPr>
                <a:t>f_next_best_step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7862011" y="4046220"/>
            <a:ext cx="2641702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Decides show / ask / stop from load and history.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011205" y="2537460"/>
            <a:ext cx="82296" cy="3154680"/>
            <a:chOff x="0" y="0"/>
            <a:chExt cx="109728" cy="42062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5A7080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083976" y="2527935"/>
            <a:ext cx="2989936" cy="3173730"/>
            <a:chOff x="0" y="0"/>
            <a:chExt cx="3986581" cy="4231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8653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86530">
                  <a:moveTo>
                    <a:pt x="0" y="0"/>
                  </a:moveTo>
                  <a:lnTo>
                    <a:pt x="3986530" y="0"/>
                  </a:lnTo>
                  <a:lnTo>
                    <a:pt x="398653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1258093" y="2743200"/>
            <a:ext cx="2641702" cy="342900"/>
            <a:chOff x="0" y="0"/>
            <a:chExt cx="3522269" cy="457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22270" cy="457200"/>
            </a:xfrm>
            <a:custGeom>
              <a:avLst/>
              <a:gdLst/>
              <a:ahLst/>
              <a:cxnLst/>
              <a:rect r="r" b="b" t="t" l="l"/>
              <a:pathLst>
                <a:path h="45720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12" r="0" b="-10011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9525"/>
              <a:ext cx="3522269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A7080"/>
                  </a:solidFill>
                  <a:latin typeface="Nunito"/>
                  <a:ea typeface="Nunito"/>
                  <a:cs typeface="Nunito"/>
                  <a:sym typeface="Nunito"/>
                </a:rPr>
                <a:t>AGENT 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258093" y="3113532"/>
            <a:ext cx="2641702" cy="480060"/>
            <a:chOff x="0" y="0"/>
            <a:chExt cx="3522269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522270" cy="640080"/>
            </a:xfrm>
            <a:custGeom>
              <a:avLst/>
              <a:gdLst/>
              <a:ahLst/>
              <a:cxnLst/>
              <a:rect r="r" b="b" t="t" l="l"/>
              <a:pathLst>
                <a:path h="64008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23" r="0" b="-5722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3522269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Judge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258093" y="3607308"/>
            <a:ext cx="2641702" cy="411480"/>
            <a:chOff x="0" y="0"/>
            <a:chExt cx="3522269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52227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93" r="0" b="-7509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3522269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5A7080"/>
                  </a:solidFill>
                  <a:latin typeface="Nunito"/>
                  <a:ea typeface="Nunito"/>
                  <a:cs typeface="Nunito"/>
                  <a:sym typeface="Nunito"/>
                </a:rPr>
                <a:t>f_eval  (B1–B4)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1258093" y="4046220"/>
            <a:ext cx="2641702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Out-of-band evaluation. Never sees the live turn.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4407286" y="2537460"/>
            <a:ext cx="82296" cy="3154680"/>
            <a:chOff x="0" y="0"/>
            <a:chExt cx="109728" cy="42062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" cy="4206240"/>
            </a:xfrm>
            <a:custGeom>
              <a:avLst/>
              <a:gdLst/>
              <a:ahLst/>
              <a:cxnLst/>
              <a:rect r="r" b="b" t="t" l="l"/>
              <a:pathLst>
                <a:path h="4206240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4206240"/>
                  </a:lnTo>
                  <a:lnTo>
                    <a:pt x="0" y="4206240"/>
                  </a:lnTo>
                  <a:close/>
                </a:path>
              </a:pathLst>
            </a:custGeom>
            <a:solidFill>
              <a:srgbClr val="B85042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480057" y="2527935"/>
            <a:ext cx="2989936" cy="3173730"/>
            <a:chOff x="0" y="0"/>
            <a:chExt cx="3986581" cy="4231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986530" cy="4231640"/>
            </a:xfrm>
            <a:custGeom>
              <a:avLst/>
              <a:gdLst/>
              <a:ahLst/>
              <a:cxnLst/>
              <a:rect r="r" b="b" t="t" l="l"/>
              <a:pathLst>
                <a:path h="4231640" w="3986530">
                  <a:moveTo>
                    <a:pt x="0" y="0"/>
                  </a:moveTo>
                  <a:lnTo>
                    <a:pt x="3986530" y="0"/>
                  </a:lnTo>
                  <a:lnTo>
                    <a:pt x="3986530" y="4231640"/>
                  </a:lnTo>
                  <a:lnTo>
                    <a:pt x="0" y="4231640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654174" y="2743200"/>
            <a:ext cx="2641702" cy="342900"/>
            <a:chOff x="0" y="0"/>
            <a:chExt cx="3522269" cy="457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522270" cy="457200"/>
            </a:xfrm>
            <a:custGeom>
              <a:avLst/>
              <a:gdLst/>
              <a:ahLst/>
              <a:cxnLst/>
              <a:rect r="r" b="b" t="t" l="l"/>
              <a:pathLst>
                <a:path h="45720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112" r="0" b="-10011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9525"/>
              <a:ext cx="3522269" cy="447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B85042"/>
                  </a:solidFill>
                  <a:latin typeface="Nunito"/>
                  <a:ea typeface="Nunito"/>
                  <a:cs typeface="Nunito"/>
                  <a:sym typeface="Nunito"/>
                </a:rPr>
                <a:t>AGENT 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654174" y="3113532"/>
            <a:ext cx="2641702" cy="480060"/>
            <a:chOff x="0" y="0"/>
            <a:chExt cx="3522269" cy="640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522270" cy="640080"/>
            </a:xfrm>
            <a:custGeom>
              <a:avLst/>
              <a:gdLst/>
              <a:ahLst/>
              <a:cxnLst/>
              <a:rect r="r" b="b" t="t" l="l"/>
              <a:pathLst>
                <a:path h="64008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223" r="0" b="-5722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9525"/>
              <a:ext cx="3522269" cy="630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Sim. Oracle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654174" y="3607308"/>
            <a:ext cx="2641702" cy="411480"/>
            <a:chOff x="0" y="0"/>
            <a:chExt cx="3522269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522270" cy="548640"/>
            </a:xfrm>
            <a:custGeom>
              <a:avLst/>
              <a:gdLst/>
              <a:ahLst/>
              <a:cxnLst/>
              <a:rect r="r" b="b" t="t" l="l"/>
              <a:pathLst>
                <a:path h="548640" w="3522270">
                  <a:moveTo>
                    <a:pt x="0" y="0"/>
                  </a:moveTo>
                  <a:lnTo>
                    <a:pt x="3522270" y="0"/>
                  </a:lnTo>
                  <a:lnTo>
                    <a:pt x="352227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093" r="0" b="-7509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3522269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B85042"/>
                  </a:solidFill>
                  <a:latin typeface="Nunito"/>
                  <a:ea typeface="Nunito"/>
                  <a:cs typeface="Nunito"/>
                  <a:sym typeface="Nunito"/>
                </a:rPr>
                <a:t>llm_oracle.py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4654174" y="4046220"/>
            <a:ext cx="2641702" cy="150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Persona that drives the session for auto-eval.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13435" y="6231255"/>
            <a:ext cx="16656558" cy="1527810"/>
            <a:chOff x="0" y="0"/>
            <a:chExt cx="22208744" cy="20370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208744" cy="2037080"/>
            </a:xfrm>
            <a:custGeom>
              <a:avLst/>
              <a:gdLst/>
              <a:ahLst/>
              <a:cxnLst/>
              <a:rect r="r" b="b" t="t" l="l"/>
              <a:pathLst>
                <a:path h="2037080" w="22208744">
                  <a:moveTo>
                    <a:pt x="0" y="0"/>
                  </a:moveTo>
                  <a:lnTo>
                    <a:pt x="22208744" y="0"/>
                  </a:lnTo>
                  <a:lnTo>
                    <a:pt x="22208744" y="2037080"/>
                  </a:lnTo>
                  <a:lnTo>
                    <a:pt x="0" y="2037080"/>
                  </a:lnTo>
                  <a:close/>
                </a:path>
              </a:pathLst>
            </a:custGeom>
            <a:solidFill>
              <a:srgbClr val="E8E3CC"/>
            </a:solidFill>
            <a:ln w="19050" cap="sq">
              <a:solidFill>
                <a:srgbClr val="C8C8BC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1156335" y="6446520"/>
            <a:ext cx="5486400" cy="342900"/>
            <a:chOff x="0" y="0"/>
            <a:chExt cx="7315200" cy="457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0" cy="457200"/>
            </a:xfrm>
            <a:custGeom>
              <a:avLst/>
              <a:gdLst/>
              <a:ahLst/>
              <a:cxnLst/>
              <a:rect r="r" b="b" t="t" l="l"/>
              <a:pathLst>
                <a:path h="457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73152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79"/>
                </a:lnSpc>
              </a:pPr>
              <a:r>
                <a:rPr lang="en-US" sz="1399">
                  <a:solidFill>
                    <a:srgbClr val="7A7A6E"/>
                  </a:solidFill>
                  <a:latin typeface="Nunito"/>
                  <a:ea typeface="Nunito"/>
                  <a:cs typeface="Nunito"/>
                  <a:sym typeface="Nunito"/>
                </a:rPr>
                <a:t>PLAIN CODE  ·  NOT AGENTIC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65860" y="6926580"/>
            <a:ext cx="15951708" cy="685800"/>
            <a:chOff x="0" y="0"/>
            <a:chExt cx="21268944" cy="914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268944" cy="914400"/>
            </a:xfrm>
            <a:custGeom>
              <a:avLst/>
              <a:gdLst/>
              <a:ahLst/>
              <a:cxnLst/>
              <a:rect r="r" b="b" t="t" l="l"/>
              <a:pathLst>
                <a:path h="914400" w="21268944">
                  <a:moveTo>
                    <a:pt x="0" y="0"/>
                  </a:moveTo>
                  <a:lnTo>
                    <a:pt x="21268944" y="0"/>
                  </a:lnTo>
                  <a:lnTo>
                    <a:pt x="2126894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221" r="0" b="-40322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9525"/>
              <a:ext cx="21268944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F2F2F"/>
                  </a:solidFill>
                  <a:latin typeface="Nunito"/>
                  <a:ea typeface="Nunito"/>
                  <a:cs typeface="Nunito"/>
                  <a:sym typeface="Nunito"/>
                </a:rPr>
                <a:t>k-means/GMM fitting  ·  embedding computation  ·  DB persistence  ·  cognitive load  score · f_apply_operations · cluster_operations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822960" y="8229600"/>
            <a:ext cx="16637508" cy="548640"/>
            <a:chOff x="0" y="0"/>
            <a:chExt cx="22183344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183344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883" r="0" b="-54088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9525"/>
              <a:ext cx="22183344" cy="7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7A7A6E"/>
                  </a:solidFill>
                  <a:latin typeface="Nunito Italics"/>
                  <a:ea typeface="Nunito Italics"/>
                  <a:cs typeface="Nunito Italics"/>
                  <a:sym typeface="Nunito Italics"/>
                </a:rPr>
                <a:t>Architectural pattern: </a:t>
              </a:r>
              <a:r>
                <a:rPr lang="en-US" b="true" sz="1800">
                  <a:solidFill>
                    <a:srgbClr val="5F7A4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Planner / Executor loop  +  LLM-as-Judge separated out-of-band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381" y="667493"/>
            <a:ext cx="80467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7A7A6E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r>
              <a:rPr lang="en-US" sz="1399">
                <a:solidFill>
                  <a:srgbClr val="7A7A6E"/>
                </a:solidFill>
                <a:latin typeface="Nunito"/>
                <a:ea typeface="Nunito"/>
                <a:cs typeface="Nunito"/>
                <a:sym typeface="Nunito"/>
              </a:rPr>
              <a:t> — DATA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381" y="1069829"/>
            <a:ext cx="16459229" cy="100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1F1F1F"/>
                </a:solidFill>
                <a:latin typeface="Nunito"/>
                <a:ea typeface="Nunito"/>
                <a:cs typeface="Nunito"/>
                <a:sym typeface="Nunito"/>
              </a:rPr>
              <a:t>How data persists across turns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3425" y="2185025"/>
            <a:ext cx="3402454" cy="1655855"/>
            <a:chOff x="0" y="0"/>
            <a:chExt cx="4536605" cy="22078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36567" cy="2207768"/>
            </a:xfrm>
            <a:custGeom>
              <a:avLst/>
              <a:gdLst/>
              <a:ahLst/>
              <a:cxnLst/>
              <a:rect r="r" b="b" t="t" l="l"/>
              <a:pathLst>
                <a:path h="2207768" w="4536567">
                  <a:moveTo>
                    <a:pt x="0" y="0"/>
                  </a:moveTo>
                  <a:lnTo>
                    <a:pt x="4536567" y="0"/>
                  </a:lnTo>
                  <a:lnTo>
                    <a:pt x="4536567" y="2207768"/>
                  </a:lnTo>
                  <a:lnTo>
                    <a:pt x="0" y="2207768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2194560"/>
            <a:ext cx="3383280" cy="466344"/>
            <a:chOff x="0" y="0"/>
            <a:chExt cx="4511040" cy="6217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11040" cy="621792"/>
            </a:xfrm>
            <a:custGeom>
              <a:avLst/>
              <a:gdLst/>
              <a:ahLst/>
              <a:cxnLst/>
              <a:rect r="r" b="b" t="t" l="l"/>
              <a:pathLst>
                <a:path h="62179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42397" y="2295506"/>
            <a:ext cx="29443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4F2EC"/>
                </a:solidFill>
                <a:latin typeface="Nunito Bold"/>
                <a:ea typeface="Nunito Bold"/>
                <a:cs typeface="Nunito Bold"/>
                <a:sym typeface="Nunito Bold"/>
              </a:rPr>
              <a:t>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9078" y="2828268"/>
            <a:ext cx="2871149" cy="34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id  (PK · UUID)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078" y="3093444"/>
            <a:ext cx="2871149" cy="34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name  (unique)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078" y="3358620"/>
            <a:ext cx="2871149" cy="34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description  (LLM-gen)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08722" y="2185035"/>
            <a:ext cx="3568877" cy="2141939"/>
            <a:chOff x="0" y="0"/>
            <a:chExt cx="4758503" cy="28559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8503" cy="2855919"/>
            </a:xfrm>
            <a:custGeom>
              <a:avLst/>
              <a:gdLst/>
              <a:ahLst/>
              <a:cxnLst/>
              <a:rect r="r" b="b" t="t" l="l"/>
              <a:pathLst>
                <a:path h="2855919" w="4758503">
                  <a:moveTo>
                    <a:pt x="0" y="0"/>
                  </a:moveTo>
                  <a:lnTo>
                    <a:pt x="4758503" y="0"/>
                  </a:lnTo>
                  <a:lnTo>
                    <a:pt x="4758503" y="2855919"/>
                  </a:lnTo>
                  <a:lnTo>
                    <a:pt x="0" y="2855919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309360" y="2194560"/>
            <a:ext cx="3568239" cy="466344"/>
            <a:chOff x="0" y="0"/>
            <a:chExt cx="4757652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57652" cy="621792"/>
            </a:xfrm>
            <a:custGeom>
              <a:avLst/>
              <a:gdLst/>
              <a:ahLst/>
              <a:cxnLst/>
              <a:rect r="r" b="b" t="t" l="l"/>
              <a:pathLst>
                <a:path h="621792" w="4757652">
                  <a:moveTo>
                    <a:pt x="0" y="0"/>
                  </a:moveTo>
                  <a:lnTo>
                    <a:pt x="4757652" y="0"/>
                  </a:lnTo>
                  <a:lnTo>
                    <a:pt x="4757652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528797" y="2285981"/>
            <a:ext cx="294439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F4F2EC"/>
                </a:solidFill>
                <a:latin typeface="Nunito Bold"/>
                <a:ea typeface="Nunito Bold"/>
                <a:cs typeface="Nunito Bold"/>
                <a:sym typeface="Nunito Bold"/>
              </a:rPr>
              <a:t>ChatSession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28797" y="2843746"/>
            <a:ext cx="138668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id  (PK · UUID)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8797" y="3115418"/>
            <a:ext cx="259651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7A7A6E"/>
                </a:solidFill>
                <a:latin typeface="Nunito"/>
                <a:ea typeface="Nunito"/>
                <a:cs typeface="Nunito"/>
                <a:sym typeface="Nunito"/>
              </a:rPr>
              <a:t>dataset_id  (FK → Dataset)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28797" y="3380594"/>
            <a:ext cx="191611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status  · oracle_kind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8797" y="3626720"/>
            <a:ext cx="180927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embedding_model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28797" y="3891896"/>
            <a:ext cx="307943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preference_summary  (nullable)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877675" y="2194560"/>
            <a:ext cx="3610472" cy="1896425"/>
            <a:chOff x="0" y="0"/>
            <a:chExt cx="4536440" cy="23827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36440" cy="2382796"/>
            </a:xfrm>
            <a:custGeom>
              <a:avLst/>
              <a:gdLst/>
              <a:ahLst/>
              <a:cxnLst/>
              <a:rect r="r" b="b" t="t" l="l"/>
              <a:pathLst>
                <a:path h="2382796" w="4536440">
                  <a:moveTo>
                    <a:pt x="0" y="0"/>
                  </a:moveTo>
                  <a:lnTo>
                    <a:pt x="4536440" y="0"/>
                  </a:lnTo>
                  <a:lnTo>
                    <a:pt x="4536440" y="2382796"/>
                  </a:lnTo>
                  <a:lnTo>
                    <a:pt x="0" y="2382796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887783" y="2204668"/>
            <a:ext cx="3590256" cy="494873"/>
            <a:chOff x="0" y="0"/>
            <a:chExt cx="4511040" cy="6217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511040" cy="621792"/>
            </a:xfrm>
            <a:custGeom>
              <a:avLst/>
              <a:gdLst/>
              <a:ahLst/>
              <a:cxnLst/>
              <a:rect r="r" b="b" t="t" l="l"/>
              <a:pathLst>
                <a:path h="62179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106637" y="2333042"/>
            <a:ext cx="29443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4F2EC"/>
                </a:solidFill>
                <a:latin typeface="Nunito Bold"/>
                <a:ea typeface="Nunito Bold"/>
                <a:cs typeface="Nunito Bold"/>
                <a:sym typeface="Nunito Bold"/>
              </a:rPr>
              <a:t>Turn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43213" y="2853271"/>
            <a:ext cx="301275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session_id  (PK · FK → Session)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143213" y="3118447"/>
            <a:ext cx="224678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turn_number  (PK · ≥ 1)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43213" y="3383623"/>
            <a:ext cx="197072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oracle_input  (JSON)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43213" y="3648799"/>
            <a:ext cx="221773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system_output  (JSON)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13425" y="5257429"/>
            <a:ext cx="3402454" cy="1829248"/>
            <a:chOff x="0" y="0"/>
            <a:chExt cx="4536605" cy="24389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536567" cy="2439035"/>
            </a:xfrm>
            <a:custGeom>
              <a:avLst/>
              <a:gdLst/>
              <a:ahLst/>
              <a:cxnLst/>
              <a:rect r="r" b="b" t="t" l="l"/>
              <a:pathLst>
                <a:path h="2439035" w="4536567">
                  <a:moveTo>
                    <a:pt x="0" y="0"/>
                  </a:moveTo>
                  <a:lnTo>
                    <a:pt x="4536567" y="0"/>
                  </a:lnTo>
                  <a:lnTo>
                    <a:pt x="4536567" y="2439035"/>
                  </a:lnTo>
                  <a:lnTo>
                    <a:pt x="0" y="2439035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5266944"/>
            <a:ext cx="3383280" cy="466344"/>
            <a:chOff x="0" y="0"/>
            <a:chExt cx="4511040" cy="6217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11040" cy="621792"/>
            </a:xfrm>
            <a:custGeom>
              <a:avLst/>
              <a:gdLst/>
              <a:ahLst/>
              <a:cxnLst/>
              <a:rect r="r" b="b" t="t" l="l"/>
              <a:pathLst>
                <a:path h="62179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42397" y="5367890"/>
            <a:ext cx="29443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4F2EC"/>
                </a:solidFill>
                <a:latin typeface="Nunito Bold"/>
                <a:ea typeface="Nunito Bold"/>
                <a:cs typeface="Nunito Bold"/>
                <a:sym typeface="Nunito Bold"/>
              </a:rPr>
              <a:t>DataPoint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5872448"/>
            <a:ext cx="3401549" cy="34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id  (PK · UUID)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05821" y="6104658"/>
            <a:ext cx="3401549" cy="34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7A7A6E"/>
                </a:solidFill>
                <a:latin typeface="Nunito"/>
                <a:ea typeface="Nunito"/>
                <a:cs typeface="Nunito"/>
                <a:sym typeface="Nunito"/>
              </a:rPr>
              <a:t>dataset_id  (FK → Dataset)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05821" y="6369834"/>
            <a:ext cx="3401549" cy="34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text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05821" y="6635020"/>
            <a:ext cx="340154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embedding  (nullable JSON)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392314" y="5143500"/>
            <a:ext cx="3402330" cy="2133981"/>
            <a:chOff x="0" y="0"/>
            <a:chExt cx="4536440" cy="28453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36440" cy="2845308"/>
            </a:xfrm>
            <a:custGeom>
              <a:avLst/>
              <a:gdLst/>
              <a:ahLst/>
              <a:cxnLst/>
              <a:rect r="r" b="b" t="t" l="l"/>
              <a:pathLst>
                <a:path h="2845308" w="4536440">
                  <a:moveTo>
                    <a:pt x="0" y="0"/>
                  </a:moveTo>
                  <a:lnTo>
                    <a:pt x="4536440" y="0"/>
                  </a:lnTo>
                  <a:lnTo>
                    <a:pt x="4536440" y="2845308"/>
                  </a:lnTo>
                  <a:lnTo>
                    <a:pt x="0" y="2845308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392357" y="5150525"/>
            <a:ext cx="3402287" cy="466344"/>
            <a:chOff x="0" y="0"/>
            <a:chExt cx="4536383" cy="6217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36383" cy="621792"/>
            </a:xfrm>
            <a:custGeom>
              <a:avLst/>
              <a:gdLst/>
              <a:ahLst/>
              <a:cxnLst/>
              <a:rect r="r" b="b" t="t" l="l"/>
              <a:pathLst>
                <a:path h="621792" w="4536383">
                  <a:moveTo>
                    <a:pt x="0" y="0"/>
                  </a:moveTo>
                  <a:lnTo>
                    <a:pt x="4536383" y="0"/>
                  </a:lnTo>
                  <a:lnTo>
                    <a:pt x="4536383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6632891" y="5261800"/>
            <a:ext cx="29443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4F2EC"/>
                </a:solidFill>
                <a:latin typeface="Nunito Bold"/>
                <a:ea typeface="Nunito Bold"/>
                <a:cs typeface="Nunito Bold"/>
                <a:sym typeface="Nunito Bold"/>
              </a:rPr>
              <a:t>Cluster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648327" y="5795200"/>
            <a:ext cx="138668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id  (PK · UUID)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48327" y="6060376"/>
            <a:ext cx="258048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7A7A6E"/>
                </a:solidFill>
                <a:latin typeface="Nunito"/>
                <a:ea typeface="Nunito"/>
                <a:cs typeface="Nunito"/>
                <a:sym typeface="Nunito"/>
              </a:rPr>
              <a:t>session_id  (FK → Session)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48327" y="6325552"/>
            <a:ext cx="181975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name  · description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48327" y="6590728"/>
            <a:ext cx="152574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created_at_turn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648327" y="6855904"/>
            <a:ext cx="276177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dissolved_at_turn  (nullable)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887926" y="5277024"/>
            <a:ext cx="3661717" cy="2020062"/>
            <a:chOff x="0" y="0"/>
            <a:chExt cx="4536440" cy="250262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36440" cy="2502621"/>
            </a:xfrm>
            <a:custGeom>
              <a:avLst/>
              <a:gdLst/>
              <a:ahLst/>
              <a:cxnLst/>
              <a:rect r="r" b="b" t="t" l="l"/>
              <a:pathLst>
                <a:path h="2502621" w="4536440">
                  <a:moveTo>
                    <a:pt x="0" y="0"/>
                  </a:moveTo>
                  <a:lnTo>
                    <a:pt x="4536440" y="0"/>
                  </a:lnTo>
                  <a:lnTo>
                    <a:pt x="4536440" y="2502621"/>
                  </a:lnTo>
                  <a:lnTo>
                    <a:pt x="0" y="2502621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1887926" y="5266944"/>
            <a:ext cx="3641215" cy="502623"/>
            <a:chOff x="0" y="0"/>
            <a:chExt cx="4511040" cy="6226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11040" cy="622692"/>
            </a:xfrm>
            <a:custGeom>
              <a:avLst/>
              <a:gdLst/>
              <a:ahLst/>
              <a:cxnLst/>
              <a:rect r="r" b="b" t="t" l="l"/>
              <a:pathLst>
                <a:path h="62269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22692"/>
                  </a:lnTo>
                  <a:lnTo>
                    <a:pt x="0" y="62269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2143213" y="5400294"/>
            <a:ext cx="31688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4F2EC"/>
                </a:solidFill>
                <a:latin typeface="Nunito Bold"/>
                <a:ea typeface="Nunito Bold"/>
                <a:cs typeface="Nunito Bold"/>
                <a:sym typeface="Nunito Bold"/>
              </a:rPr>
              <a:t>EvalCache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106637" y="5933313"/>
            <a:ext cx="194929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key  (PK · SHA-256)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106637" y="6218705"/>
            <a:ext cx="258048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7A7A6E"/>
                </a:solidFill>
                <a:latin typeface="Nunito"/>
                <a:ea typeface="Nunito"/>
                <a:cs typeface="Nunito"/>
                <a:sym typeface="Nunito"/>
              </a:rPr>
              <a:t>session_id  (FK → Session)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106637" y="6504098"/>
            <a:ext cx="230774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response_json  (A1–B4)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106637" y="6789490"/>
            <a:ext cx="10210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created_at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3657600" y="7446071"/>
            <a:ext cx="4039807" cy="1841378"/>
            <a:chOff x="0" y="0"/>
            <a:chExt cx="5146040" cy="23456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46040" cy="2345608"/>
            </a:xfrm>
            <a:custGeom>
              <a:avLst/>
              <a:gdLst/>
              <a:ahLst/>
              <a:cxnLst/>
              <a:rect r="r" b="b" t="t" l="l"/>
              <a:pathLst>
                <a:path h="2345608" w="5146040">
                  <a:moveTo>
                    <a:pt x="0" y="0"/>
                  </a:moveTo>
                  <a:lnTo>
                    <a:pt x="5146040" y="0"/>
                  </a:lnTo>
                  <a:lnTo>
                    <a:pt x="5146040" y="2345608"/>
                  </a:lnTo>
                  <a:lnTo>
                    <a:pt x="0" y="2345608"/>
                  </a:lnTo>
                  <a:close/>
                </a:path>
              </a:pathLst>
            </a:custGeom>
            <a:solidFill>
              <a:srgbClr val="F4F2EC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3657600" y="7461504"/>
            <a:ext cx="4030282" cy="466344"/>
            <a:chOff x="0" y="0"/>
            <a:chExt cx="5373710" cy="6217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73710" cy="621792"/>
            </a:xfrm>
            <a:custGeom>
              <a:avLst/>
              <a:gdLst/>
              <a:ahLst/>
              <a:cxnLst/>
              <a:rect r="r" b="b" t="t" l="l"/>
              <a:pathLst>
                <a:path h="621792" w="5373710">
                  <a:moveTo>
                    <a:pt x="0" y="0"/>
                  </a:moveTo>
                  <a:lnTo>
                    <a:pt x="5373710" y="0"/>
                  </a:lnTo>
                  <a:lnTo>
                    <a:pt x="5373710" y="621792"/>
                  </a:lnTo>
                  <a:lnTo>
                    <a:pt x="0" y="621792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3913613" y="7556563"/>
            <a:ext cx="34015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b="true" sz="1999">
                <a:solidFill>
                  <a:srgbClr val="F4F2EC"/>
                </a:solidFill>
                <a:latin typeface="Nunito Bold"/>
                <a:ea typeface="Nunito Bold"/>
                <a:cs typeface="Nunito Bold"/>
                <a:sym typeface="Nunito Bold"/>
              </a:rPr>
              <a:t>SoftAssignment  ← junction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913613" y="8064989"/>
            <a:ext cx="354758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data_point_id  (PK · FK → DataPoint)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913613" y="8330165"/>
            <a:ext cx="290401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cluster_id  (PK · FK → Cluster)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913613" y="8595341"/>
            <a:ext cx="224678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turn_number  (PK · ≥ 0)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913613" y="8860517"/>
            <a:ext cx="192357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probability  ∈ [0, 1]</a:t>
            </a:r>
          </a:p>
        </p:txBody>
      </p:sp>
      <p:sp>
        <p:nvSpPr>
          <p:cNvPr name="AutoShape 68" id="68"/>
          <p:cNvSpPr/>
          <p:nvPr/>
        </p:nvSpPr>
        <p:spPr>
          <a:xfrm>
            <a:off x="4196720" y="2870841"/>
            <a:ext cx="2112002" cy="0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flipV="true">
            <a:off x="9877599" y="3088766"/>
            <a:ext cx="2019133" cy="46529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rot="5355000">
            <a:off x="1787166" y="4544482"/>
            <a:ext cx="1454972" cy="9525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1" id="71"/>
          <p:cNvGrpSpPr/>
          <p:nvPr/>
        </p:nvGrpSpPr>
        <p:grpSpPr>
          <a:xfrm rot="0">
            <a:off x="1970227" y="4237920"/>
            <a:ext cx="1088850" cy="485251"/>
            <a:chOff x="0" y="0"/>
            <a:chExt cx="1451800" cy="64700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51737" cy="646938"/>
            </a:xfrm>
            <a:custGeom>
              <a:avLst/>
              <a:gdLst/>
              <a:ahLst/>
              <a:cxnLst/>
              <a:rect r="r" b="b" t="t" l="l"/>
              <a:pathLst>
                <a:path h="646938" w="1451737">
                  <a:moveTo>
                    <a:pt x="0" y="0"/>
                  </a:moveTo>
                  <a:lnTo>
                    <a:pt x="1451737" y="0"/>
                  </a:lnTo>
                  <a:lnTo>
                    <a:pt x="1451737" y="646938"/>
                  </a:lnTo>
                  <a:lnTo>
                    <a:pt x="0" y="6469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sp>
        <p:nvSpPr>
          <p:cNvPr name="TextBox 73" id="73"/>
          <p:cNvSpPr txBox="true"/>
          <p:nvPr/>
        </p:nvSpPr>
        <p:spPr>
          <a:xfrm rot="0">
            <a:off x="2054242" y="4326974"/>
            <a:ext cx="901670" cy="4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sz="2004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1 : N</a:t>
            </a:r>
          </a:p>
        </p:txBody>
      </p:sp>
      <p:sp>
        <p:nvSpPr>
          <p:cNvPr name="AutoShape 74" id="74"/>
          <p:cNvSpPr/>
          <p:nvPr/>
        </p:nvSpPr>
        <p:spPr>
          <a:xfrm>
            <a:off x="8093160" y="4326974"/>
            <a:ext cx="340" cy="823551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>
            <a:off x="9683119" y="4326974"/>
            <a:ext cx="0" cy="345246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rot="16740">
            <a:off x="9683096" y="4676966"/>
            <a:ext cx="3905298" cy="0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7" id="77"/>
          <p:cNvSpPr/>
          <p:nvPr/>
        </p:nvSpPr>
        <p:spPr>
          <a:xfrm>
            <a:off x="13578835" y="4691236"/>
            <a:ext cx="10251" cy="585787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>
            <a:off x="2505077" y="7086676"/>
            <a:ext cx="19096" cy="1275604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9" id="79"/>
          <p:cNvSpPr/>
          <p:nvPr/>
        </p:nvSpPr>
        <p:spPr>
          <a:xfrm flipV="true">
            <a:off x="2505077" y="8362567"/>
            <a:ext cx="1162046" cy="1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0" id="80"/>
          <p:cNvSpPr/>
          <p:nvPr/>
        </p:nvSpPr>
        <p:spPr>
          <a:xfrm>
            <a:off x="7697407" y="8366760"/>
            <a:ext cx="911645" cy="0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1" id="81"/>
          <p:cNvGrpSpPr/>
          <p:nvPr/>
        </p:nvGrpSpPr>
        <p:grpSpPr>
          <a:xfrm rot="0">
            <a:off x="11887200" y="7461504"/>
            <a:ext cx="5577840" cy="1810512"/>
            <a:chOff x="0" y="0"/>
            <a:chExt cx="7437120" cy="241401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437120" cy="2414016"/>
            </a:xfrm>
            <a:custGeom>
              <a:avLst/>
              <a:gdLst/>
              <a:ahLst/>
              <a:cxnLst/>
              <a:rect r="r" b="b" t="t" l="l"/>
              <a:pathLst>
                <a:path h="2414016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E8E3C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887200" y="7461504"/>
            <a:ext cx="73152" cy="1810512"/>
            <a:chOff x="0" y="0"/>
            <a:chExt cx="97536" cy="241401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536" cy="2414016"/>
            </a:xfrm>
            <a:custGeom>
              <a:avLst/>
              <a:gdLst/>
              <a:ahLst/>
              <a:cxnLst/>
              <a:rect r="r" b="b" t="t" l="l"/>
              <a:pathLst>
                <a:path h="2414016" w="97536">
                  <a:moveTo>
                    <a:pt x="0" y="0"/>
                  </a:moveTo>
                  <a:lnTo>
                    <a:pt x="97536" y="0"/>
                  </a:lnTo>
                  <a:lnTo>
                    <a:pt x="97536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5F7A4A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2198077" y="7653509"/>
            <a:ext cx="5029229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SNAPSHOT MODEL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198077" y="8065370"/>
            <a:ext cx="502922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2F2F2F"/>
                </a:solidFill>
                <a:latin typeface="Nunito"/>
                <a:ea typeface="Nunito"/>
                <a:cs typeface="Nunito"/>
                <a:sym typeface="Nunito"/>
              </a:rPr>
              <a:t>SoftAssignment stores a full probability snapshot at each turn. Turn 0 = initial k-means. Oracle turns start at 1. Clusters dissolve but are never deleted — history is preserved.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960652" y="7525131"/>
            <a:ext cx="1088850" cy="485251"/>
            <a:chOff x="0" y="0"/>
            <a:chExt cx="1451800" cy="64700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451737" cy="646938"/>
            </a:xfrm>
            <a:custGeom>
              <a:avLst/>
              <a:gdLst/>
              <a:ahLst/>
              <a:cxnLst/>
              <a:rect r="r" b="b" t="t" l="l"/>
              <a:pathLst>
                <a:path h="646938" w="1451737">
                  <a:moveTo>
                    <a:pt x="0" y="0"/>
                  </a:moveTo>
                  <a:lnTo>
                    <a:pt x="1451737" y="0"/>
                  </a:lnTo>
                  <a:lnTo>
                    <a:pt x="1451737" y="646938"/>
                  </a:lnTo>
                  <a:lnTo>
                    <a:pt x="0" y="6469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sp>
        <p:nvSpPr>
          <p:cNvPr name="TextBox 89" id="89"/>
          <p:cNvSpPr txBox="true"/>
          <p:nvPr/>
        </p:nvSpPr>
        <p:spPr>
          <a:xfrm rot="0">
            <a:off x="2054242" y="7610551"/>
            <a:ext cx="901670" cy="4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sz="2004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1 : N</a:t>
            </a:r>
          </a:p>
        </p:txBody>
      </p:sp>
      <p:sp>
        <p:nvSpPr>
          <p:cNvPr name="AutoShape 90" id="90"/>
          <p:cNvSpPr/>
          <p:nvPr/>
        </p:nvSpPr>
        <p:spPr>
          <a:xfrm>
            <a:off x="8609052" y="7277481"/>
            <a:ext cx="0" cy="1089279"/>
          </a:xfrm>
          <a:prstGeom prst="line">
            <a:avLst/>
          </a:prstGeom>
          <a:ln cap="rnd" w="9525">
            <a:solidFill>
              <a:srgbClr val="7A956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1" id="91"/>
          <p:cNvGrpSpPr/>
          <p:nvPr/>
        </p:nvGrpSpPr>
        <p:grpSpPr>
          <a:xfrm rot="0">
            <a:off x="8064627" y="7596511"/>
            <a:ext cx="1088850" cy="485251"/>
            <a:chOff x="0" y="0"/>
            <a:chExt cx="1451800" cy="64700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451737" cy="646938"/>
            </a:xfrm>
            <a:custGeom>
              <a:avLst/>
              <a:gdLst/>
              <a:ahLst/>
              <a:cxnLst/>
              <a:rect r="r" b="b" t="t" l="l"/>
              <a:pathLst>
                <a:path h="646938" w="1451737">
                  <a:moveTo>
                    <a:pt x="0" y="0"/>
                  </a:moveTo>
                  <a:lnTo>
                    <a:pt x="1451737" y="0"/>
                  </a:lnTo>
                  <a:lnTo>
                    <a:pt x="1451737" y="646938"/>
                  </a:lnTo>
                  <a:lnTo>
                    <a:pt x="0" y="6469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sp>
        <p:nvSpPr>
          <p:cNvPr name="TextBox 93" id="93"/>
          <p:cNvSpPr txBox="true"/>
          <p:nvPr/>
        </p:nvSpPr>
        <p:spPr>
          <a:xfrm rot="0">
            <a:off x="8158217" y="7681932"/>
            <a:ext cx="901670" cy="4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sz="2004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1 : N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7539524" y="4496919"/>
            <a:ext cx="1088850" cy="485251"/>
            <a:chOff x="0" y="0"/>
            <a:chExt cx="1451800" cy="64700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451737" cy="646938"/>
            </a:xfrm>
            <a:custGeom>
              <a:avLst/>
              <a:gdLst/>
              <a:ahLst/>
              <a:cxnLst/>
              <a:rect r="r" b="b" t="t" l="l"/>
              <a:pathLst>
                <a:path h="646938" w="1451737">
                  <a:moveTo>
                    <a:pt x="0" y="0"/>
                  </a:moveTo>
                  <a:lnTo>
                    <a:pt x="1451737" y="0"/>
                  </a:lnTo>
                  <a:lnTo>
                    <a:pt x="1451737" y="646938"/>
                  </a:lnTo>
                  <a:lnTo>
                    <a:pt x="0" y="6469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sp>
        <p:nvSpPr>
          <p:cNvPr name="TextBox 96" id="96"/>
          <p:cNvSpPr txBox="true"/>
          <p:nvPr/>
        </p:nvSpPr>
        <p:spPr>
          <a:xfrm rot="0">
            <a:off x="7633115" y="4582339"/>
            <a:ext cx="901670" cy="4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sz="2004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1 : N</a:t>
            </a:r>
          </a:p>
        </p:txBody>
      </p:sp>
      <p:grpSp>
        <p:nvGrpSpPr>
          <p:cNvPr name="Group 97" id="97"/>
          <p:cNvGrpSpPr/>
          <p:nvPr/>
        </p:nvGrpSpPr>
        <p:grpSpPr>
          <a:xfrm rot="0">
            <a:off x="4713432" y="2615476"/>
            <a:ext cx="1088850" cy="510730"/>
            <a:chOff x="0" y="0"/>
            <a:chExt cx="1451800" cy="680974"/>
          </a:xfrm>
        </p:grpSpPr>
        <p:grpSp>
          <p:nvGrpSpPr>
            <p:cNvPr name="Group 98" id="98"/>
            <p:cNvGrpSpPr/>
            <p:nvPr/>
          </p:nvGrpSpPr>
          <p:grpSpPr>
            <a:xfrm rot="0">
              <a:off x="0" y="0"/>
              <a:ext cx="1451800" cy="647002"/>
              <a:chOff x="0" y="0"/>
              <a:chExt cx="1451800" cy="647002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1451737" cy="646938"/>
              </a:xfrm>
              <a:custGeom>
                <a:avLst/>
                <a:gdLst/>
                <a:ahLst/>
                <a:cxnLst/>
                <a:rect r="r" b="b" t="t" l="l"/>
                <a:pathLst>
                  <a:path h="646938" w="1451737">
                    <a:moveTo>
                      <a:pt x="0" y="0"/>
                    </a:moveTo>
                    <a:lnTo>
                      <a:pt x="1451737" y="0"/>
                    </a:lnTo>
                    <a:lnTo>
                      <a:pt x="1451737" y="646938"/>
                    </a:lnTo>
                    <a:lnTo>
                      <a:pt x="0" y="646938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A9568"/>
                </a:solidFill>
                <a:prstDash val="solid"/>
                <a:miter/>
              </a:ln>
            </p:spPr>
          </p:sp>
        </p:grpSp>
        <p:sp>
          <p:nvSpPr>
            <p:cNvPr name="TextBox 100" id="100"/>
            <p:cNvSpPr txBox="true"/>
            <p:nvPr/>
          </p:nvSpPr>
          <p:spPr>
            <a:xfrm rot="0">
              <a:off x="124787" y="113894"/>
              <a:ext cx="1202227" cy="567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5"/>
                </a:lnSpc>
              </a:pPr>
              <a:r>
                <a:rPr lang="en-US" sz="2004">
                  <a:solidFill>
                    <a:srgbClr val="5F7A4A"/>
                  </a:solidFill>
                  <a:latin typeface="Nunito"/>
                  <a:ea typeface="Nunito"/>
                  <a:cs typeface="Nunito"/>
                  <a:sym typeface="Nunito"/>
                </a:rPr>
                <a:t>1 : 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382424" y="2833400"/>
            <a:ext cx="1088850" cy="485251"/>
            <a:chOff x="0" y="0"/>
            <a:chExt cx="1451800" cy="64700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51737" cy="646938"/>
            </a:xfrm>
            <a:custGeom>
              <a:avLst/>
              <a:gdLst/>
              <a:ahLst/>
              <a:cxnLst/>
              <a:rect r="r" b="b" t="t" l="l"/>
              <a:pathLst>
                <a:path h="646938" w="1451737">
                  <a:moveTo>
                    <a:pt x="0" y="0"/>
                  </a:moveTo>
                  <a:lnTo>
                    <a:pt x="1451737" y="0"/>
                  </a:lnTo>
                  <a:lnTo>
                    <a:pt x="1451737" y="646938"/>
                  </a:lnTo>
                  <a:lnTo>
                    <a:pt x="0" y="6469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sp>
        <p:nvSpPr>
          <p:cNvPr name="TextBox 103" id="103"/>
          <p:cNvSpPr txBox="true"/>
          <p:nvPr/>
        </p:nvSpPr>
        <p:spPr>
          <a:xfrm rot="0">
            <a:off x="10476014" y="2918821"/>
            <a:ext cx="901670" cy="4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sz="2004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1 : N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10476014" y="4416854"/>
            <a:ext cx="1088850" cy="485251"/>
            <a:chOff x="0" y="0"/>
            <a:chExt cx="1451800" cy="64700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451737" cy="646938"/>
            </a:xfrm>
            <a:custGeom>
              <a:avLst/>
              <a:gdLst/>
              <a:ahLst/>
              <a:cxnLst/>
              <a:rect r="r" b="b" t="t" l="l"/>
              <a:pathLst>
                <a:path h="646938" w="1451737">
                  <a:moveTo>
                    <a:pt x="0" y="0"/>
                  </a:moveTo>
                  <a:lnTo>
                    <a:pt x="1451737" y="0"/>
                  </a:lnTo>
                  <a:lnTo>
                    <a:pt x="1451737" y="646938"/>
                  </a:lnTo>
                  <a:lnTo>
                    <a:pt x="0" y="64693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A9568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10569604" y="4502275"/>
            <a:ext cx="901670" cy="42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5"/>
              </a:lnSpc>
            </a:pPr>
            <a:r>
              <a:rPr lang="en-US" sz="2004">
                <a:solidFill>
                  <a:srgbClr val="5F7A4A"/>
                </a:solidFill>
                <a:latin typeface="Nunito"/>
                <a:ea typeface="Nunito"/>
                <a:cs typeface="Nunito"/>
                <a:sym typeface="Nunito"/>
              </a:rPr>
              <a:t>1 : N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1000001"/>
            <a:ext cx="16637508" cy="940003"/>
            <a:chOff x="0" y="0"/>
            <a:chExt cx="22183344" cy="12533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83344" cy="1253333"/>
            </a:xfrm>
            <a:custGeom>
              <a:avLst/>
              <a:gdLst/>
              <a:ahLst/>
              <a:cxnLst/>
              <a:rect r="r" b="b" t="t" l="l"/>
              <a:pathLst>
                <a:path h="1253333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253333"/>
                  </a:lnTo>
                  <a:lnTo>
                    <a:pt x="0" y="12533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874" r="0" b="-2948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2183344" cy="1253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1F1F"/>
                  </a:solidFill>
                  <a:latin typeface="Nunito"/>
                  <a:ea typeface="Nunito"/>
                  <a:cs typeface="Nunito"/>
                  <a:sym typeface="Nunito"/>
                </a:rPr>
                <a:t>What the system exposes — and why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22960" y="2233623"/>
          <a:ext cx="16611600" cy="7024677"/>
        </p:xfrm>
        <a:graphic>
          <a:graphicData uri="http://schemas.openxmlformats.org/drawingml/2006/table">
            <a:tbl>
              <a:tblPr/>
              <a:tblGrid>
                <a:gridCol w="5203971"/>
                <a:gridCol w="9695504"/>
                <a:gridCol w="1712125"/>
              </a:tblGrid>
              <a:tr h="12514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7A7A6E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ENDPOINT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7A7A6E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WHAT IT DOES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C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9"/>
                        </a:lnSpc>
                        <a:defRPr/>
                      </a:pPr>
                      <a:r>
                        <a:rPr lang="en-US" b="true" sz="1700">
                          <a:solidFill>
                            <a:srgbClr val="7A7A6E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ROUTER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3CC"/>
                    </a:solidFill>
                  </a:tcPr>
                </a:tc>
              </a:tr>
              <a:tr h="824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5F7A4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POST /datasets/upload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Multipart CSV upload; inserts points, optionally embeds them.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datasets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824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5F7A4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POST /sessions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Create a session over a dataset (no clustering yet).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</a:tr>
              <a:tr h="824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5F7A4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POST /clusters/{id}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Initial k-means -&gt; writes turn 0. Returns 409 if clusters exist.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824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5F7A4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POST /turns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One oracle turn; runs the full engine in a single transaction.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turns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</a:tr>
              <a:tr h="824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5F7A4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GET /sessions/{id}/state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Resolved view: clusters + feedback + preference summary.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824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5F7A4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POST /sessions/{id}/eval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Seven-judge pipeline (A1-A3, B1-B4); result is cached.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sessions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EE8"/>
                    </a:solidFill>
                  </a:tcPr>
                </a:tc>
              </a:tr>
              <a:tr h="824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5F7A4A"/>
                          </a:solidFill>
                          <a:latin typeface="Nunito Bold"/>
                          <a:ea typeface="Nunito Bold"/>
                          <a:cs typeface="Nunito Bold"/>
                          <a:sym typeface="Nunito Bold"/>
                        </a:rPr>
                        <a:t>GET /sessions/{id}/umap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2-D UMAP projection; served Cache-Control: no-store.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2F2F2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umap</a:t>
                      </a:r>
                      <a:endParaRPr lang="en-US" sz="1100"/>
                    </a:p>
                  </a:txBody>
                  <a:tcPr marL="54862" marR="54862" marT="54862" marB="5486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914381" y="667493"/>
            <a:ext cx="80467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7A7A6E"/>
                </a:solidFill>
                <a:latin typeface="Nunito"/>
                <a:ea typeface="Nunito"/>
                <a:cs typeface="Nunito"/>
                <a:sym typeface="Nunito"/>
              </a:rPr>
              <a:t>C — API INTERFACE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1059" y="9581255"/>
            <a:ext cx="68637" cy="301990"/>
            <a:chOff x="0" y="0"/>
            <a:chExt cx="91516" cy="4026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567" cy="402590"/>
            </a:xfrm>
            <a:custGeom>
              <a:avLst/>
              <a:gdLst/>
              <a:ahLst/>
              <a:cxnLst/>
              <a:rect r="r" b="b" t="t" l="l"/>
              <a:pathLst>
                <a:path h="402590" w="91567">
                  <a:moveTo>
                    <a:pt x="0" y="0"/>
                  </a:moveTo>
                  <a:lnTo>
                    <a:pt x="91567" y="0"/>
                  </a:lnTo>
                  <a:lnTo>
                    <a:pt x="91567" y="402590"/>
                  </a:lnTo>
                  <a:lnTo>
                    <a:pt x="0" y="402590"/>
                  </a:lnTo>
                  <a:close/>
                </a:path>
              </a:pathLst>
            </a:custGeom>
            <a:solidFill>
              <a:srgbClr val="5E734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54005" y="9677343"/>
            <a:ext cx="68637" cy="205902"/>
            <a:chOff x="0" y="0"/>
            <a:chExt cx="91516" cy="2745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567" cy="274574"/>
            </a:xfrm>
            <a:custGeom>
              <a:avLst/>
              <a:gdLst/>
              <a:ahLst/>
              <a:cxnLst/>
              <a:rect r="r" b="b" t="t" l="l"/>
              <a:pathLst>
                <a:path h="274574" w="91567">
                  <a:moveTo>
                    <a:pt x="0" y="0"/>
                  </a:moveTo>
                  <a:lnTo>
                    <a:pt x="91567" y="0"/>
                  </a:lnTo>
                  <a:lnTo>
                    <a:pt x="91567" y="274574"/>
                  </a:lnTo>
                  <a:lnTo>
                    <a:pt x="0" y="274574"/>
                  </a:lnTo>
                  <a:close/>
                </a:path>
              </a:pathLst>
            </a:custGeom>
            <a:solidFill>
              <a:srgbClr val="7F956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6961" y="9759706"/>
            <a:ext cx="68637" cy="123539"/>
            <a:chOff x="0" y="0"/>
            <a:chExt cx="91516" cy="1647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567" cy="164719"/>
            </a:xfrm>
            <a:custGeom>
              <a:avLst/>
              <a:gdLst/>
              <a:ahLst/>
              <a:cxnLst/>
              <a:rect r="r" b="b" t="t" l="l"/>
              <a:pathLst>
                <a:path h="164719" w="91567">
                  <a:moveTo>
                    <a:pt x="0" y="0"/>
                  </a:moveTo>
                  <a:lnTo>
                    <a:pt x="91567" y="0"/>
                  </a:lnTo>
                  <a:lnTo>
                    <a:pt x="91567" y="164719"/>
                  </a:lnTo>
                  <a:lnTo>
                    <a:pt x="0" y="164719"/>
                  </a:lnTo>
                  <a:close/>
                </a:path>
              </a:pathLst>
            </a:custGeom>
            <a:solidFill>
              <a:srgbClr val="B8CCA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5402" y="9567529"/>
            <a:ext cx="4118019" cy="356892"/>
            <a:chOff x="0" y="0"/>
            <a:chExt cx="5490693" cy="475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90690" cy="475860"/>
            </a:xfrm>
            <a:custGeom>
              <a:avLst/>
              <a:gdLst/>
              <a:ahLst/>
              <a:cxnLst/>
              <a:rect r="r" b="b" t="t" l="l"/>
              <a:pathLst>
                <a:path h="475860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49069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8C8C86"/>
                  </a:solidFill>
                  <a:latin typeface="Nunito"/>
                  <a:ea typeface="Nunito"/>
                  <a:cs typeface="Nunito"/>
                  <a:sym typeface="Nunito"/>
                </a:rPr>
                <a:t>BlaBlaClust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DAHLlz9Obuk</dc:identifier>
  <dcterms:modified xsi:type="dcterms:W3CDTF">2011-08-01T06:04:30Z</dcterms:modified>
  <cp:revision>1</cp:revision>
  <dc:title>progetto DLSAIS.pptx</dc:title>
</cp:coreProperties>
</file>