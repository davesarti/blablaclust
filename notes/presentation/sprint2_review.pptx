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1: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63" name="Google Shape;63;p1: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2: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83" name="Google Shape;83;p2: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3: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41" name="Google Shape;141;p3: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4: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91" name="Google Shape;191;p4: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5: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46" name="Google Shape;246;p5: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6: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01" name="Google Shape;301;p6: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7: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35" name="Google Shape;335;p7: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8: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8: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73" name="Google Shape;373;p8: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9: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407" name="Google Shape;407;p9: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10: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440" name="Google Shape;440;p10: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lang="en-US" sz="1800" strike="noStrike">
                <a:solidFill>
                  <a:srgbClr val="000000"/>
                </a:solidFill>
                <a:latin typeface="Arial"/>
                <a:ea typeface="Arial"/>
                <a:cs typeface="Arial"/>
                <a:sym typeface="Arial"/>
              </a:rPr>
              <a:t>‹#›</a:t>
            </a:fld>
            <a:endParaRPr b="0" sz="18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 name="Shape 16"/>
        <p:cNvGrpSpPr/>
        <p:nvPr/>
      </p:nvGrpSpPr>
      <p:grpSpPr>
        <a:xfrm>
          <a:off x="0" y="0"/>
          <a:ext cx="0" cy="0"/>
          <a:chOff x="0" y="0"/>
          <a:chExt cx="0" cy="0"/>
        </a:xfrm>
      </p:grpSpPr>
      <p:sp>
        <p:nvSpPr>
          <p:cNvPr id="17" name="Google Shape;17;p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 name="Shape 19"/>
        <p:cNvGrpSpPr/>
        <p:nvPr/>
      </p:nvGrpSpPr>
      <p:grpSpPr>
        <a:xfrm>
          <a:off x="0" y="0"/>
          <a:ext cx="0" cy="0"/>
          <a:chOff x="0" y="0"/>
          <a:chExt cx="0" cy="0"/>
        </a:xfrm>
      </p:grpSpPr>
      <p:sp>
        <p:nvSpPr>
          <p:cNvPr id="20" name="Google Shape;20;p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7"/>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9"/>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1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0"/>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1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1"/>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1"/>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1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1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3"/>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3"/>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3"/>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4" name="Shape 64"/>
        <p:cNvGrpSpPr/>
        <p:nvPr/>
      </p:nvGrpSpPr>
      <p:grpSpPr>
        <a:xfrm>
          <a:off x="0" y="0"/>
          <a:ext cx="0" cy="0"/>
          <a:chOff x="0" y="0"/>
          <a:chExt cx="0" cy="0"/>
        </a:xfrm>
      </p:grpSpPr>
      <p:sp>
        <p:nvSpPr>
          <p:cNvPr id="65" name="Google Shape;65;p14"/>
          <p:cNvSpPr/>
          <p:nvPr/>
        </p:nvSpPr>
        <p:spPr>
          <a:xfrm>
            <a:off x="9326880" y="1125658"/>
            <a:ext cx="1644900" cy="16449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14"/>
          <p:cNvSpPr/>
          <p:nvPr/>
        </p:nvSpPr>
        <p:spPr>
          <a:xfrm>
            <a:off x="10424160" y="1857178"/>
            <a:ext cx="1004700" cy="1004700"/>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14"/>
          <p:cNvSpPr/>
          <p:nvPr/>
        </p:nvSpPr>
        <p:spPr>
          <a:xfrm>
            <a:off x="9601200" y="2405818"/>
            <a:ext cx="639000" cy="639000"/>
          </a:xfrm>
          <a:prstGeom prst="ellipse">
            <a:avLst/>
          </a:prstGeom>
          <a:solidFill>
            <a:srgbClr val="CADCFC">
              <a:alpha val="70196"/>
            </a:srgbClr>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14"/>
          <p:cNvSpPr/>
          <p:nvPr/>
        </p:nvSpPr>
        <p:spPr>
          <a:xfrm>
            <a:off x="10881360" y="2954458"/>
            <a:ext cx="1279200" cy="1279200"/>
          </a:xfrm>
          <a:prstGeom prst="ellipse">
            <a:avLst/>
          </a:prstGeom>
          <a:solidFill>
            <a:srgbClr val="C9A961">
              <a:alpha val="60000"/>
            </a:srgbClr>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14"/>
          <p:cNvSpPr/>
          <p:nvPr/>
        </p:nvSpPr>
        <p:spPr>
          <a:xfrm>
            <a:off x="9875520" y="3685978"/>
            <a:ext cx="822000" cy="822000"/>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14"/>
          <p:cNvSpPr/>
          <p:nvPr/>
        </p:nvSpPr>
        <p:spPr>
          <a:xfrm>
            <a:off x="11064240" y="4297680"/>
            <a:ext cx="547560" cy="54756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14"/>
          <p:cNvSpPr/>
          <p:nvPr/>
        </p:nvSpPr>
        <p:spPr>
          <a:xfrm>
            <a:off x="9418320" y="4846320"/>
            <a:ext cx="1004760" cy="1004760"/>
          </a:xfrm>
          <a:prstGeom prst="ellipse">
            <a:avLst/>
          </a:prstGeom>
          <a:solidFill>
            <a:srgbClr val="CADCFC">
              <a:alpha val="50196"/>
            </a:srgbClr>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14"/>
          <p:cNvSpPr/>
          <p:nvPr/>
        </p:nvSpPr>
        <p:spPr>
          <a:xfrm>
            <a:off x="10515600" y="5394960"/>
            <a:ext cx="730440" cy="730440"/>
          </a:xfrm>
          <a:prstGeom prst="ellipse">
            <a:avLst/>
          </a:prstGeom>
          <a:solidFill>
            <a:srgbClr val="C9A961">
              <a:alpha val="80000"/>
            </a:srgbClr>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14"/>
          <p:cNvSpPr/>
          <p:nvPr/>
        </p:nvSpPr>
        <p:spPr>
          <a:xfrm>
            <a:off x="822960" y="2361674"/>
            <a:ext cx="227400" cy="447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14"/>
          <p:cNvSpPr/>
          <p:nvPr/>
        </p:nvSpPr>
        <p:spPr>
          <a:xfrm>
            <a:off x="1143000" y="2159876"/>
            <a:ext cx="548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200"/>
              <a:buFont typeface="Calibri"/>
              <a:buNone/>
            </a:pPr>
            <a:r>
              <a:rPr b="1" lang="en-US" sz="1200" strike="noStrike">
                <a:solidFill>
                  <a:srgbClr val="C9A961"/>
                </a:solidFill>
                <a:latin typeface="Calibri"/>
                <a:ea typeface="Calibri"/>
                <a:cs typeface="Calibri"/>
                <a:sym typeface="Calibri"/>
              </a:rPr>
              <a:t>SPRINT 2 REVIEW</a:t>
            </a:r>
            <a:endParaRPr b="0" sz="1200" strike="noStrike">
              <a:solidFill>
                <a:schemeClr val="dk1"/>
              </a:solidFill>
              <a:latin typeface="Arial"/>
              <a:ea typeface="Arial"/>
              <a:cs typeface="Arial"/>
              <a:sym typeface="Arial"/>
            </a:endParaRPr>
          </a:p>
        </p:txBody>
      </p:sp>
      <p:sp>
        <p:nvSpPr>
          <p:cNvPr id="75" name="Google Shape;75;p14"/>
          <p:cNvSpPr/>
          <p:nvPr/>
        </p:nvSpPr>
        <p:spPr>
          <a:xfrm>
            <a:off x="822950" y="2320670"/>
            <a:ext cx="6602700" cy="156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6400"/>
              <a:buFont typeface="Georgia"/>
              <a:buNone/>
            </a:pPr>
            <a:r>
              <a:rPr b="1" lang="en-US" sz="7300">
                <a:solidFill>
                  <a:srgbClr val="FFFFFF"/>
                </a:solidFill>
                <a:latin typeface="Georgia"/>
                <a:ea typeface="Georgia"/>
                <a:cs typeface="Georgia"/>
                <a:sym typeface="Georgia"/>
              </a:rPr>
              <a:t>BlaBla</a:t>
            </a:r>
            <a:r>
              <a:rPr b="1" lang="en-US" sz="7300">
                <a:solidFill>
                  <a:srgbClr val="CADCFC"/>
                </a:solidFill>
                <a:latin typeface="Georgia"/>
                <a:ea typeface="Georgia"/>
                <a:cs typeface="Georgia"/>
                <a:sym typeface="Georgia"/>
              </a:rPr>
              <a:t>Clust</a:t>
            </a:r>
            <a:endParaRPr b="0" sz="7300" strike="noStrike">
              <a:solidFill>
                <a:schemeClr val="dk1"/>
              </a:solidFill>
              <a:latin typeface="Arial"/>
              <a:ea typeface="Arial"/>
              <a:cs typeface="Arial"/>
              <a:sym typeface="Arial"/>
            </a:endParaRPr>
          </a:p>
        </p:txBody>
      </p:sp>
      <p:sp>
        <p:nvSpPr>
          <p:cNvPr id="76" name="Google Shape;76;p14"/>
          <p:cNvSpPr/>
          <p:nvPr/>
        </p:nvSpPr>
        <p:spPr>
          <a:xfrm>
            <a:off x="822960" y="3588232"/>
            <a:ext cx="8228400" cy="91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600"/>
              <a:buFont typeface="Calibri"/>
              <a:buNone/>
            </a:pPr>
            <a:r>
              <a:rPr b="0" lang="en-US" sz="1600" strike="noStrike">
                <a:solidFill>
                  <a:srgbClr val="CADCFC"/>
                </a:solidFill>
                <a:latin typeface="Calibri"/>
                <a:ea typeface="Calibri"/>
                <a:cs typeface="Calibri"/>
                <a:sym typeface="Calibri"/>
              </a:rPr>
              <a:t>An iterative AI system that clusters text through dialogue with an oracle — no ground truth, just understanding.</a:t>
            </a:r>
            <a:endParaRPr b="0" sz="1600" strike="noStrike">
              <a:solidFill>
                <a:schemeClr val="dk1"/>
              </a:solidFill>
              <a:latin typeface="Arial"/>
              <a:ea typeface="Arial"/>
              <a:cs typeface="Arial"/>
              <a:sym typeface="Arial"/>
            </a:endParaRPr>
          </a:p>
        </p:txBody>
      </p:sp>
      <p:cxnSp>
        <p:nvCxnSpPr>
          <p:cNvPr id="77" name="Google Shape;77;p14"/>
          <p:cNvCxnSpPr/>
          <p:nvPr/>
        </p:nvCxnSpPr>
        <p:spPr>
          <a:xfrm>
            <a:off x="822960" y="5760720"/>
            <a:ext cx="3657600" cy="360"/>
          </a:xfrm>
          <a:prstGeom prst="straightConnector1">
            <a:avLst/>
          </a:prstGeom>
          <a:noFill/>
          <a:ln cap="flat" cmpd="sng" w="19050">
            <a:solidFill>
              <a:srgbClr val="C9A961"/>
            </a:solidFill>
            <a:prstDash val="solid"/>
            <a:round/>
            <a:headEnd len="sm" w="sm" type="none"/>
            <a:tailEnd len="sm" w="sm" type="none"/>
          </a:ln>
        </p:spPr>
      </p:cxnSp>
      <p:sp>
        <p:nvSpPr>
          <p:cNvPr id="78" name="Google Shape;78;p14"/>
          <p:cNvSpPr/>
          <p:nvPr/>
        </p:nvSpPr>
        <p:spPr>
          <a:xfrm>
            <a:off x="822960" y="5897880"/>
            <a:ext cx="1005732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lang="en-US" sz="1400" strike="noStrike">
                <a:solidFill>
                  <a:srgbClr val="FFFFFF"/>
                </a:solidFill>
                <a:latin typeface="Calibri"/>
                <a:ea typeface="Calibri"/>
                <a:cs typeface="Calibri"/>
                <a:sym typeface="Calibri"/>
              </a:rPr>
              <a:t>Group of 5</a:t>
            </a:r>
            <a:r>
              <a:rPr b="0" lang="en-US" sz="1400" strike="noStrike">
                <a:solidFill>
                  <a:srgbClr val="6A6F8C"/>
                </a:solidFill>
                <a:latin typeface="Calibri"/>
                <a:ea typeface="Calibri"/>
                <a:cs typeface="Calibri"/>
                <a:sym typeface="Calibri"/>
              </a:rPr>
              <a:t>   ·   </a:t>
            </a:r>
            <a:r>
              <a:rPr b="0" lang="en-US" sz="1300" strike="noStrike">
                <a:solidFill>
                  <a:srgbClr val="CADCFC"/>
                </a:solidFill>
                <a:latin typeface="Calibri"/>
                <a:ea typeface="Calibri"/>
                <a:cs typeface="Calibri"/>
                <a:sym typeface="Calibri"/>
              </a:rPr>
              <a:t>Davide Sarti · Thomas Ottonello · Matteo Pareto · Nilo Netti · Arianna Schiavi</a:t>
            </a:r>
            <a:endParaRPr b="0" sz="1300" strike="noStrike">
              <a:solidFill>
                <a:schemeClr val="dk1"/>
              </a:solidFill>
              <a:latin typeface="Arial"/>
              <a:ea typeface="Arial"/>
              <a:cs typeface="Arial"/>
              <a:sym typeface="Arial"/>
            </a:endParaRPr>
          </a:p>
        </p:txBody>
      </p:sp>
      <p:sp>
        <p:nvSpPr>
          <p:cNvPr id="79" name="Google Shape;79;p14"/>
          <p:cNvSpPr/>
          <p:nvPr/>
        </p:nvSpPr>
        <p:spPr>
          <a:xfrm>
            <a:off x="822960" y="6263640"/>
            <a:ext cx="100573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0" lang="en-US" sz="1100" strike="noStrike">
                <a:solidFill>
                  <a:srgbClr val="C9A961"/>
                </a:solidFill>
                <a:latin typeface="Calibri"/>
                <a:ea typeface="Calibri"/>
                <a:cs typeface="Calibri"/>
                <a:sym typeface="Calibri"/>
              </a:rPr>
              <a:t>May 2026</a:t>
            </a:r>
            <a:endParaRPr b="0" sz="1100"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5"/>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86" name="Google Shape;86;p15"/>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87" name="Google Shape;87;p15"/>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Five vertical layers, five owners</a:t>
            </a:r>
            <a:endParaRPr b="0" sz="2600" strike="noStrike">
              <a:solidFill>
                <a:schemeClr val="dk1"/>
              </a:solidFill>
              <a:latin typeface="Arial"/>
              <a:ea typeface="Arial"/>
              <a:cs typeface="Arial"/>
              <a:sym typeface="Arial"/>
            </a:endParaRPr>
          </a:p>
        </p:txBody>
      </p:sp>
      <p:sp>
        <p:nvSpPr>
          <p:cNvPr id="88" name="Google Shape;88;p15"/>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STEP 1 OF 10</a:t>
            </a:r>
            <a:endParaRPr b="0" sz="900" strike="noStrike">
              <a:solidFill>
                <a:schemeClr val="dk1"/>
              </a:solidFill>
              <a:latin typeface="Arial"/>
              <a:ea typeface="Arial"/>
              <a:cs typeface="Arial"/>
              <a:sym typeface="Arial"/>
            </a:endParaRPr>
          </a:p>
        </p:txBody>
      </p:sp>
      <p:cxnSp>
        <p:nvCxnSpPr>
          <p:cNvPr id="89" name="Google Shape;89;p15"/>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90" name="Google Shape;90;p15"/>
          <p:cNvSpPr/>
          <p:nvPr/>
        </p:nvSpPr>
        <p:spPr>
          <a:xfrm>
            <a:off x="457200" y="1280160"/>
            <a:ext cx="11246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Each person owns one independent vertical layer. Integration happens through shared JSON schemas. Rule of thumb: nobody touches another's code — conflicts are resolved by changing the shared schemas, not the code.</a:t>
            </a:r>
            <a:endParaRPr b="0" sz="1200" strike="noStrike">
              <a:solidFill>
                <a:schemeClr val="dk1"/>
              </a:solidFill>
              <a:latin typeface="Arial"/>
              <a:ea typeface="Arial"/>
              <a:cs typeface="Arial"/>
              <a:sym typeface="Arial"/>
            </a:endParaRPr>
          </a:p>
        </p:txBody>
      </p:sp>
      <p:sp>
        <p:nvSpPr>
          <p:cNvPr id="91" name="Google Shape;91;p15"/>
          <p:cNvSpPr/>
          <p:nvPr/>
        </p:nvSpPr>
        <p:spPr>
          <a:xfrm>
            <a:off x="457200" y="2057400"/>
            <a:ext cx="2193480" cy="4113720"/>
          </a:xfrm>
          <a:prstGeom prst="rect">
            <a:avLst/>
          </a:prstGeom>
          <a:solidFill>
            <a:srgbClr val="FFFFFF"/>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15"/>
          <p:cNvSpPr/>
          <p:nvPr/>
        </p:nvSpPr>
        <p:spPr>
          <a:xfrm>
            <a:off x="457200" y="2057400"/>
            <a:ext cx="2193480" cy="13248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15"/>
          <p:cNvSpPr/>
          <p:nvPr/>
        </p:nvSpPr>
        <p:spPr>
          <a:xfrm>
            <a:off x="1188720" y="2286000"/>
            <a:ext cx="730440" cy="730440"/>
          </a:xfrm>
          <a:prstGeom prst="ellipse">
            <a:avLst/>
          </a:prstGeom>
          <a:solidFill>
            <a:srgbClr val="16204E"/>
          </a:solidFill>
          <a:ln cap="flat" cmpd="sng" w="1905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94" name="Google Shape;94;p15"/>
          <p:cNvPicPr preferRelativeResize="0"/>
          <p:nvPr/>
        </p:nvPicPr>
        <p:blipFill rotWithShape="1">
          <a:blip r:embed="rId4">
            <a:alphaModFix/>
          </a:blip>
          <a:srcRect b="0" l="0" r="0" t="0"/>
          <a:stretch/>
        </p:blipFill>
        <p:spPr>
          <a:xfrm>
            <a:off x="1362600" y="2477880"/>
            <a:ext cx="383040" cy="383040"/>
          </a:xfrm>
          <a:prstGeom prst="rect">
            <a:avLst/>
          </a:prstGeom>
          <a:noFill/>
          <a:ln>
            <a:noFill/>
          </a:ln>
        </p:spPr>
      </p:pic>
      <p:sp>
        <p:nvSpPr>
          <p:cNvPr id="95" name="Google Shape;95;p15"/>
          <p:cNvSpPr/>
          <p:nvPr/>
        </p:nvSpPr>
        <p:spPr>
          <a:xfrm>
            <a:off x="457200" y="3063240"/>
            <a:ext cx="219348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P1</a:t>
            </a:r>
            <a:endParaRPr b="0" sz="1100" strike="noStrike">
              <a:solidFill>
                <a:schemeClr val="dk1"/>
              </a:solidFill>
              <a:latin typeface="Arial"/>
              <a:ea typeface="Arial"/>
              <a:cs typeface="Arial"/>
              <a:sym typeface="Arial"/>
            </a:endParaRPr>
          </a:p>
        </p:txBody>
      </p:sp>
      <p:sp>
        <p:nvSpPr>
          <p:cNvPr id="96" name="Google Shape;96;p15"/>
          <p:cNvSpPr/>
          <p:nvPr/>
        </p:nvSpPr>
        <p:spPr>
          <a:xfrm>
            <a:off x="457200" y="3429000"/>
            <a:ext cx="2193480" cy="410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200"/>
              <a:buFont typeface="Georgia"/>
              <a:buNone/>
            </a:pPr>
            <a:r>
              <a:rPr b="1" lang="en-US" sz="2200" strike="noStrike">
                <a:solidFill>
                  <a:srgbClr val="1E2761"/>
                </a:solidFill>
                <a:latin typeface="Georgia"/>
                <a:ea typeface="Georgia"/>
                <a:cs typeface="Georgia"/>
                <a:sym typeface="Georgia"/>
              </a:rPr>
              <a:t>Davide</a:t>
            </a:r>
            <a:endParaRPr b="0" sz="2200" strike="noStrike">
              <a:solidFill>
                <a:schemeClr val="dk1"/>
              </a:solidFill>
              <a:latin typeface="Arial"/>
              <a:ea typeface="Arial"/>
              <a:cs typeface="Arial"/>
              <a:sym typeface="Arial"/>
            </a:endParaRPr>
          </a:p>
        </p:txBody>
      </p:sp>
      <p:sp>
        <p:nvSpPr>
          <p:cNvPr id="97" name="Google Shape;97;p15"/>
          <p:cNvSpPr/>
          <p:nvPr/>
        </p:nvSpPr>
        <p:spPr>
          <a:xfrm>
            <a:off x="594360" y="3886200"/>
            <a:ext cx="19191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Infrastructure &amp; DB</a:t>
            </a:r>
            <a:endParaRPr b="0" sz="1200" strike="noStrike">
              <a:solidFill>
                <a:schemeClr val="dk1"/>
              </a:solidFill>
              <a:latin typeface="Arial"/>
              <a:ea typeface="Arial"/>
              <a:cs typeface="Arial"/>
              <a:sym typeface="Arial"/>
            </a:endParaRPr>
          </a:p>
        </p:txBody>
      </p:sp>
      <p:cxnSp>
        <p:nvCxnSpPr>
          <p:cNvPr id="98" name="Google Shape;98;p15"/>
          <p:cNvCxnSpPr/>
          <p:nvPr/>
        </p:nvCxnSpPr>
        <p:spPr>
          <a:xfrm>
            <a:off x="1280160" y="4389120"/>
            <a:ext cx="548640" cy="360"/>
          </a:xfrm>
          <a:prstGeom prst="straightConnector1">
            <a:avLst/>
          </a:prstGeom>
          <a:noFill/>
          <a:ln cap="flat" cmpd="sng" w="19050">
            <a:solidFill>
              <a:srgbClr val="C9A961"/>
            </a:solidFill>
            <a:prstDash val="solid"/>
            <a:round/>
            <a:headEnd len="sm" w="sm" type="none"/>
            <a:tailEnd len="sm" w="sm" type="none"/>
          </a:ln>
        </p:spPr>
      </p:cxnSp>
      <p:sp>
        <p:nvSpPr>
          <p:cNvPr id="99" name="Google Shape;99;p15"/>
          <p:cNvSpPr/>
          <p:nvPr/>
        </p:nvSpPr>
        <p:spPr>
          <a:xfrm>
            <a:off x="640080" y="4526280"/>
            <a:ext cx="1827720" cy="150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100"/>
              <a:buFont typeface="Calibri"/>
              <a:buNone/>
            </a:pPr>
            <a:r>
              <a:rPr b="0" lang="en-US" sz="1100" strike="noStrike">
                <a:solidFill>
                  <a:srgbClr val="6A6F8C"/>
                </a:solidFill>
                <a:latin typeface="Calibri"/>
                <a:ea typeface="Calibri"/>
                <a:cs typeface="Calibri"/>
                <a:sym typeface="Calibri"/>
              </a:rPr>
              <a:t>FastAPI app, SQLAlchemy models, Alembic migrations, CRUD layer, shared Pydantic schemas.</a:t>
            </a:r>
            <a:endParaRPr b="0" sz="1100" strike="noStrike">
              <a:solidFill>
                <a:schemeClr val="dk1"/>
              </a:solidFill>
              <a:latin typeface="Arial"/>
              <a:ea typeface="Arial"/>
              <a:cs typeface="Arial"/>
              <a:sym typeface="Arial"/>
            </a:endParaRPr>
          </a:p>
        </p:txBody>
      </p:sp>
      <p:sp>
        <p:nvSpPr>
          <p:cNvPr id="100" name="Google Shape;100;p15"/>
          <p:cNvSpPr/>
          <p:nvPr/>
        </p:nvSpPr>
        <p:spPr>
          <a:xfrm>
            <a:off x="2743200" y="2057400"/>
            <a:ext cx="2193480" cy="4113720"/>
          </a:xfrm>
          <a:prstGeom prst="rect">
            <a:avLst/>
          </a:prstGeom>
          <a:solidFill>
            <a:srgbClr val="FFFFFF"/>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15"/>
          <p:cNvSpPr/>
          <p:nvPr/>
        </p:nvSpPr>
        <p:spPr>
          <a:xfrm>
            <a:off x="2743200" y="2057400"/>
            <a:ext cx="2193480" cy="13248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15"/>
          <p:cNvSpPr/>
          <p:nvPr/>
        </p:nvSpPr>
        <p:spPr>
          <a:xfrm>
            <a:off x="3474720" y="2286000"/>
            <a:ext cx="730440" cy="730440"/>
          </a:xfrm>
          <a:prstGeom prst="ellipse">
            <a:avLst/>
          </a:prstGeom>
          <a:solidFill>
            <a:srgbClr val="16204E"/>
          </a:solidFill>
          <a:ln cap="flat" cmpd="sng" w="1905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03" name="Google Shape;103;p15"/>
          <p:cNvPicPr preferRelativeResize="0"/>
          <p:nvPr/>
        </p:nvPicPr>
        <p:blipFill rotWithShape="1">
          <a:blip r:embed="rId5">
            <a:alphaModFix/>
          </a:blip>
          <a:srcRect b="0" l="0" r="0" t="0"/>
          <a:stretch/>
        </p:blipFill>
        <p:spPr>
          <a:xfrm>
            <a:off x="3648600" y="2477880"/>
            <a:ext cx="383040" cy="383040"/>
          </a:xfrm>
          <a:prstGeom prst="rect">
            <a:avLst/>
          </a:prstGeom>
          <a:noFill/>
          <a:ln>
            <a:noFill/>
          </a:ln>
        </p:spPr>
      </p:pic>
      <p:sp>
        <p:nvSpPr>
          <p:cNvPr id="104" name="Google Shape;104;p15"/>
          <p:cNvSpPr/>
          <p:nvPr/>
        </p:nvSpPr>
        <p:spPr>
          <a:xfrm>
            <a:off x="2743200" y="3063240"/>
            <a:ext cx="219348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P2</a:t>
            </a:r>
            <a:endParaRPr b="0" sz="1100" strike="noStrike">
              <a:solidFill>
                <a:schemeClr val="dk1"/>
              </a:solidFill>
              <a:latin typeface="Arial"/>
              <a:ea typeface="Arial"/>
              <a:cs typeface="Arial"/>
              <a:sym typeface="Arial"/>
            </a:endParaRPr>
          </a:p>
        </p:txBody>
      </p:sp>
      <p:sp>
        <p:nvSpPr>
          <p:cNvPr id="105" name="Google Shape;105;p15"/>
          <p:cNvSpPr/>
          <p:nvPr/>
        </p:nvSpPr>
        <p:spPr>
          <a:xfrm>
            <a:off x="2743200" y="3429000"/>
            <a:ext cx="2193480" cy="410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200"/>
              <a:buFont typeface="Georgia"/>
              <a:buNone/>
            </a:pPr>
            <a:r>
              <a:rPr b="1" lang="en-US" sz="2200" strike="noStrike">
                <a:solidFill>
                  <a:srgbClr val="1E2761"/>
                </a:solidFill>
                <a:latin typeface="Georgia"/>
                <a:ea typeface="Georgia"/>
                <a:cs typeface="Georgia"/>
                <a:sym typeface="Georgia"/>
              </a:rPr>
              <a:t>Thomas</a:t>
            </a:r>
            <a:endParaRPr b="0" sz="2200" strike="noStrike">
              <a:solidFill>
                <a:schemeClr val="dk1"/>
              </a:solidFill>
              <a:latin typeface="Arial"/>
              <a:ea typeface="Arial"/>
              <a:cs typeface="Arial"/>
              <a:sym typeface="Arial"/>
            </a:endParaRPr>
          </a:p>
        </p:txBody>
      </p:sp>
      <p:sp>
        <p:nvSpPr>
          <p:cNvPr id="106" name="Google Shape;106;p15"/>
          <p:cNvSpPr/>
          <p:nvPr/>
        </p:nvSpPr>
        <p:spPr>
          <a:xfrm>
            <a:off x="2880360" y="3886200"/>
            <a:ext cx="19191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Data &amp; Embeddings</a:t>
            </a:r>
            <a:endParaRPr b="0" sz="1200" strike="noStrike">
              <a:solidFill>
                <a:schemeClr val="dk1"/>
              </a:solidFill>
              <a:latin typeface="Arial"/>
              <a:ea typeface="Arial"/>
              <a:cs typeface="Arial"/>
              <a:sym typeface="Arial"/>
            </a:endParaRPr>
          </a:p>
        </p:txBody>
      </p:sp>
      <p:cxnSp>
        <p:nvCxnSpPr>
          <p:cNvPr id="107" name="Google Shape;107;p15"/>
          <p:cNvCxnSpPr/>
          <p:nvPr/>
        </p:nvCxnSpPr>
        <p:spPr>
          <a:xfrm>
            <a:off x="3566160" y="4389120"/>
            <a:ext cx="548640" cy="360"/>
          </a:xfrm>
          <a:prstGeom prst="straightConnector1">
            <a:avLst/>
          </a:prstGeom>
          <a:noFill/>
          <a:ln cap="flat" cmpd="sng" w="19050">
            <a:solidFill>
              <a:srgbClr val="C9A961"/>
            </a:solidFill>
            <a:prstDash val="solid"/>
            <a:round/>
            <a:headEnd len="sm" w="sm" type="none"/>
            <a:tailEnd len="sm" w="sm" type="none"/>
          </a:ln>
        </p:spPr>
      </p:cxnSp>
      <p:sp>
        <p:nvSpPr>
          <p:cNvPr id="108" name="Google Shape;108;p15"/>
          <p:cNvSpPr/>
          <p:nvPr/>
        </p:nvSpPr>
        <p:spPr>
          <a:xfrm>
            <a:off x="2926080" y="4526280"/>
            <a:ext cx="1827720" cy="150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100"/>
              <a:buFont typeface="Calibri"/>
              <a:buNone/>
            </a:pPr>
            <a:r>
              <a:rPr b="0" lang="en-US" sz="1100" strike="noStrike">
                <a:solidFill>
                  <a:srgbClr val="6A6F8C"/>
                </a:solidFill>
                <a:latin typeface="Calibri"/>
                <a:ea typeface="Calibri"/>
                <a:cs typeface="Calibri"/>
                <a:sym typeface="Calibri"/>
              </a:rPr>
              <a:t>Dataset ingestion, sentence-transformers, k-means &amp; HDBSCAN, LLM-generated cluster names.</a:t>
            </a:r>
            <a:endParaRPr b="0" sz="1100" strike="noStrike">
              <a:solidFill>
                <a:schemeClr val="dk1"/>
              </a:solidFill>
              <a:latin typeface="Arial"/>
              <a:ea typeface="Arial"/>
              <a:cs typeface="Arial"/>
              <a:sym typeface="Arial"/>
            </a:endParaRPr>
          </a:p>
        </p:txBody>
      </p:sp>
      <p:sp>
        <p:nvSpPr>
          <p:cNvPr id="109" name="Google Shape;109;p15"/>
          <p:cNvSpPr/>
          <p:nvPr/>
        </p:nvSpPr>
        <p:spPr>
          <a:xfrm>
            <a:off x="5029200" y="2057400"/>
            <a:ext cx="2193480" cy="4113720"/>
          </a:xfrm>
          <a:prstGeom prst="rect">
            <a:avLst/>
          </a:prstGeom>
          <a:solidFill>
            <a:srgbClr val="FFFFFF"/>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15"/>
          <p:cNvSpPr/>
          <p:nvPr/>
        </p:nvSpPr>
        <p:spPr>
          <a:xfrm>
            <a:off x="5029200" y="2057400"/>
            <a:ext cx="2193480" cy="13248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15"/>
          <p:cNvSpPr/>
          <p:nvPr/>
        </p:nvSpPr>
        <p:spPr>
          <a:xfrm>
            <a:off x="5760720" y="2286000"/>
            <a:ext cx="730440" cy="730440"/>
          </a:xfrm>
          <a:prstGeom prst="ellipse">
            <a:avLst/>
          </a:prstGeom>
          <a:solidFill>
            <a:srgbClr val="16204E"/>
          </a:solidFill>
          <a:ln cap="flat" cmpd="sng" w="1905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12" name="Google Shape;112;p15"/>
          <p:cNvPicPr preferRelativeResize="0"/>
          <p:nvPr/>
        </p:nvPicPr>
        <p:blipFill rotWithShape="1">
          <a:blip r:embed="rId6">
            <a:alphaModFix/>
          </a:blip>
          <a:srcRect b="0" l="0" r="0" t="0"/>
          <a:stretch/>
        </p:blipFill>
        <p:spPr>
          <a:xfrm>
            <a:off x="5934600" y="2477880"/>
            <a:ext cx="383040" cy="383040"/>
          </a:xfrm>
          <a:prstGeom prst="rect">
            <a:avLst/>
          </a:prstGeom>
          <a:noFill/>
          <a:ln>
            <a:noFill/>
          </a:ln>
        </p:spPr>
      </p:pic>
      <p:sp>
        <p:nvSpPr>
          <p:cNvPr id="113" name="Google Shape;113;p15"/>
          <p:cNvSpPr/>
          <p:nvPr/>
        </p:nvSpPr>
        <p:spPr>
          <a:xfrm>
            <a:off x="5029200" y="3063240"/>
            <a:ext cx="219348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P3</a:t>
            </a:r>
            <a:endParaRPr b="0" sz="1100" strike="noStrike">
              <a:solidFill>
                <a:schemeClr val="dk1"/>
              </a:solidFill>
              <a:latin typeface="Arial"/>
              <a:ea typeface="Arial"/>
              <a:cs typeface="Arial"/>
              <a:sym typeface="Arial"/>
            </a:endParaRPr>
          </a:p>
        </p:txBody>
      </p:sp>
      <p:sp>
        <p:nvSpPr>
          <p:cNvPr id="114" name="Google Shape;114;p15"/>
          <p:cNvSpPr/>
          <p:nvPr/>
        </p:nvSpPr>
        <p:spPr>
          <a:xfrm>
            <a:off x="5029200" y="3429000"/>
            <a:ext cx="2193480" cy="410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200"/>
              <a:buFont typeface="Georgia"/>
              <a:buNone/>
            </a:pPr>
            <a:r>
              <a:rPr b="1" lang="en-US" sz="2200" strike="noStrike">
                <a:solidFill>
                  <a:srgbClr val="1E2761"/>
                </a:solidFill>
                <a:latin typeface="Georgia"/>
                <a:ea typeface="Georgia"/>
                <a:cs typeface="Georgia"/>
                <a:sym typeface="Georgia"/>
              </a:rPr>
              <a:t>Matteo</a:t>
            </a:r>
            <a:endParaRPr b="0" sz="2200" strike="noStrike">
              <a:solidFill>
                <a:schemeClr val="dk1"/>
              </a:solidFill>
              <a:latin typeface="Arial"/>
              <a:ea typeface="Arial"/>
              <a:cs typeface="Arial"/>
              <a:sym typeface="Arial"/>
            </a:endParaRPr>
          </a:p>
        </p:txBody>
      </p:sp>
      <p:sp>
        <p:nvSpPr>
          <p:cNvPr id="115" name="Google Shape;115;p15"/>
          <p:cNvSpPr/>
          <p:nvPr/>
        </p:nvSpPr>
        <p:spPr>
          <a:xfrm>
            <a:off x="5166360" y="3886200"/>
            <a:ext cx="19191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Core Engine (f_*)</a:t>
            </a:r>
            <a:endParaRPr b="0" sz="1200" strike="noStrike">
              <a:solidFill>
                <a:schemeClr val="dk1"/>
              </a:solidFill>
              <a:latin typeface="Arial"/>
              <a:ea typeface="Arial"/>
              <a:cs typeface="Arial"/>
              <a:sym typeface="Arial"/>
            </a:endParaRPr>
          </a:p>
        </p:txBody>
      </p:sp>
      <p:cxnSp>
        <p:nvCxnSpPr>
          <p:cNvPr id="116" name="Google Shape;116;p15"/>
          <p:cNvCxnSpPr/>
          <p:nvPr/>
        </p:nvCxnSpPr>
        <p:spPr>
          <a:xfrm>
            <a:off x="5852160" y="4389120"/>
            <a:ext cx="548640" cy="360"/>
          </a:xfrm>
          <a:prstGeom prst="straightConnector1">
            <a:avLst/>
          </a:prstGeom>
          <a:noFill/>
          <a:ln cap="flat" cmpd="sng" w="19050">
            <a:solidFill>
              <a:srgbClr val="C9A961"/>
            </a:solidFill>
            <a:prstDash val="solid"/>
            <a:round/>
            <a:headEnd len="sm" w="sm" type="none"/>
            <a:tailEnd len="sm" w="sm" type="none"/>
          </a:ln>
        </p:spPr>
      </p:cxnSp>
      <p:sp>
        <p:nvSpPr>
          <p:cNvPr id="117" name="Google Shape;117;p15"/>
          <p:cNvSpPr/>
          <p:nvPr/>
        </p:nvSpPr>
        <p:spPr>
          <a:xfrm>
            <a:off x="5212080" y="4526280"/>
            <a:ext cx="1827720" cy="150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100"/>
              <a:buFont typeface="Calibri"/>
              <a:buNone/>
            </a:pPr>
            <a:r>
              <a:rPr b="0" lang="en-US" sz="1100" strike="noStrike">
                <a:solidFill>
                  <a:srgbClr val="6A6F8C"/>
                </a:solidFill>
                <a:latin typeface="Calibri"/>
                <a:ea typeface="Calibri"/>
                <a:cs typeface="Calibri"/>
                <a:sym typeface="Calibri"/>
              </a:rPr>
              <a:t>f_output, f_uncertainty, f_next_state, f_next_best_step, f_eval — the heart of the system.</a:t>
            </a:r>
            <a:endParaRPr b="0" sz="1100" strike="noStrike">
              <a:solidFill>
                <a:schemeClr val="dk1"/>
              </a:solidFill>
              <a:latin typeface="Arial"/>
              <a:ea typeface="Arial"/>
              <a:cs typeface="Arial"/>
              <a:sym typeface="Arial"/>
            </a:endParaRPr>
          </a:p>
        </p:txBody>
      </p:sp>
      <p:sp>
        <p:nvSpPr>
          <p:cNvPr id="118" name="Google Shape;118;p15"/>
          <p:cNvSpPr/>
          <p:nvPr/>
        </p:nvSpPr>
        <p:spPr>
          <a:xfrm>
            <a:off x="7315200" y="2057400"/>
            <a:ext cx="2193480" cy="4113720"/>
          </a:xfrm>
          <a:prstGeom prst="rect">
            <a:avLst/>
          </a:prstGeom>
          <a:solidFill>
            <a:srgbClr val="FFFFFF"/>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 name="Google Shape;119;p15"/>
          <p:cNvSpPr/>
          <p:nvPr/>
        </p:nvSpPr>
        <p:spPr>
          <a:xfrm>
            <a:off x="7315200" y="2057400"/>
            <a:ext cx="2193480" cy="13248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15"/>
          <p:cNvSpPr/>
          <p:nvPr/>
        </p:nvSpPr>
        <p:spPr>
          <a:xfrm>
            <a:off x="8046720" y="2286000"/>
            <a:ext cx="730440" cy="730440"/>
          </a:xfrm>
          <a:prstGeom prst="ellipse">
            <a:avLst/>
          </a:prstGeom>
          <a:solidFill>
            <a:srgbClr val="16204E"/>
          </a:solidFill>
          <a:ln cap="flat" cmpd="sng" w="1905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21" name="Google Shape;121;p15"/>
          <p:cNvPicPr preferRelativeResize="0"/>
          <p:nvPr/>
        </p:nvPicPr>
        <p:blipFill rotWithShape="1">
          <a:blip r:embed="rId7">
            <a:alphaModFix/>
          </a:blip>
          <a:srcRect b="0" l="0" r="0" t="0"/>
          <a:stretch/>
        </p:blipFill>
        <p:spPr>
          <a:xfrm>
            <a:off x="8220600" y="2477880"/>
            <a:ext cx="383040" cy="383040"/>
          </a:xfrm>
          <a:prstGeom prst="rect">
            <a:avLst/>
          </a:prstGeom>
          <a:noFill/>
          <a:ln>
            <a:noFill/>
          </a:ln>
        </p:spPr>
      </p:pic>
      <p:sp>
        <p:nvSpPr>
          <p:cNvPr id="122" name="Google Shape;122;p15"/>
          <p:cNvSpPr/>
          <p:nvPr/>
        </p:nvSpPr>
        <p:spPr>
          <a:xfrm>
            <a:off x="7315200" y="3063240"/>
            <a:ext cx="219348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P4</a:t>
            </a:r>
            <a:endParaRPr b="0" sz="1100" strike="noStrike">
              <a:solidFill>
                <a:schemeClr val="dk1"/>
              </a:solidFill>
              <a:latin typeface="Arial"/>
              <a:ea typeface="Arial"/>
              <a:cs typeface="Arial"/>
              <a:sym typeface="Arial"/>
            </a:endParaRPr>
          </a:p>
        </p:txBody>
      </p:sp>
      <p:sp>
        <p:nvSpPr>
          <p:cNvPr id="123" name="Google Shape;123;p15"/>
          <p:cNvSpPr/>
          <p:nvPr/>
        </p:nvSpPr>
        <p:spPr>
          <a:xfrm>
            <a:off x="7315200" y="3429000"/>
            <a:ext cx="2193480" cy="410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200"/>
              <a:buFont typeface="Georgia"/>
              <a:buNone/>
            </a:pPr>
            <a:r>
              <a:rPr b="1" lang="en-US" sz="2200" strike="noStrike">
                <a:solidFill>
                  <a:srgbClr val="1E2761"/>
                </a:solidFill>
                <a:latin typeface="Georgia"/>
                <a:ea typeface="Georgia"/>
                <a:cs typeface="Georgia"/>
                <a:sym typeface="Georgia"/>
              </a:rPr>
              <a:t>Nilo</a:t>
            </a:r>
            <a:endParaRPr b="0" sz="2200" strike="noStrike">
              <a:solidFill>
                <a:schemeClr val="dk1"/>
              </a:solidFill>
              <a:latin typeface="Arial"/>
              <a:ea typeface="Arial"/>
              <a:cs typeface="Arial"/>
              <a:sym typeface="Arial"/>
            </a:endParaRPr>
          </a:p>
        </p:txBody>
      </p:sp>
      <p:sp>
        <p:nvSpPr>
          <p:cNvPr id="124" name="Google Shape;124;p15"/>
          <p:cNvSpPr/>
          <p:nvPr/>
        </p:nvSpPr>
        <p:spPr>
          <a:xfrm>
            <a:off x="7452360" y="3886200"/>
            <a:ext cx="19191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LLM &amp; Prompting</a:t>
            </a:r>
            <a:endParaRPr b="0" sz="1200" strike="noStrike">
              <a:solidFill>
                <a:schemeClr val="dk1"/>
              </a:solidFill>
              <a:latin typeface="Arial"/>
              <a:ea typeface="Arial"/>
              <a:cs typeface="Arial"/>
              <a:sym typeface="Arial"/>
            </a:endParaRPr>
          </a:p>
        </p:txBody>
      </p:sp>
      <p:cxnSp>
        <p:nvCxnSpPr>
          <p:cNvPr id="125" name="Google Shape;125;p15"/>
          <p:cNvCxnSpPr/>
          <p:nvPr/>
        </p:nvCxnSpPr>
        <p:spPr>
          <a:xfrm>
            <a:off x="8138160" y="4389120"/>
            <a:ext cx="548640" cy="360"/>
          </a:xfrm>
          <a:prstGeom prst="straightConnector1">
            <a:avLst/>
          </a:prstGeom>
          <a:noFill/>
          <a:ln cap="flat" cmpd="sng" w="19050">
            <a:solidFill>
              <a:srgbClr val="C9A961"/>
            </a:solidFill>
            <a:prstDash val="solid"/>
            <a:round/>
            <a:headEnd len="sm" w="sm" type="none"/>
            <a:tailEnd len="sm" w="sm" type="none"/>
          </a:ln>
        </p:spPr>
      </p:cxnSp>
      <p:sp>
        <p:nvSpPr>
          <p:cNvPr id="126" name="Google Shape;126;p15"/>
          <p:cNvSpPr/>
          <p:nvPr/>
        </p:nvSpPr>
        <p:spPr>
          <a:xfrm>
            <a:off x="7498080" y="4526280"/>
            <a:ext cx="1827720" cy="150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100"/>
              <a:buFont typeface="Calibri"/>
              <a:buNone/>
            </a:pPr>
            <a:r>
              <a:rPr b="0" lang="en-US" sz="1100" strike="noStrike">
                <a:solidFill>
                  <a:srgbClr val="6A6F8C"/>
                </a:solidFill>
                <a:latin typeface="Calibri"/>
                <a:ea typeface="Calibri"/>
                <a:cs typeface="Calibri"/>
                <a:sym typeface="Calibri"/>
              </a:rPr>
              <a:t>Claude API wrapper, prompt design, contradiction tracking, conversational state management.</a:t>
            </a:r>
            <a:endParaRPr b="0" sz="1100" strike="noStrike">
              <a:solidFill>
                <a:schemeClr val="dk1"/>
              </a:solidFill>
              <a:latin typeface="Arial"/>
              <a:ea typeface="Arial"/>
              <a:cs typeface="Arial"/>
              <a:sym typeface="Arial"/>
            </a:endParaRPr>
          </a:p>
        </p:txBody>
      </p:sp>
      <p:sp>
        <p:nvSpPr>
          <p:cNvPr id="127" name="Google Shape;127;p15"/>
          <p:cNvSpPr/>
          <p:nvPr/>
        </p:nvSpPr>
        <p:spPr>
          <a:xfrm>
            <a:off x="9601200" y="2057400"/>
            <a:ext cx="2193480" cy="4113720"/>
          </a:xfrm>
          <a:prstGeom prst="rect">
            <a:avLst/>
          </a:prstGeom>
          <a:solidFill>
            <a:srgbClr val="FFFFFF"/>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15"/>
          <p:cNvSpPr/>
          <p:nvPr/>
        </p:nvSpPr>
        <p:spPr>
          <a:xfrm>
            <a:off x="9601200" y="2057400"/>
            <a:ext cx="2193480" cy="13248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15"/>
          <p:cNvSpPr/>
          <p:nvPr/>
        </p:nvSpPr>
        <p:spPr>
          <a:xfrm>
            <a:off x="10332720" y="2286000"/>
            <a:ext cx="730440" cy="730440"/>
          </a:xfrm>
          <a:prstGeom prst="ellipse">
            <a:avLst/>
          </a:prstGeom>
          <a:solidFill>
            <a:srgbClr val="16204E"/>
          </a:solidFill>
          <a:ln cap="flat" cmpd="sng" w="1905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30" name="Google Shape;130;p15"/>
          <p:cNvPicPr preferRelativeResize="0"/>
          <p:nvPr/>
        </p:nvPicPr>
        <p:blipFill rotWithShape="1">
          <a:blip r:embed="rId8">
            <a:alphaModFix/>
          </a:blip>
          <a:srcRect b="0" l="0" r="0" t="0"/>
          <a:stretch/>
        </p:blipFill>
        <p:spPr>
          <a:xfrm>
            <a:off x="10506600" y="2477880"/>
            <a:ext cx="383040" cy="383040"/>
          </a:xfrm>
          <a:prstGeom prst="rect">
            <a:avLst/>
          </a:prstGeom>
          <a:noFill/>
          <a:ln>
            <a:noFill/>
          </a:ln>
        </p:spPr>
      </p:pic>
      <p:sp>
        <p:nvSpPr>
          <p:cNvPr id="131" name="Google Shape;131;p15"/>
          <p:cNvSpPr/>
          <p:nvPr/>
        </p:nvSpPr>
        <p:spPr>
          <a:xfrm>
            <a:off x="9601200" y="3063240"/>
            <a:ext cx="219348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P5</a:t>
            </a:r>
            <a:endParaRPr b="0" sz="1100" strike="noStrike">
              <a:solidFill>
                <a:schemeClr val="dk1"/>
              </a:solidFill>
              <a:latin typeface="Arial"/>
              <a:ea typeface="Arial"/>
              <a:cs typeface="Arial"/>
              <a:sym typeface="Arial"/>
            </a:endParaRPr>
          </a:p>
        </p:txBody>
      </p:sp>
      <p:sp>
        <p:nvSpPr>
          <p:cNvPr id="132" name="Google Shape;132;p15"/>
          <p:cNvSpPr/>
          <p:nvPr/>
        </p:nvSpPr>
        <p:spPr>
          <a:xfrm>
            <a:off x="9601200" y="3429000"/>
            <a:ext cx="2193480" cy="410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200"/>
              <a:buFont typeface="Georgia"/>
              <a:buNone/>
            </a:pPr>
            <a:r>
              <a:rPr b="1" lang="en-US" sz="2200" strike="noStrike">
                <a:solidFill>
                  <a:srgbClr val="1E2761"/>
                </a:solidFill>
                <a:latin typeface="Georgia"/>
                <a:ea typeface="Georgia"/>
                <a:cs typeface="Georgia"/>
                <a:sym typeface="Georgia"/>
              </a:rPr>
              <a:t>Arianna</a:t>
            </a:r>
            <a:endParaRPr b="0" sz="2200" strike="noStrike">
              <a:solidFill>
                <a:schemeClr val="dk1"/>
              </a:solidFill>
              <a:latin typeface="Arial"/>
              <a:ea typeface="Arial"/>
              <a:cs typeface="Arial"/>
              <a:sym typeface="Arial"/>
            </a:endParaRPr>
          </a:p>
        </p:txBody>
      </p:sp>
      <p:sp>
        <p:nvSpPr>
          <p:cNvPr id="133" name="Google Shape;133;p15"/>
          <p:cNvSpPr/>
          <p:nvPr/>
        </p:nvSpPr>
        <p:spPr>
          <a:xfrm>
            <a:off x="9738360" y="3886200"/>
            <a:ext cx="19191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Evaluation &amp; </a:t>
            </a:r>
            <a:r>
              <a:rPr b="1" lang="en-US" sz="1200">
                <a:solidFill>
                  <a:srgbClr val="2A2F4A"/>
                </a:solidFill>
                <a:latin typeface="Calibri"/>
                <a:ea typeface="Calibri"/>
                <a:cs typeface="Calibri"/>
                <a:sym typeface="Calibri"/>
              </a:rPr>
              <a:t>UI</a:t>
            </a:r>
            <a:endParaRPr b="0" sz="1200" strike="noStrike">
              <a:solidFill>
                <a:schemeClr val="dk1"/>
              </a:solidFill>
              <a:latin typeface="Arial"/>
              <a:ea typeface="Arial"/>
              <a:cs typeface="Arial"/>
              <a:sym typeface="Arial"/>
            </a:endParaRPr>
          </a:p>
        </p:txBody>
      </p:sp>
      <p:cxnSp>
        <p:nvCxnSpPr>
          <p:cNvPr id="134" name="Google Shape;134;p15"/>
          <p:cNvCxnSpPr/>
          <p:nvPr/>
        </p:nvCxnSpPr>
        <p:spPr>
          <a:xfrm>
            <a:off x="10424160" y="4389120"/>
            <a:ext cx="548640" cy="360"/>
          </a:xfrm>
          <a:prstGeom prst="straightConnector1">
            <a:avLst/>
          </a:prstGeom>
          <a:noFill/>
          <a:ln cap="flat" cmpd="sng" w="19050">
            <a:solidFill>
              <a:srgbClr val="C9A961"/>
            </a:solidFill>
            <a:prstDash val="solid"/>
            <a:round/>
            <a:headEnd len="sm" w="sm" type="none"/>
            <a:tailEnd len="sm" w="sm" type="none"/>
          </a:ln>
        </p:spPr>
      </p:cxnSp>
      <p:sp>
        <p:nvSpPr>
          <p:cNvPr id="135" name="Google Shape;135;p15"/>
          <p:cNvSpPr/>
          <p:nvPr/>
        </p:nvSpPr>
        <p:spPr>
          <a:xfrm>
            <a:off x="9784080" y="4526280"/>
            <a:ext cx="1827720" cy="150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100"/>
              <a:buFont typeface="Calibri"/>
              <a:buNone/>
            </a:pPr>
            <a:r>
              <a:rPr lang="en-US" sz="1100">
                <a:solidFill>
                  <a:srgbClr val="6A6F8C"/>
                </a:solidFill>
                <a:latin typeface="Calibri"/>
                <a:ea typeface="Calibri"/>
                <a:cs typeface="Calibri"/>
                <a:sym typeface="Calibri"/>
              </a:rPr>
              <a:t>UI</a:t>
            </a:r>
            <a:r>
              <a:rPr b="0" lang="en-US" sz="1100" strike="noStrike">
                <a:solidFill>
                  <a:srgbClr val="6A6F8C"/>
                </a:solidFill>
                <a:latin typeface="Calibri"/>
                <a:ea typeface="Calibri"/>
                <a:cs typeface="Calibri"/>
                <a:sym typeface="Calibri"/>
              </a:rPr>
              <a:t>, LLM-as-oracle simulation, metrics, experiment documentation.</a:t>
            </a:r>
            <a:endParaRPr b="0" sz="1100" strike="noStrike">
              <a:solidFill>
                <a:schemeClr val="dk1"/>
              </a:solidFill>
              <a:latin typeface="Arial"/>
              <a:ea typeface="Arial"/>
              <a:cs typeface="Arial"/>
              <a:sym typeface="Arial"/>
            </a:endParaRPr>
          </a:p>
        </p:txBody>
      </p:sp>
      <p:sp>
        <p:nvSpPr>
          <p:cNvPr id="136" name="Google Shape;136;p15"/>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137" name="Google Shape;137;p15"/>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1 / 10</a:t>
            </a:r>
            <a:endParaRPr b="0" sz="900"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6"/>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44" name="Google Shape;144;p16"/>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145" name="Google Shape;145;p16"/>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Architecture &amp; data model</a:t>
            </a:r>
            <a:endParaRPr b="0" sz="2600" strike="noStrike">
              <a:solidFill>
                <a:schemeClr val="dk1"/>
              </a:solidFill>
              <a:latin typeface="Arial"/>
              <a:ea typeface="Arial"/>
              <a:cs typeface="Arial"/>
              <a:sym typeface="Arial"/>
            </a:endParaRPr>
          </a:p>
        </p:txBody>
      </p:sp>
      <p:sp>
        <p:nvSpPr>
          <p:cNvPr id="146" name="Google Shape;146;p16"/>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STEP 2 OF 10</a:t>
            </a:r>
            <a:endParaRPr b="0" sz="900" strike="noStrike">
              <a:solidFill>
                <a:schemeClr val="dk1"/>
              </a:solidFill>
              <a:latin typeface="Arial"/>
              <a:ea typeface="Arial"/>
              <a:cs typeface="Arial"/>
              <a:sym typeface="Arial"/>
            </a:endParaRPr>
          </a:p>
        </p:txBody>
      </p:sp>
      <p:cxnSp>
        <p:nvCxnSpPr>
          <p:cNvPr id="147" name="Google Shape;147;p16"/>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148" name="Google Shape;148;p16"/>
          <p:cNvSpPr/>
          <p:nvPr/>
        </p:nvSpPr>
        <p:spPr>
          <a:xfrm>
            <a:off x="457200" y="1280160"/>
            <a:ext cx="11246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The schema is small but expressive: sessions own clusters and turns, data points are softly assigned to clusters over time. Every turn is logged for replay.</a:t>
            </a:r>
            <a:endParaRPr b="0" sz="1200" strike="noStrike">
              <a:solidFill>
                <a:schemeClr val="dk1"/>
              </a:solidFill>
              <a:latin typeface="Arial"/>
              <a:ea typeface="Arial"/>
              <a:cs typeface="Arial"/>
              <a:sym typeface="Arial"/>
            </a:endParaRPr>
          </a:p>
        </p:txBody>
      </p:sp>
      <p:sp>
        <p:nvSpPr>
          <p:cNvPr id="149" name="Google Shape;149;p16"/>
          <p:cNvSpPr/>
          <p:nvPr/>
        </p:nvSpPr>
        <p:spPr>
          <a:xfrm>
            <a:off x="548640" y="2011680"/>
            <a:ext cx="2467800" cy="1370520"/>
          </a:xfrm>
          <a:prstGeom prst="rect">
            <a:avLst/>
          </a:prstGeom>
          <a:solidFill>
            <a:srgbClr val="FFFFFF"/>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16"/>
          <p:cNvSpPr/>
          <p:nvPr/>
        </p:nvSpPr>
        <p:spPr>
          <a:xfrm>
            <a:off x="548640" y="2011680"/>
            <a:ext cx="2467800" cy="38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16"/>
          <p:cNvSpPr/>
          <p:nvPr/>
        </p:nvSpPr>
        <p:spPr>
          <a:xfrm>
            <a:off x="685800" y="2048400"/>
            <a:ext cx="219348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onsolas"/>
              <a:buNone/>
            </a:pPr>
            <a:r>
              <a:rPr b="1" lang="en-US" sz="1300" strike="noStrike">
                <a:solidFill>
                  <a:srgbClr val="FFFFFF"/>
                </a:solidFill>
                <a:latin typeface="Consolas"/>
                <a:ea typeface="Consolas"/>
                <a:cs typeface="Consolas"/>
                <a:sym typeface="Consolas"/>
              </a:rPr>
              <a:t>sessions</a:t>
            </a:r>
            <a:endParaRPr b="0" sz="1300" strike="noStrike">
              <a:solidFill>
                <a:schemeClr val="dk1"/>
              </a:solidFill>
              <a:latin typeface="Arial"/>
              <a:ea typeface="Arial"/>
              <a:cs typeface="Arial"/>
              <a:sym typeface="Arial"/>
            </a:endParaRPr>
          </a:p>
        </p:txBody>
      </p:sp>
      <p:sp>
        <p:nvSpPr>
          <p:cNvPr id="152" name="Google Shape;152;p16"/>
          <p:cNvSpPr/>
          <p:nvPr/>
        </p:nvSpPr>
        <p:spPr>
          <a:xfrm>
            <a:off x="685800" y="2450520"/>
            <a:ext cx="2193480" cy="913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id (PK)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dataset_name</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status</a:t>
            </a:r>
            <a:endParaRPr b="0" sz="1000" strike="noStrike">
              <a:solidFill>
                <a:schemeClr val="dk1"/>
              </a:solidFill>
              <a:latin typeface="Arial"/>
              <a:ea typeface="Arial"/>
              <a:cs typeface="Arial"/>
              <a:sym typeface="Arial"/>
            </a:endParaRPr>
          </a:p>
        </p:txBody>
      </p:sp>
      <p:sp>
        <p:nvSpPr>
          <p:cNvPr id="153" name="Google Shape;153;p16"/>
          <p:cNvSpPr/>
          <p:nvPr/>
        </p:nvSpPr>
        <p:spPr>
          <a:xfrm>
            <a:off x="4846320" y="2011680"/>
            <a:ext cx="2467800" cy="1370520"/>
          </a:xfrm>
          <a:prstGeom prst="rect">
            <a:avLst/>
          </a:prstGeom>
          <a:solidFill>
            <a:srgbClr val="FFFFFF"/>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16"/>
          <p:cNvSpPr/>
          <p:nvPr/>
        </p:nvSpPr>
        <p:spPr>
          <a:xfrm>
            <a:off x="4846320" y="2011680"/>
            <a:ext cx="2467800" cy="38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 name="Google Shape;155;p16"/>
          <p:cNvSpPr/>
          <p:nvPr/>
        </p:nvSpPr>
        <p:spPr>
          <a:xfrm>
            <a:off x="4983480" y="2048400"/>
            <a:ext cx="219348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onsolas"/>
              <a:buNone/>
            </a:pPr>
            <a:r>
              <a:rPr b="1" lang="en-US" sz="1300" strike="noStrike">
                <a:solidFill>
                  <a:srgbClr val="FFFFFF"/>
                </a:solidFill>
                <a:latin typeface="Consolas"/>
                <a:ea typeface="Consolas"/>
                <a:cs typeface="Consolas"/>
                <a:sym typeface="Consolas"/>
              </a:rPr>
              <a:t>clusters</a:t>
            </a:r>
            <a:endParaRPr b="0" sz="1300" strike="noStrike">
              <a:solidFill>
                <a:schemeClr val="dk1"/>
              </a:solidFill>
              <a:latin typeface="Arial"/>
              <a:ea typeface="Arial"/>
              <a:cs typeface="Arial"/>
              <a:sym typeface="Arial"/>
            </a:endParaRPr>
          </a:p>
        </p:txBody>
      </p:sp>
      <p:sp>
        <p:nvSpPr>
          <p:cNvPr id="156" name="Google Shape;156;p16"/>
          <p:cNvSpPr/>
          <p:nvPr/>
        </p:nvSpPr>
        <p:spPr>
          <a:xfrm>
            <a:off x="4983480" y="2450520"/>
            <a:ext cx="2193480" cy="913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id (PK)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session_id (FK)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name, description</a:t>
            </a:r>
            <a:endParaRPr b="0" sz="1000" strike="noStrike">
              <a:solidFill>
                <a:schemeClr val="dk1"/>
              </a:solidFill>
              <a:latin typeface="Arial"/>
              <a:ea typeface="Arial"/>
              <a:cs typeface="Arial"/>
              <a:sym typeface="Arial"/>
            </a:endParaRPr>
          </a:p>
        </p:txBody>
      </p:sp>
      <p:sp>
        <p:nvSpPr>
          <p:cNvPr id="157" name="Google Shape;157;p16"/>
          <p:cNvSpPr/>
          <p:nvPr/>
        </p:nvSpPr>
        <p:spPr>
          <a:xfrm>
            <a:off x="9144000" y="2011680"/>
            <a:ext cx="2467800" cy="1370520"/>
          </a:xfrm>
          <a:prstGeom prst="rect">
            <a:avLst/>
          </a:prstGeom>
          <a:solidFill>
            <a:srgbClr val="FFFFFF"/>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16"/>
          <p:cNvSpPr/>
          <p:nvPr/>
        </p:nvSpPr>
        <p:spPr>
          <a:xfrm>
            <a:off x="9144000" y="2011680"/>
            <a:ext cx="2467800" cy="38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16"/>
          <p:cNvSpPr/>
          <p:nvPr/>
        </p:nvSpPr>
        <p:spPr>
          <a:xfrm>
            <a:off x="9281160" y="2048400"/>
            <a:ext cx="219348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onsolas"/>
              <a:buNone/>
            </a:pPr>
            <a:r>
              <a:rPr b="1" lang="en-US" sz="1300" strike="noStrike">
                <a:solidFill>
                  <a:srgbClr val="FFFFFF"/>
                </a:solidFill>
                <a:latin typeface="Consolas"/>
                <a:ea typeface="Consolas"/>
                <a:cs typeface="Consolas"/>
                <a:sym typeface="Consolas"/>
              </a:rPr>
              <a:t>turns</a:t>
            </a:r>
            <a:endParaRPr b="0" sz="1300" strike="noStrike">
              <a:solidFill>
                <a:schemeClr val="dk1"/>
              </a:solidFill>
              <a:latin typeface="Arial"/>
              <a:ea typeface="Arial"/>
              <a:cs typeface="Arial"/>
              <a:sym typeface="Arial"/>
            </a:endParaRPr>
          </a:p>
        </p:txBody>
      </p:sp>
      <p:sp>
        <p:nvSpPr>
          <p:cNvPr id="160" name="Google Shape;160;p16"/>
          <p:cNvSpPr/>
          <p:nvPr/>
        </p:nvSpPr>
        <p:spPr>
          <a:xfrm>
            <a:off x="9281160" y="2450520"/>
            <a:ext cx="2193480" cy="913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session_id (PK,FK)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turn_number (PK)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oracle_input · system_output</a:t>
            </a:r>
            <a:endParaRPr b="0" sz="1000" strike="noStrike">
              <a:solidFill>
                <a:schemeClr val="dk1"/>
              </a:solidFill>
              <a:latin typeface="Arial"/>
              <a:ea typeface="Arial"/>
              <a:cs typeface="Arial"/>
              <a:sym typeface="Arial"/>
            </a:endParaRPr>
          </a:p>
        </p:txBody>
      </p:sp>
      <p:sp>
        <p:nvSpPr>
          <p:cNvPr id="161" name="Google Shape;161;p16"/>
          <p:cNvSpPr/>
          <p:nvPr/>
        </p:nvSpPr>
        <p:spPr>
          <a:xfrm>
            <a:off x="548640" y="4572000"/>
            <a:ext cx="2467800" cy="1370520"/>
          </a:xfrm>
          <a:prstGeom prst="rect">
            <a:avLst/>
          </a:prstGeom>
          <a:solidFill>
            <a:srgbClr val="FFFFFF"/>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16"/>
          <p:cNvSpPr/>
          <p:nvPr/>
        </p:nvSpPr>
        <p:spPr>
          <a:xfrm>
            <a:off x="548640" y="4572000"/>
            <a:ext cx="2467800" cy="38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16"/>
          <p:cNvSpPr/>
          <p:nvPr/>
        </p:nvSpPr>
        <p:spPr>
          <a:xfrm>
            <a:off x="685800" y="4608720"/>
            <a:ext cx="219348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onsolas"/>
              <a:buNone/>
            </a:pPr>
            <a:r>
              <a:rPr b="1" lang="en-US" sz="1300" strike="noStrike">
                <a:solidFill>
                  <a:srgbClr val="FFFFFF"/>
                </a:solidFill>
                <a:latin typeface="Consolas"/>
                <a:ea typeface="Consolas"/>
                <a:cs typeface="Consolas"/>
                <a:sym typeface="Consolas"/>
              </a:rPr>
              <a:t>data_points</a:t>
            </a:r>
            <a:endParaRPr b="0" sz="1300" strike="noStrike">
              <a:solidFill>
                <a:schemeClr val="dk1"/>
              </a:solidFill>
              <a:latin typeface="Arial"/>
              <a:ea typeface="Arial"/>
              <a:cs typeface="Arial"/>
              <a:sym typeface="Arial"/>
            </a:endParaRPr>
          </a:p>
        </p:txBody>
      </p:sp>
      <p:sp>
        <p:nvSpPr>
          <p:cNvPr id="164" name="Google Shape;164;p16"/>
          <p:cNvSpPr/>
          <p:nvPr/>
        </p:nvSpPr>
        <p:spPr>
          <a:xfrm>
            <a:off x="685800" y="5010840"/>
            <a:ext cx="2193480" cy="913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id (PK)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dataset_name</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data · embedding</a:t>
            </a:r>
            <a:endParaRPr b="0" sz="1000" strike="noStrike">
              <a:solidFill>
                <a:schemeClr val="dk1"/>
              </a:solidFill>
              <a:latin typeface="Arial"/>
              <a:ea typeface="Arial"/>
              <a:cs typeface="Arial"/>
              <a:sym typeface="Arial"/>
            </a:endParaRPr>
          </a:p>
        </p:txBody>
      </p:sp>
      <p:sp>
        <p:nvSpPr>
          <p:cNvPr id="165" name="Google Shape;165;p16"/>
          <p:cNvSpPr/>
          <p:nvPr/>
        </p:nvSpPr>
        <p:spPr>
          <a:xfrm>
            <a:off x="4846320" y="4572000"/>
            <a:ext cx="2467800" cy="1370520"/>
          </a:xfrm>
          <a:prstGeom prst="rect">
            <a:avLst/>
          </a:prstGeom>
          <a:solidFill>
            <a:srgbClr val="FFFFFF"/>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16"/>
          <p:cNvSpPr/>
          <p:nvPr/>
        </p:nvSpPr>
        <p:spPr>
          <a:xfrm>
            <a:off x="4846320" y="4572000"/>
            <a:ext cx="2467800" cy="38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6"/>
          <p:cNvSpPr/>
          <p:nvPr/>
        </p:nvSpPr>
        <p:spPr>
          <a:xfrm>
            <a:off x="4983480" y="4608720"/>
            <a:ext cx="219348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onsolas"/>
              <a:buNone/>
            </a:pPr>
            <a:r>
              <a:rPr b="1" lang="en-US" sz="1300" strike="noStrike">
                <a:solidFill>
                  <a:srgbClr val="FFFFFF"/>
                </a:solidFill>
                <a:latin typeface="Consolas"/>
                <a:ea typeface="Consolas"/>
                <a:cs typeface="Consolas"/>
                <a:sym typeface="Consolas"/>
              </a:rPr>
              <a:t>soft_assignments</a:t>
            </a:r>
            <a:endParaRPr b="0" sz="1300" strike="noStrike">
              <a:solidFill>
                <a:schemeClr val="dk1"/>
              </a:solidFill>
              <a:latin typeface="Arial"/>
              <a:ea typeface="Arial"/>
              <a:cs typeface="Arial"/>
              <a:sym typeface="Arial"/>
            </a:endParaRPr>
          </a:p>
        </p:txBody>
      </p:sp>
      <p:sp>
        <p:nvSpPr>
          <p:cNvPr id="168" name="Google Shape;168;p16"/>
          <p:cNvSpPr/>
          <p:nvPr/>
        </p:nvSpPr>
        <p:spPr>
          <a:xfrm>
            <a:off x="4983480" y="5010840"/>
            <a:ext cx="2193480" cy="913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data_point_id (PK,FK)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cluster_id (PK,FK)</a:t>
            </a:r>
            <a:endParaRPr b="0" sz="1000" strike="noStrike">
              <a:solidFill>
                <a:schemeClr val="dk1"/>
              </a:solidFill>
              <a:latin typeface="Arial"/>
              <a:ea typeface="Arial"/>
              <a:cs typeface="Arial"/>
              <a:sym typeface="Arial"/>
            </a:endParaRPr>
          </a:p>
          <a:p>
            <a:pPr indent="0" lvl="0" marL="0" marR="0" rtl="0" algn="l">
              <a:lnSpc>
                <a:spcPct val="100000"/>
              </a:lnSpc>
              <a:spcBef>
                <a:spcPts val="201"/>
              </a:spcBef>
              <a:spcAft>
                <a:spcPts val="0"/>
              </a:spcAft>
              <a:buClr>
                <a:srgbClr val="2A2F4A"/>
              </a:buClr>
              <a:buSzPts val="1000"/>
              <a:buFont typeface="Consolas"/>
              <a:buNone/>
            </a:pPr>
            <a:r>
              <a:rPr b="0" lang="en-US" sz="1000" strike="noStrike">
                <a:solidFill>
                  <a:srgbClr val="2A2F4A"/>
                </a:solidFill>
                <a:latin typeface="Consolas"/>
                <a:ea typeface="Consolas"/>
                <a:cs typeface="Consolas"/>
                <a:sym typeface="Consolas"/>
              </a:rPr>
              <a:t>turn_number · probability</a:t>
            </a:r>
            <a:endParaRPr b="0" sz="1000" strike="noStrike">
              <a:solidFill>
                <a:schemeClr val="dk1"/>
              </a:solidFill>
              <a:latin typeface="Arial"/>
              <a:ea typeface="Arial"/>
              <a:cs typeface="Arial"/>
              <a:sym typeface="Arial"/>
            </a:endParaRPr>
          </a:p>
        </p:txBody>
      </p:sp>
      <p:cxnSp>
        <p:nvCxnSpPr>
          <p:cNvPr id="169" name="Google Shape;169;p16"/>
          <p:cNvCxnSpPr/>
          <p:nvPr/>
        </p:nvCxnSpPr>
        <p:spPr>
          <a:xfrm>
            <a:off x="3017520" y="2697480"/>
            <a:ext cx="1828800" cy="360"/>
          </a:xfrm>
          <a:prstGeom prst="straightConnector1">
            <a:avLst/>
          </a:prstGeom>
          <a:noFill/>
          <a:ln cap="flat" cmpd="sng" w="19050">
            <a:solidFill>
              <a:srgbClr val="C9A961"/>
            </a:solidFill>
            <a:prstDash val="solid"/>
            <a:round/>
            <a:headEnd len="sm" w="sm" type="none"/>
            <a:tailEnd len="sm" w="sm" type="none"/>
          </a:ln>
        </p:spPr>
      </p:cxnSp>
      <p:sp>
        <p:nvSpPr>
          <p:cNvPr id="170" name="Google Shape;170;p16"/>
          <p:cNvSpPr/>
          <p:nvPr/>
        </p:nvSpPr>
        <p:spPr>
          <a:xfrm>
            <a:off x="3657600" y="2541960"/>
            <a:ext cx="547560" cy="2916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16"/>
          <p:cNvSpPr/>
          <p:nvPr/>
        </p:nvSpPr>
        <p:spPr>
          <a:xfrm>
            <a:off x="3657600" y="2541960"/>
            <a:ext cx="547560" cy="29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1 : N</a:t>
            </a:r>
            <a:endParaRPr b="0" sz="900" strike="noStrike">
              <a:solidFill>
                <a:schemeClr val="dk1"/>
              </a:solidFill>
              <a:latin typeface="Arial"/>
              <a:ea typeface="Arial"/>
              <a:cs typeface="Arial"/>
              <a:sym typeface="Arial"/>
            </a:endParaRPr>
          </a:p>
        </p:txBody>
      </p:sp>
      <p:cxnSp>
        <p:nvCxnSpPr>
          <p:cNvPr id="172" name="Google Shape;172;p16"/>
          <p:cNvCxnSpPr/>
          <p:nvPr/>
        </p:nvCxnSpPr>
        <p:spPr>
          <a:xfrm>
            <a:off x="1783080" y="3383280"/>
            <a:ext cx="360" cy="548640"/>
          </a:xfrm>
          <a:prstGeom prst="straightConnector1">
            <a:avLst/>
          </a:prstGeom>
          <a:noFill/>
          <a:ln cap="flat" cmpd="sng" w="19050">
            <a:solidFill>
              <a:srgbClr val="C9A961"/>
            </a:solidFill>
            <a:prstDash val="solid"/>
            <a:round/>
            <a:headEnd len="sm" w="sm" type="none"/>
            <a:tailEnd len="sm" w="sm" type="none"/>
          </a:ln>
        </p:spPr>
      </p:cxnSp>
      <p:cxnSp>
        <p:nvCxnSpPr>
          <p:cNvPr id="173" name="Google Shape;173;p16"/>
          <p:cNvCxnSpPr/>
          <p:nvPr/>
        </p:nvCxnSpPr>
        <p:spPr>
          <a:xfrm>
            <a:off x="1783080" y="3931920"/>
            <a:ext cx="8595360" cy="360"/>
          </a:xfrm>
          <a:prstGeom prst="straightConnector1">
            <a:avLst/>
          </a:prstGeom>
          <a:noFill/>
          <a:ln cap="flat" cmpd="sng" w="19050">
            <a:solidFill>
              <a:srgbClr val="C9A961"/>
            </a:solidFill>
            <a:prstDash val="solid"/>
            <a:round/>
            <a:headEnd len="sm" w="sm" type="none"/>
            <a:tailEnd len="sm" w="sm" type="none"/>
          </a:ln>
        </p:spPr>
      </p:cxnSp>
      <p:cxnSp>
        <p:nvCxnSpPr>
          <p:cNvPr id="174" name="Google Shape;174;p16"/>
          <p:cNvCxnSpPr/>
          <p:nvPr/>
        </p:nvCxnSpPr>
        <p:spPr>
          <a:xfrm>
            <a:off x="10378440" y="3383280"/>
            <a:ext cx="360" cy="548640"/>
          </a:xfrm>
          <a:prstGeom prst="straightConnector1">
            <a:avLst/>
          </a:prstGeom>
          <a:noFill/>
          <a:ln cap="flat" cmpd="sng" w="19050">
            <a:solidFill>
              <a:srgbClr val="C9A961"/>
            </a:solidFill>
            <a:prstDash val="solid"/>
            <a:round/>
            <a:headEnd len="sm" w="sm" type="none"/>
            <a:tailEnd len="sm" w="sm" type="none"/>
          </a:ln>
        </p:spPr>
      </p:cxnSp>
      <p:sp>
        <p:nvSpPr>
          <p:cNvPr id="175" name="Google Shape;175;p16"/>
          <p:cNvSpPr/>
          <p:nvPr/>
        </p:nvSpPr>
        <p:spPr>
          <a:xfrm>
            <a:off x="7909560" y="3785760"/>
            <a:ext cx="547560" cy="2916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16"/>
          <p:cNvSpPr/>
          <p:nvPr/>
        </p:nvSpPr>
        <p:spPr>
          <a:xfrm>
            <a:off x="7909560" y="3785760"/>
            <a:ext cx="547560" cy="29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1 : N</a:t>
            </a:r>
            <a:endParaRPr b="0" sz="900" strike="noStrike">
              <a:solidFill>
                <a:schemeClr val="dk1"/>
              </a:solidFill>
              <a:latin typeface="Arial"/>
              <a:ea typeface="Arial"/>
              <a:cs typeface="Arial"/>
              <a:sym typeface="Arial"/>
            </a:endParaRPr>
          </a:p>
        </p:txBody>
      </p:sp>
      <p:cxnSp>
        <p:nvCxnSpPr>
          <p:cNvPr id="177" name="Google Shape;177;p16"/>
          <p:cNvCxnSpPr/>
          <p:nvPr/>
        </p:nvCxnSpPr>
        <p:spPr>
          <a:xfrm>
            <a:off x="6080760" y="3383280"/>
            <a:ext cx="360" cy="1188720"/>
          </a:xfrm>
          <a:prstGeom prst="straightConnector1">
            <a:avLst/>
          </a:prstGeom>
          <a:noFill/>
          <a:ln cap="flat" cmpd="sng" w="19050">
            <a:solidFill>
              <a:srgbClr val="C9A961"/>
            </a:solidFill>
            <a:prstDash val="solid"/>
            <a:round/>
            <a:headEnd len="sm" w="sm" type="none"/>
            <a:tailEnd len="sm" w="sm" type="none"/>
          </a:ln>
        </p:spPr>
      </p:cxnSp>
      <p:sp>
        <p:nvSpPr>
          <p:cNvPr id="178" name="Google Shape;178;p16"/>
          <p:cNvSpPr/>
          <p:nvPr/>
        </p:nvSpPr>
        <p:spPr>
          <a:xfrm>
            <a:off x="5807173" y="3464255"/>
            <a:ext cx="547500" cy="2916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16"/>
          <p:cNvSpPr/>
          <p:nvPr/>
        </p:nvSpPr>
        <p:spPr>
          <a:xfrm>
            <a:off x="5807210" y="3465543"/>
            <a:ext cx="547500" cy="29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1 : N</a:t>
            </a:r>
            <a:endParaRPr b="0" sz="900" strike="noStrike">
              <a:solidFill>
                <a:schemeClr val="dk1"/>
              </a:solidFill>
              <a:latin typeface="Arial"/>
              <a:ea typeface="Arial"/>
              <a:cs typeface="Arial"/>
              <a:sym typeface="Arial"/>
            </a:endParaRPr>
          </a:p>
        </p:txBody>
      </p:sp>
      <p:cxnSp>
        <p:nvCxnSpPr>
          <p:cNvPr id="180" name="Google Shape;180;p16"/>
          <p:cNvCxnSpPr/>
          <p:nvPr/>
        </p:nvCxnSpPr>
        <p:spPr>
          <a:xfrm>
            <a:off x="3017520" y="5257800"/>
            <a:ext cx="1828800" cy="360"/>
          </a:xfrm>
          <a:prstGeom prst="straightConnector1">
            <a:avLst/>
          </a:prstGeom>
          <a:noFill/>
          <a:ln cap="flat" cmpd="sng" w="19050">
            <a:solidFill>
              <a:srgbClr val="C9A961"/>
            </a:solidFill>
            <a:prstDash val="solid"/>
            <a:round/>
            <a:headEnd len="sm" w="sm" type="none"/>
            <a:tailEnd len="sm" w="sm" type="none"/>
          </a:ln>
        </p:spPr>
      </p:cxnSp>
      <p:sp>
        <p:nvSpPr>
          <p:cNvPr id="181" name="Google Shape;181;p16"/>
          <p:cNvSpPr/>
          <p:nvPr/>
        </p:nvSpPr>
        <p:spPr>
          <a:xfrm>
            <a:off x="3657600" y="5102280"/>
            <a:ext cx="547560" cy="2916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16"/>
          <p:cNvSpPr/>
          <p:nvPr/>
        </p:nvSpPr>
        <p:spPr>
          <a:xfrm>
            <a:off x="3657600" y="5102280"/>
            <a:ext cx="547560" cy="29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1 : N</a:t>
            </a:r>
            <a:endParaRPr b="0" sz="900" strike="noStrike">
              <a:solidFill>
                <a:schemeClr val="dk1"/>
              </a:solidFill>
              <a:latin typeface="Arial"/>
              <a:ea typeface="Arial"/>
              <a:cs typeface="Arial"/>
              <a:sym typeface="Arial"/>
            </a:endParaRPr>
          </a:p>
        </p:txBody>
      </p:sp>
      <p:sp>
        <p:nvSpPr>
          <p:cNvPr id="183" name="Google Shape;183;p16"/>
          <p:cNvSpPr/>
          <p:nvPr/>
        </p:nvSpPr>
        <p:spPr>
          <a:xfrm>
            <a:off x="9144000" y="4572000"/>
            <a:ext cx="2467800" cy="137052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16"/>
          <p:cNvSpPr/>
          <p:nvPr/>
        </p:nvSpPr>
        <p:spPr>
          <a:xfrm>
            <a:off x="9281160" y="4645080"/>
            <a:ext cx="22849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Why this shape</a:t>
            </a:r>
            <a:endParaRPr b="0" sz="1100" strike="noStrike">
              <a:solidFill>
                <a:schemeClr val="dk1"/>
              </a:solidFill>
              <a:latin typeface="Arial"/>
              <a:ea typeface="Arial"/>
              <a:cs typeface="Arial"/>
              <a:sym typeface="Arial"/>
            </a:endParaRPr>
          </a:p>
        </p:txBody>
      </p:sp>
      <p:sp>
        <p:nvSpPr>
          <p:cNvPr id="185" name="Google Shape;185;p16"/>
          <p:cNvSpPr/>
          <p:nvPr/>
        </p:nvSpPr>
        <p:spPr>
          <a:xfrm>
            <a:off x="9281160" y="4937760"/>
            <a:ext cx="2284920" cy="1004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900"/>
              <a:buFont typeface="Calibri"/>
              <a:buNone/>
            </a:pPr>
            <a:r>
              <a:rPr b="0" lang="en-US" sz="900" strike="noStrike">
                <a:solidFill>
                  <a:srgbClr val="2A2F4A"/>
                </a:solidFill>
                <a:latin typeface="Calibri"/>
                <a:ea typeface="Calibri"/>
                <a:cs typeface="Calibri"/>
                <a:sym typeface="Calibri"/>
              </a:rPr>
              <a:t>Soft assignments per turn keep the full history.</a:t>
            </a:r>
            <a:endParaRPr b="0" sz="900"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2A2F4A"/>
              </a:buClr>
              <a:buSzPts val="900"/>
              <a:buFont typeface="Calibri"/>
              <a:buNone/>
            </a:pPr>
            <a:r>
              <a:rPr b="0" lang="en-US" sz="900" strike="noStrike">
                <a:solidFill>
                  <a:srgbClr val="2A2F4A"/>
                </a:solidFill>
                <a:latin typeface="Calibri"/>
                <a:ea typeface="Calibri"/>
                <a:cs typeface="Calibri"/>
                <a:sym typeface="Calibri"/>
              </a:rPr>
              <a:t>Turns are the source of truth for replay.</a:t>
            </a:r>
            <a:endParaRPr b="0" sz="900"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2A2F4A"/>
              </a:buClr>
              <a:buSzPts val="900"/>
              <a:buFont typeface="Calibri"/>
              <a:buNone/>
            </a:pPr>
            <a:r>
              <a:rPr b="0" lang="en-US" sz="900" strike="noStrike">
                <a:solidFill>
                  <a:srgbClr val="2A2F4A"/>
                </a:solidFill>
                <a:latin typeface="Calibri"/>
                <a:ea typeface="Calibri"/>
                <a:cs typeface="Calibri"/>
                <a:sym typeface="Calibri"/>
              </a:rPr>
              <a:t>Clusters can be dissolved without losing data.</a:t>
            </a:r>
            <a:endParaRPr b="0" sz="900" strike="noStrike">
              <a:solidFill>
                <a:schemeClr val="dk1"/>
              </a:solidFill>
              <a:latin typeface="Arial"/>
              <a:ea typeface="Arial"/>
              <a:cs typeface="Arial"/>
              <a:sym typeface="Arial"/>
            </a:endParaRPr>
          </a:p>
        </p:txBody>
      </p:sp>
      <p:sp>
        <p:nvSpPr>
          <p:cNvPr id="186" name="Google Shape;186;p16"/>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187" name="Google Shape;187;p16"/>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2 / 10</a:t>
            </a:r>
            <a:endParaRPr b="0" sz="900"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17"/>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194" name="Google Shape;194;p17"/>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195" name="Google Shape;195;p17"/>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Tech stack &amp; dataset choice</a:t>
            </a:r>
            <a:endParaRPr b="0" sz="2600" strike="noStrike">
              <a:solidFill>
                <a:schemeClr val="dk1"/>
              </a:solidFill>
              <a:latin typeface="Arial"/>
              <a:ea typeface="Arial"/>
              <a:cs typeface="Arial"/>
              <a:sym typeface="Arial"/>
            </a:endParaRPr>
          </a:p>
        </p:txBody>
      </p:sp>
      <p:sp>
        <p:nvSpPr>
          <p:cNvPr id="196" name="Google Shape;196;p17"/>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STEP 10 OF 10</a:t>
            </a:r>
            <a:endParaRPr b="0" sz="900" strike="noStrike">
              <a:solidFill>
                <a:schemeClr val="dk1"/>
              </a:solidFill>
              <a:latin typeface="Arial"/>
              <a:ea typeface="Arial"/>
              <a:cs typeface="Arial"/>
              <a:sym typeface="Arial"/>
            </a:endParaRPr>
          </a:p>
        </p:txBody>
      </p:sp>
      <p:cxnSp>
        <p:nvCxnSpPr>
          <p:cNvPr id="197" name="Google Shape;197;p17"/>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198" name="Google Shape;198;p17"/>
          <p:cNvSpPr/>
          <p:nvPr/>
        </p:nvSpPr>
        <p:spPr>
          <a:xfrm>
            <a:off x="457200" y="1325880"/>
            <a:ext cx="548532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Stack</a:t>
            </a:r>
            <a:endParaRPr b="0" sz="1500" strike="noStrike">
              <a:solidFill>
                <a:schemeClr val="dk1"/>
              </a:solidFill>
              <a:latin typeface="Arial"/>
              <a:ea typeface="Arial"/>
              <a:cs typeface="Arial"/>
              <a:sym typeface="Arial"/>
            </a:endParaRPr>
          </a:p>
        </p:txBody>
      </p:sp>
      <p:cxnSp>
        <p:nvCxnSpPr>
          <p:cNvPr id="199" name="Google Shape;199;p17"/>
          <p:cNvCxnSpPr/>
          <p:nvPr/>
        </p:nvCxnSpPr>
        <p:spPr>
          <a:xfrm>
            <a:off x="457200" y="1691640"/>
            <a:ext cx="548640" cy="360"/>
          </a:xfrm>
          <a:prstGeom prst="straightConnector1">
            <a:avLst/>
          </a:prstGeom>
          <a:noFill/>
          <a:ln cap="flat" cmpd="sng" w="25400">
            <a:solidFill>
              <a:srgbClr val="C9A961"/>
            </a:solidFill>
            <a:prstDash val="solid"/>
            <a:round/>
            <a:headEnd len="sm" w="sm" type="none"/>
            <a:tailEnd len="sm" w="sm" type="none"/>
          </a:ln>
        </p:spPr>
      </p:cxnSp>
      <p:sp>
        <p:nvSpPr>
          <p:cNvPr id="200" name="Google Shape;200;p17"/>
          <p:cNvSpPr/>
          <p:nvPr/>
        </p:nvSpPr>
        <p:spPr>
          <a:xfrm>
            <a:off x="457200" y="1874520"/>
            <a:ext cx="5759640" cy="346320"/>
          </a:xfrm>
          <a:prstGeom prst="rect">
            <a:avLst/>
          </a:prstGeom>
          <a:solidFill>
            <a:srgbClr val="F4F6FB"/>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17"/>
          <p:cNvSpPr/>
          <p:nvPr/>
        </p:nvSpPr>
        <p:spPr>
          <a:xfrm>
            <a:off x="548640" y="187452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Backend API</a:t>
            </a:r>
            <a:endParaRPr b="0" sz="1100" strike="noStrike">
              <a:solidFill>
                <a:schemeClr val="dk1"/>
              </a:solidFill>
              <a:latin typeface="Arial"/>
              <a:ea typeface="Arial"/>
              <a:cs typeface="Arial"/>
              <a:sym typeface="Arial"/>
            </a:endParaRPr>
          </a:p>
        </p:txBody>
      </p:sp>
      <p:sp>
        <p:nvSpPr>
          <p:cNvPr id="202" name="Google Shape;202;p17"/>
          <p:cNvSpPr/>
          <p:nvPr/>
        </p:nvSpPr>
        <p:spPr>
          <a:xfrm>
            <a:off x="2377440" y="187452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FastAPI + Uvicorn</a:t>
            </a:r>
            <a:endParaRPr b="0" sz="1100" strike="noStrike">
              <a:solidFill>
                <a:schemeClr val="dk1"/>
              </a:solidFill>
              <a:latin typeface="Arial"/>
              <a:ea typeface="Arial"/>
              <a:cs typeface="Arial"/>
              <a:sym typeface="Arial"/>
            </a:endParaRPr>
          </a:p>
        </p:txBody>
      </p:sp>
      <p:sp>
        <p:nvSpPr>
          <p:cNvPr id="203" name="Google Shape;203;p17"/>
          <p:cNvSpPr/>
          <p:nvPr/>
        </p:nvSpPr>
        <p:spPr>
          <a:xfrm>
            <a:off x="548640" y="222192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ORM &amp; migrations</a:t>
            </a:r>
            <a:endParaRPr b="0" sz="1100" strike="noStrike">
              <a:solidFill>
                <a:schemeClr val="dk1"/>
              </a:solidFill>
              <a:latin typeface="Arial"/>
              <a:ea typeface="Arial"/>
              <a:cs typeface="Arial"/>
              <a:sym typeface="Arial"/>
            </a:endParaRPr>
          </a:p>
        </p:txBody>
      </p:sp>
      <p:sp>
        <p:nvSpPr>
          <p:cNvPr id="204" name="Google Shape;204;p17"/>
          <p:cNvSpPr/>
          <p:nvPr/>
        </p:nvSpPr>
        <p:spPr>
          <a:xfrm>
            <a:off x="2377440" y="222192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SQLAlchemy 2.x + Alembic</a:t>
            </a:r>
            <a:endParaRPr b="0" sz="1100" strike="noStrike">
              <a:solidFill>
                <a:schemeClr val="dk1"/>
              </a:solidFill>
              <a:latin typeface="Arial"/>
              <a:ea typeface="Arial"/>
              <a:cs typeface="Arial"/>
              <a:sym typeface="Arial"/>
            </a:endParaRPr>
          </a:p>
        </p:txBody>
      </p:sp>
      <p:sp>
        <p:nvSpPr>
          <p:cNvPr id="205" name="Google Shape;205;p17"/>
          <p:cNvSpPr/>
          <p:nvPr/>
        </p:nvSpPr>
        <p:spPr>
          <a:xfrm>
            <a:off x="457200" y="2569320"/>
            <a:ext cx="5759640" cy="346320"/>
          </a:xfrm>
          <a:prstGeom prst="rect">
            <a:avLst/>
          </a:prstGeom>
          <a:solidFill>
            <a:srgbClr val="F4F6FB"/>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17"/>
          <p:cNvSpPr/>
          <p:nvPr/>
        </p:nvSpPr>
        <p:spPr>
          <a:xfrm>
            <a:off x="548640" y="256932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Database</a:t>
            </a:r>
            <a:endParaRPr b="0" sz="1100" strike="noStrike">
              <a:solidFill>
                <a:schemeClr val="dk1"/>
              </a:solidFill>
              <a:latin typeface="Arial"/>
              <a:ea typeface="Arial"/>
              <a:cs typeface="Arial"/>
              <a:sym typeface="Arial"/>
            </a:endParaRPr>
          </a:p>
        </p:txBody>
      </p:sp>
      <p:sp>
        <p:nvSpPr>
          <p:cNvPr id="207" name="Google Shape;207;p17"/>
          <p:cNvSpPr/>
          <p:nvPr/>
        </p:nvSpPr>
        <p:spPr>
          <a:xfrm>
            <a:off x="2377440" y="256932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PostgreSQL (prod) / SQLite (dev)</a:t>
            </a:r>
            <a:endParaRPr b="0" sz="1100" strike="noStrike">
              <a:solidFill>
                <a:schemeClr val="dk1"/>
              </a:solidFill>
              <a:latin typeface="Arial"/>
              <a:ea typeface="Arial"/>
              <a:cs typeface="Arial"/>
              <a:sym typeface="Arial"/>
            </a:endParaRPr>
          </a:p>
        </p:txBody>
      </p:sp>
      <p:sp>
        <p:nvSpPr>
          <p:cNvPr id="208" name="Google Shape;208;p17"/>
          <p:cNvSpPr/>
          <p:nvPr/>
        </p:nvSpPr>
        <p:spPr>
          <a:xfrm>
            <a:off x="548640" y="291708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Validation</a:t>
            </a:r>
            <a:endParaRPr b="0" sz="1100" strike="noStrike">
              <a:solidFill>
                <a:schemeClr val="dk1"/>
              </a:solidFill>
              <a:latin typeface="Arial"/>
              <a:ea typeface="Arial"/>
              <a:cs typeface="Arial"/>
              <a:sym typeface="Arial"/>
            </a:endParaRPr>
          </a:p>
        </p:txBody>
      </p:sp>
      <p:sp>
        <p:nvSpPr>
          <p:cNvPr id="209" name="Google Shape;209;p17"/>
          <p:cNvSpPr/>
          <p:nvPr/>
        </p:nvSpPr>
        <p:spPr>
          <a:xfrm>
            <a:off x="2377440" y="291708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Pydantic v2</a:t>
            </a:r>
            <a:endParaRPr b="0" sz="1100" strike="noStrike">
              <a:solidFill>
                <a:schemeClr val="dk1"/>
              </a:solidFill>
              <a:latin typeface="Arial"/>
              <a:ea typeface="Arial"/>
              <a:cs typeface="Arial"/>
              <a:sym typeface="Arial"/>
            </a:endParaRPr>
          </a:p>
        </p:txBody>
      </p:sp>
      <p:sp>
        <p:nvSpPr>
          <p:cNvPr id="210" name="Google Shape;210;p17"/>
          <p:cNvSpPr/>
          <p:nvPr/>
        </p:nvSpPr>
        <p:spPr>
          <a:xfrm>
            <a:off x="457200" y="3264480"/>
            <a:ext cx="5759640" cy="346320"/>
          </a:xfrm>
          <a:prstGeom prst="rect">
            <a:avLst/>
          </a:prstGeom>
          <a:solidFill>
            <a:srgbClr val="F4F6FB"/>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17"/>
          <p:cNvSpPr/>
          <p:nvPr/>
        </p:nvSpPr>
        <p:spPr>
          <a:xfrm>
            <a:off x="548640" y="326448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Embeddings</a:t>
            </a:r>
            <a:endParaRPr b="0" sz="1100" strike="noStrike">
              <a:solidFill>
                <a:schemeClr val="dk1"/>
              </a:solidFill>
              <a:latin typeface="Arial"/>
              <a:ea typeface="Arial"/>
              <a:cs typeface="Arial"/>
              <a:sym typeface="Arial"/>
            </a:endParaRPr>
          </a:p>
        </p:txBody>
      </p:sp>
      <p:sp>
        <p:nvSpPr>
          <p:cNvPr id="212" name="Google Shape;212;p17"/>
          <p:cNvSpPr/>
          <p:nvPr/>
        </p:nvSpPr>
        <p:spPr>
          <a:xfrm>
            <a:off x="2377440" y="326448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sentence-transformers (all-MiniLM-L6-v2)</a:t>
            </a:r>
            <a:endParaRPr b="0" sz="1100" strike="noStrike">
              <a:solidFill>
                <a:schemeClr val="dk1"/>
              </a:solidFill>
              <a:latin typeface="Arial"/>
              <a:ea typeface="Arial"/>
              <a:cs typeface="Arial"/>
              <a:sym typeface="Arial"/>
            </a:endParaRPr>
          </a:p>
        </p:txBody>
      </p:sp>
      <p:sp>
        <p:nvSpPr>
          <p:cNvPr id="213" name="Google Shape;213;p17"/>
          <p:cNvSpPr/>
          <p:nvPr/>
        </p:nvSpPr>
        <p:spPr>
          <a:xfrm>
            <a:off x="548640" y="361188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Clustering</a:t>
            </a:r>
            <a:endParaRPr b="0" sz="1100" strike="noStrike">
              <a:solidFill>
                <a:schemeClr val="dk1"/>
              </a:solidFill>
              <a:latin typeface="Arial"/>
              <a:ea typeface="Arial"/>
              <a:cs typeface="Arial"/>
              <a:sym typeface="Arial"/>
            </a:endParaRPr>
          </a:p>
        </p:txBody>
      </p:sp>
      <p:sp>
        <p:nvSpPr>
          <p:cNvPr id="214" name="Google Shape;214;p17"/>
          <p:cNvSpPr/>
          <p:nvPr/>
        </p:nvSpPr>
        <p:spPr>
          <a:xfrm>
            <a:off x="2377440" y="361188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scikit-learn (k-means), HDBSCAN</a:t>
            </a:r>
            <a:endParaRPr b="0" sz="1100" strike="noStrike">
              <a:solidFill>
                <a:schemeClr val="dk1"/>
              </a:solidFill>
              <a:latin typeface="Arial"/>
              <a:ea typeface="Arial"/>
              <a:cs typeface="Arial"/>
              <a:sym typeface="Arial"/>
            </a:endParaRPr>
          </a:p>
        </p:txBody>
      </p:sp>
      <p:sp>
        <p:nvSpPr>
          <p:cNvPr id="215" name="Google Shape;215;p17"/>
          <p:cNvSpPr/>
          <p:nvPr/>
        </p:nvSpPr>
        <p:spPr>
          <a:xfrm>
            <a:off x="457200" y="3959280"/>
            <a:ext cx="5759640" cy="346320"/>
          </a:xfrm>
          <a:prstGeom prst="rect">
            <a:avLst/>
          </a:prstGeom>
          <a:solidFill>
            <a:srgbClr val="F4F6FB"/>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17"/>
          <p:cNvSpPr/>
          <p:nvPr/>
        </p:nvSpPr>
        <p:spPr>
          <a:xfrm>
            <a:off x="548640" y="395928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LLM</a:t>
            </a:r>
            <a:endParaRPr b="0" sz="1100" strike="noStrike">
              <a:solidFill>
                <a:schemeClr val="dk1"/>
              </a:solidFill>
              <a:latin typeface="Arial"/>
              <a:ea typeface="Arial"/>
              <a:cs typeface="Arial"/>
              <a:sym typeface="Arial"/>
            </a:endParaRPr>
          </a:p>
        </p:txBody>
      </p:sp>
      <p:sp>
        <p:nvSpPr>
          <p:cNvPr id="217" name="Google Shape;217;p17"/>
          <p:cNvSpPr/>
          <p:nvPr/>
        </p:nvSpPr>
        <p:spPr>
          <a:xfrm>
            <a:off x="2377440" y="395928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OpenRouter (DeepSeek / Grok)</a:t>
            </a:r>
            <a:endParaRPr b="0" sz="1100" strike="noStrike">
              <a:solidFill>
                <a:schemeClr val="dk1"/>
              </a:solidFill>
              <a:latin typeface="Arial"/>
              <a:ea typeface="Arial"/>
              <a:cs typeface="Arial"/>
              <a:sym typeface="Arial"/>
            </a:endParaRPr>
          </a:p>
        </p:txBody>
      </p:sp>
      <p:sp>
        <p:nvSpPr>
          <p:cNvPr id="218" name="Google Shape;218;p17"/>
          <p:cNvSpPr/>
          <p:nvPr/>
        </p:nvSpPr>
        <p:spPr>
          <a:xfrm>
            <a:off x="548640" y="430668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Frontend</a:t>
            </a:r>
            <a:endParaRPr b="0" sz="1100" strike="noStrike">
              <a:solidFill>
                <a:schemeClr val="dk1"/>
              </a:solidFill>
              <a:latin typeface="Arial"/>
              <a:ea typeface="Arial"/>
              <a:cs typeface="Arial"/>
              <a:sym typeface="Arial"/>
            </a:endParaRPr>
          </a:p>
        </p:txBody>
      </p:sp>
      <p:sp>
        <p:nvSpPr>
          <p:cNvPr id="219" name="Google Shape;219;p17"/>
          <p:cNvSpPr/>
          <p:nvPr/>
        </p:nvSpPr>
        <p:spPr>
          <a:xfrm>
            <a:off x="2377440" y="430668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lang="en-US" sz="1100">
                <a:solidFill>
                  <a:srgbClr val="2A2F4A"/>
                </a:solidFill>
                <a:latin typeface="Consolas"/>
                <a:ea typeface="Consolas"/>
                <a:cs typeface="Consolas"/>
                <a:sym typeface="Consolas"/>
              </a:rPr>
              <a:t>Simple html UI</a:t>
            </a:r>
            <a:r>
              <a:rPr b="0" lang="en-US" sz="1100" strike="noStrike">
                <a:solidFill>
                  <a:srgbClr val="2A2F4A"/>
                </a:solidFill>
                <a:latin typeface="Consolas"/>
                <a:ea typeface="Consolas"/>
                <a:cs typeface="Consolas"/>
                <a:sym typeface="Consolas"/>
              </a:rPr>
              <a:t> — React optional later</a:t>
            </a:r>
            <a:endParaRPr b="0" sz="1100" strike="noStrike">
              <a:solidFill>
                <a:schemeClr val="dk1"/>
              </a:solidFill>
              <a:latin typeface="Arial"/>
              <a:ea typeface="Arial"/>
              <a:cs typeface="Arial"/>
              <a:sym typeface="Arial"/>
            </a:endParaRPr>
          </a:p>
        </p:txBody>
      </p:sp>
      <p:sp>
        <p:nvSpPr>
          <p:cNvPr id="220" name="Google Shape;220;p17"/>
          <p:cNvSpPr/>
          <p:nvPr/>
        </p:nvSpPr>
        <p:spPr>
          <a:xfrm>
            <a:off x="457200" y="4654440"/>
            <a:ext cx="5759640" cy="346320"/>
          </a:xfrm>
          <a:prstGeom prst="rect">
            <a:avLst/>
          </a:prstGeom>
          <a:solidFill>
            <a:srgbClr val="F4F6FB"/>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17"/>
          <p:cNvSpPr/>
          <p:nvPr/>
        </p:nvSpPr>
        <p:spPr>
          <a:xfrm>
            <a:off x="548640" y="4654440"/>
            <a:ext cx="182772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Testing</a:t>
            </a:r>
            <a:endParaRPr b="0" sz="1100" strike="noStrike">
              <a:solidFill>
                <a:schemeClr val="dk1"/>
              </a:solidFill>
              <a:latin typeface="Arial"/>
              <a:ea typeface="Arial"/>
              <a:cs typeface="Arial"/>
              <a:sym typeface="Arial"/>
            </a:endParaRPr>
          </a:p>
        </p:txBody>
      </p:sp>
      <p:sp>
        <p:nvSpPr>
          <p:cNvPr id="222" name="Google Shape;222;p17"/>
          <p:cNvSpPr/>
          <p:nvPr/>
        </p:nvSpPr>
        <p:spPr>
          <a:xfrm>
            <a:off x="2377440" y="4654440"/>
            <a:ext cx="3839400" cy="346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onsolas"/>
              <a:buNone/>
            </a:pPr>
            <a:r>
              <a:rPr b="0" lang="en-US" sz="1100" strike="noStrike">
                <a:solidFill>
                  <a:srgbClr val="2A2F4A"/>
                </a:solidFill>
                <a:latin typeface="Consolas"/>
                <a:ea typeface="Consolas"/>
                <a:cs typeface="Consolas"/>
                <a:sym typeface="Consolas"/>
              </a:rPr>
              <a:t>pytest + httpx</a:t>
            </a:r>
            <a:endParaRPr b="0" sz="1100" strike="noStrike">
              <a:solidFill>
                <a:schemeClr val="dk1"/>
              </a:solidFill>
              <a:latin typeface="Arial"/>
              <a:ea typeface="Arial"/>
              <a:cs typeface="Arial"/>
              <a:sym typeface="Arial"/>
            </a:endParaRPr>
          </a:p>
        </p:txBody>
      </p:sp>
      <p:sp>
        <p:nvSpPr>
          <p:cNvPr id="223" name="Google Shape;223;p17"/>
          <p:cNvSpPr/>
          <p:nvPr/>
        </p:nvSpPr>
        <p:spPr>
          <a:xfrm>
            <a:off x="6583680" y="1325880"/>
            <a:ext cx="5119560" cy="50281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17"/>
          <p:cNvSpPr/>
          <p:nvPr/>
        </p:nvSpPr>
        <p:spPr>
          <a:xfrm>
            <a:off x="6583680" y="1325880"/>
            <a:ext cx="511956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17"/>
          <p:cNvSpPr/>
          <p:nvPr/>
        </p:nvSpPr>
        <p:spPr>
          <a:xfrm>
            <a:off x="6812280" y="1554480"/>
            <a:ext cx="475380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000"/>
              <a:buFont typeface="Calibri"/>
              <a:buNone/>
            </a:pPr>
            <a:r>
              <a:rPr b="1" lang="en-US" sz="1000" strike="noStrike">
                <a:solidFill>
                  <a:srgbClr val="C9A961"/>
                </a:solidFill>
                <a:latin typeface="Calibri"/>
                <a:ea typeface="Calibri"/>
                <a:cs typeface="Calibri"/>
                <a:sym typeface="Calibri"/>
              </a:rPr>
              <a:t>DATASET</a:t>
            </a:r>
            <a:endParaRPr b="0" sz="1000" strike="noStrike">
              <a:solidFill>
                <a:schemeClr val="dk1"/>
              </a:solidFill>
              <a:latin typeface="Arial"/>
              <a:ea typeface="Arial"/>
              <a:cs typeface="Arial"/>
              <a:sym typeface="Arial"/>
            </a:endParaRPr>
          </a:p>
        </p:txBody>
      </p:sp>
      <p:sp>
        <p:nvSpPr>
          <p:cNvPr id="226" name="Google Shape;226;p17"/>
          <p:cNvSpPr/>
          <p:nvPr/>
        </p:nvSpPr>
        <p:spPr>
          <a:xfrm>
            <a:off x="6812280" y="1874520"/>
            <a:ext cx="475380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Georgia"/>
              <a:buNone/>
            </a:pPr>
            <a:r>
              <a:rPr b="1" lang="en-US" sz="2800" strike="noStrike">
                <a:solidFill>
                  <a:srgbClr val="FFFFFF"/>
                </a:solidFill>
                <a:latin typeface="Georgia"/>
                <a:ea typeface="Georgia"/>
                <a:cs typeface="Georgia"/>
                <a:sym typeface="Georgia"/>
              </a:rPr>
              <a:t>Amazon Reviews</a:t>
            </a:r>
            <a:endParaRPr b="0" sz="2800" strike="noStrike">
              <a:solidFill>
                <a:schemeClr val="dk1"/>
              </a:solidFill>
              <a:latin typeface="Arial"/>
              <a:ea typeface="Arial"/>
              <a:cs typeface="Arial"/>
              <a:sym typeface="Arial"/>
            </a:endParaRPr>
          </a:p>
        </p:txBody>
      </p:sp>
      <p:sp>
        <p:nvSpPr>
          <p:cNvPr id="227" name="Google Shape;227;p17"/>
          <p:cNvSpPr/>
          <p:nvPr/>
        </p:nvSpPr>
        <p:spPr>
          <a:xfrm>
            <a:off x="6812280" y="2423160"/>
            <a:ext cx="475380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300"/>
              <a:buFont typeface="Calibri"/>
              <a:buNone/>
            </a:pPr>
            <a:r>
              <a:rPr b="0" i="1" lang="en-US" sz="1300" strike="noStrike">
                <a:solidFill>
                  <a:srgbClr val="CADCFC"/>
                </a:solidFill>
                <a:latin typeface="Calibri"/>
                <a:ea typeface="Calibri"/>
                <a:cs typeface="Calibri"/>
                <a:sym typeface="Calibri"/>
              </a:rPr>
              <a:t>Subset · 1,500 records</a:t>
            </a:r>
            <a:endParaRPr b="0" sz="1300" strike="noStrike">
              <a:solidFill>
                <a:schemeClr val="dk1"/>
              </a:solidFill>
              <a:latin typeface="Arial"/>
              <a:ea typeface="Arial"/>
              <a:cs typeface="Arial"/>
              <a:sym typeface="Arial"/>
            </a:endParaRPr>
          </a:p>
        </p:txBody>
      </p:sp>
      <p:cxnSp>
        <p:nvCxnSpPr>
          <p:cNvPr id="228" name="Google Shape;228;p17"/>
          <p:cNvCxnSpPr/>
          <p:nvPr/>
        </p:nvCxnSpPr>
        <p:spPr>
          <a:xfrm>
            <a:off x="6812280" y="2880360"/>
            <a:ext cx="640080" cy="360"/>
          </a:xfrm>
          <a:prstGeom prst="straightConnector1">
            <a:avLst/>
          </a:prstGeom>
          <a:noFill/>
          <a:ln cap="flat" cmpd="sng" w="25400">
            <a:solidFill>
              <a:srgbClr val="C9A961"/>
            </a:solidFill>
            <a:prstDash val="solid"/>
            <a:round/>
            <a:headEnd len="sm" w="sm" type="none"/>
            <a:tailEnd len="sm" w="sm" type="none"/>
          </a:ln>
        </p:spPr>
      </p:cxnSp>
      <p:sp>
        <p:nvSpPr>
          <p:cNvPr id="229" name="Google Shape;229;p17"/>
          <p:cNvSpPr/>
          <p:nvPr/>
        </p:nvSpPr>
        <p:spPr>
          <a:xfrm>
            <a:off x="6812280" y="318204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17"/>
          <p:cNvSpPr/>
          <p:nvPr/>
        </p:nvSpPr>
        <p:spPr>
          <a:xfrm>
            <a:off x="7040880" y="3008348"/>
            <a:ext cx="452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Plausible-but-not-obvious clusters — the conversation actually matters</a:t>
            </a:r>
            <a:endParaRPr b="0" sz="1100" strike="noStrike">
              <a:solidFill>
                <a:schemeClr val="dk1"/>
              </a:solidFill>
              <a:latin typeface="Arial"/>
              <a:ea typeface="Arial"/>
              <a:cs typeface="Arial"/>
              <a:sym typeface="Arial"/>
            </a:endParaRPr>
          </a:p>
        </p:txBody>
      </p:sp>
      <p:sp>
        <p:nvSpPr>
          <p:cNvPr id="231" name="Google Shape;231;p17"/>
          <p:cNvSpPr/>
          <p:nvPr/>
        </p:nvSpPr>
        <p:spPr>
          <a:xfrm>
            <a:off x="6812280" y="368496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17"/>
          <p:cNvSpPr/>
          <p:nvPr/>
        </p:nvSpPr>
        <p:spPr>
          <a:xfrm>
            <a:off x="7040880" y="3511268"/>
            <a:ext cx="452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Universal domain: anyone in the group can judge whether a clustering makes sense</a:t>
            </a:r>
            <a:endParaRPr b="0" sz="1100" strike="noStrike">
              <a:solidFill>
                <a:schemeClr val="dk1"/>
              </a:solidFill>
              <a:latin typeface="Arial"/>
              <a:ea typeface="Arial"/>
              <a:cs typeface="Arial"/>
              <a:sym typeface="Arial"/>
            </a:endParaRPr>
          </a:p>
        </p:txBody>
      </p:sp>
      <p:sp>
        <p:nvSpPr>
          <p:cNvPr id="233" name="Google Shape;233;p17"/>
          <p:cNvSpPr/>
          <p:nvPr/>
        </p:nvSpPr>
        <p:spPr>
          <a:xfrm>
            <a:off x="6812280" y="418788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 name="Google Shape;234;p17"/>
          <p:cNvSpPr/>
          <p:nvPr/>
        </p:nvSpPr>
        <p:spPr>
          <a:xfrm>
            <a:off x="7040880" y="4014188"/>
            <a:ext cx="452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Ground truth exists (stars, category) but isn't the only sensible split</a:t>
            </a:r>
            <a:endParaRPr b="0" sz="1100" strike="noStrike">
              <a:solidFill>
                <a:schemeClr val="dk1"/>
              </a:solidFill>
              <a:latin typeface="Arial"/>
              <a:ea typeface="Arial"/>
              <a:cs typeface="Arial"/>
              <a:sym typeface="Arial"/>
            </a:endParaRPr>
          </a:p>
        </p:txBody>
      </p:sp>
      <p:sp>
        <p:nvSpPr>
          <p:cNvPr id="235" name="Google Shape;235;p17"/>
          <p:cNvSpPr/>
          <p:nvPr/>
        </p:nvSpPr>
        <p:spPr>
          <a:xfrm>
            <a:off x="6812280" y="469080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17"/>
          <p:cNvSpPr/>
          <p:nvPr/>
        </p:nvSpPr>
        <p:spPr>
          <a:xfrm>
            <a:off x="7040880" y="4517108"/>
            <a:ext cx="452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Mature, well documented, trivial to download via Kaggle</a:t>
            </a:r>
            <a:endParaRPr b="0" sz="1100" strike="noStrike">
              <a:solidFill>
                <a:schemeClr val="dk1"/>
              </a:solidFill>
              <a:latin typeface="Arial"/>
              <a:ea typeface="Arial"/>
              <a:cs typeface="Arial"/>
              <a:sym typeface="Arial"/>
            </a:endParaRPr>
          </a:p>
        </p:txBody>
      </p:sp>
      <p:sp>
        <p:nvSpPr>
          <p:cNvPr id="237" name="Google Shape;237;p17"/>
          <p:cNvSpPr/>
          <p:nvPr/>
        </p:nvSpPr>
        <p:spPr>
          <a:xfrm>
            <a:off x="6812280" y="519372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17"/>
          <p:cNvSpPr/>
          <p:nvPr/>
        </p:nvSpPr>
        <p:spPr>
          <a:xfrm>
            <a:off x="7040880" y="5020028"/>
            <a:ext cx="4525200" cy="4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1,500 records: meaningful clusters, fast embedding times in dev</a:t>
            </a:r>
            <a:endParaRPr b="0" sz="1100" strike="noStrike">
              <a:solidFill>
                <a:schemeClr val="dk1"/>
              </a:solidFill>
              <a:latin typeface="Arial"/>
              <a:ea typeface="Arial"/>
              <a:cs typeface="Arial"/>
              <a:sym typeface="Arial"/>
            </a:endParaRPr>
          </a:p>
        </p:txBody>
      </p:sp>
      <p:sp>
        <p:nvSpPr>
          <p:cNvPr id="239" name="Google Shape;239;p17"/>
          <p:cNvSpPr/>
          <p:nvPr/>
        </p:nvSpPr>
        <p:spPr>
          <a:xfrm>
            <a:off x="6812280" y="5806440"/>
            <a:ext cx="4753800" cy="410400"/>
          </a:xfrm>
          <a:prstGeom prst="rect">
            <a:avLst/>
          </a:prstGeom>
          <a:solidFill>
            <a:srgbClr val="16204E"/>
          </a:solidFill>
          <a:ln cap="flat" cmpd="sng" w="9525">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17"/>
          <p:cNvSpPr/>
          <p:nvPr/>
        </p:nvSpPr>
        <p:spPr>
          <a:xfrm>
            <a:off x="6903720" y="5806440"/>
            <a:ext cx="4570920" cy="41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300"/>
              <a:buFont typeface="Calibri"/>
              <a:buNone/>
            </a:pPr>
            <a:r>
              <a:rPr b="1" lang="en-US" sz="1300" strike="noStrike">
                <a:solidFill>
                  <a:srgbClr val="C9A961"/>
                </a:solidFill>
                <a:latin typeface="Calibri"/>
                <a:ea typeface="Calibri"/>
                <a:cs typeface="Calibri"/>
                <a:sym typeface="Calibri"/>
              </a:rPr>
              <a:t>1,200</a:t>
            </a:r>
            <a:r>
              <a:rPr b="0" lang="en-US" sz="1100" strike="noStrike">
                <a:solidFill>
                  <a:srgbClr val="CADCFC"/>
                </a:solidFill>
                <a:latin typeface="Calibri"/>
                <a:ea typeface="Calibri"/>
                <a:cs typeface="Calibri"/>
                <a:sym typeface="Calibri"/>
              </a:rPr>
              <a:t> train  ·  </a:t>
            </a:r>
            <a:r>
              <a:rPr b="1" lang="en-US" sz="1300" strike="noStrike">
                <a:solidFill>
                  <a:srgbClr val="C9A961"/>
                </a:solidFill>
                <a:latin typeface="Calibri"/>
                <a:ea typeface="Calibri"/>
                <a:cs typeface="Calibri"/>
                <a:sym typeface="Calibri"/>
              </a:rPr>
              <a:t>300</a:t>
            </a:r>
            <a:r>
              <a:rPr b="0" lang="en-US" sz="1100" strike="noStrike">
                <a:solidFill>
                  <a:srgbClr val="CADCFC"/>
                </a:solidFill>
                <a:latin typeface="Calibri"/>
                <a:ea typeface="Calibri"/>
                <a:cs typeface="Calibri"/>
                <a:sym typeface="Calibri"/>
              </a:rPr>
              <a:t> frozen for final eval (never touched)</a:t>
            </a:r>
            <a:endParaRPr b="0" sz="1100" strike="noStrike">
              <a:solidFill>
                <a:schemeClr val="dk1"/>
              </a:solidFill>
              <a:latin typeface="Arial"/>
              <a:ea typeface="Arial"/>
              <a:cs typeface="Arial"/>
              <a:sym typeface="Arial"/>
            </a:endParaRPr>
          </a:p>
        </p:txBody>
      </p:sp>
      <p:sp>
        <p:nvSpPr>
          <p:cNvPr id="241" name="Google Shape;241;p17"/>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242" name="Google Shape;242;p17"/>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10 / 10</a:t>
            </a:r>
            <a:endParaRPr b="0" sz="900"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18"/>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49" name="Google Shape;249;p18"/>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250" name="Google Shape;250;p18"/>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Embedding strategy</a:t>
            </a:r>
            <a:endParaRPr b="0" sz="2600" strike="noStrike">
              <a:solidFill>
                <a:schemeClr val="dk1"/>
              </a:solidFill>
              <a:latin typeface="Arial"/>
              <a:ea typeface="Arial"/>
              <a:cs typeface="Arial"/>
              <a:sym typeface="Arial"/>
            </a:endParaRPr>
          </a:p>
        </p:txBody>
      </p:sp>
      <p:sp>
        <p:nvSpPr>
          <p:cNvPr id="251" name="Google Shape;251;p18"/>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STEP 3 OF 10</a:t>
            </a:r>
            <a:endParaRPr b="0" sz="900" strike="noStrike">
              <a:solidFill>
                <a:schemeClr val="dk1"/>
              </a:solidFill>
              <a:latin typeface="Arial"/>
              <a:ea typeface="Arial"/>
              <a:cs typeface="Arial"/>
              <a:sym typeface="Arial"/>
            </a:endParaRPr>
          </a:p>
        </p:txBody>
      </p:sp>
      <p:cxnSp>
        <p:nvCxnSpPr>
          <p:cNvPr id="252" name="Google Shape;252;p18"/>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253" name="Google Shape;253;p18"/>
          <p:cNvSpPr/>
          <p:nvPr/>
        </p:nvSpPr>
        <p:spPr>
          <a:xfrm>
            <a:off x="457200" y="1280160"/>
            <a:ext cx="11246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Starting question: is it too expensive to re-embed every time the oracle asks for a different clustering? No — we embed once, store, and never recompute.</a:t>
            </a:r>
            <a:endParaRPr b="0" sz="1200" strike="noStrike">
              <a:solidFill>
                <a:schemeClr val="dk1"/>
              </a:solidFill>
              <a:latin typeface="Arial"/>
              <a:ea typeface="Arial"/>
              <a:cs typeface="Arial"/>
              <a:sym typeface="Arial"/>
            </a:endParaRPr>
          </a:p>
        </p:txBody>
      </p:sp>
      <p:sp>
        <p:nvSpPr>
          <p:cNvPr id="254" name="Google Shape;254;p18"/>
          <p:cNvSpPr/>
          <p:nvPr/>
        </p:nvSpPr>
        <p:spPr>
          <a:xfrm>
            <a:off x="457200" y="1874520"/>
            <a:ext cx="5759640" cy="20563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18"/>
          <p:cNvSpPr/>
          <p:nvPr/>
        </p:nvSpPr>
        <p:spPr>
          <a:xfrm>
            <a:off x="457200" y="1874520"/>
            <a:ext cx="108720" cy="205632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 name="Google Shape;256;p18"/>
          <p:cNvSpPr/>
          <p:nvPr/>
        </p:nvSpPr>
        <p:spPr>
          <a:xfrm>
            <a:off x="731520" y="2011680"/>
            <a:ext cx="530244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000"/>
              <a:buFont typeface="Calibri"/>
              <a:buNone/>
            </a:pPr>
            <a:r>
              <a:rPr b="1" lang="en-US" sz="1000" strike="noStrike">
                <a:solidFill>
                  <a:srgbClr val="C9A961"/>
                </a:solidFill>
                <a:latin typeface="Calibri"/>
                <a:ea typeface="Calibri"/>
                <a:cs typeface="Calibri"/>
                <a:sym typeface="Calibri"/>
              </a:rPr>
              <a:t>THE INSIGHT</a:t>
            </a:r>
            <a:endParaRPr b="0" sz="1000" strike="noStrike">
              <a:solidFill>
                <a:schemeClr val="dk1"/>
              </a:solidFill>
              <a:latin typeface="Arial"/>
              <a:ea typeface="Arial"/>
              <a:cs typeface="Arial"/>
              <a:sym typeface="Arial"/>
            </a:endParaRPr>
          </a:p>
        </p:txBody>
      </p:sp>
      <p:sp>
        <p:nvSpPr>
          <p:cNvPr id="257" name="Google Shape;257;p18"/>
          <p:cNvSpPr/>
          <p:nvPr/>
        </p:nvSpPr>
        <p:spPr>
          <a:xfrm>
            <a:off x="731520" y="2286000"/>
            <a:ext cx="53024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Georgia"/>
              <a:buNone/>
            </a:pPr>
            <a:r>
              <a:rPr b="1" lang="en-US" sz="2600" strike="noStrike">
                <a:solidFill>
                  <a:srgbClr val="FFFFFF"/>
                </a:solidFill>
                <a:latin typeface="Georgia"/>
                <a:ea typeface="Georgia"/>
                <a:cs typeface="Georgia"/>
                <a:sym typeface="Georgia"/>
              </a:rPr>
              <a:t>Embed once.</a:t>
            </a:r>
            <a:endParaRPr b="0" sz="2600" strike="noStrike">
              <a:solidFill>
                <a:schemeClr val="dk1"/>
              </a:solidFill>
              <a:latin typeface="Arial"/>
              <a:ea typeface="Arial"/>
              <a:cs typeface="Arial"/>
              <a:sym typeface="Arial"/>
            </a:endParaRPr>
          </a:p>
        </p:txBody>
      </p:sp>
      <p:sp>
        <p:nvSpPr>
          <p:cNvPr id="258" name="Google Shape;258;p18"/>
          <p:cNvSpPr/>
          <p:nvPr/>
        </p:nvSpPr>
        <p:spPr>
          <a:xfrm>
            <a:off x="731520" y="2788920"/>
            <a:ext cx="53024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2600"/>
              <a:buFont typeface="Georgia"/>
              <a:buNone/>
            </a:pPr>
            <a:r>
              <a:rPr b="1" i="1" lang="en-US" sz="2600" strike="noStrike">
                <a:solidFill>
                  <a:srgbClr val="CADCFC"/>
                </a:solidFill>
                <a:latin typeface="Georgia"/>
                <a:ea typeface="Georgia"/>
                <a:cs typeface="Georgia"/>
                <a:sym typeface="Georgia"/>
              </a:rPr>
              <a:t>Cluster many times.</a:t>
            </a:r>
            <a:endParaRPr b="0" sz="2600" strike="noStrike">
              <a:solidFill>
                <a:schemeClr val="dk1"/>
              </a:solidFill>
              <a:latin typeface="Arial"/>
              <a:ea typeface="Arial"/>
              <a:cs typeface="Arial"/>
              <a:sym typeface="Arial"/>
            </a:endParaRPr>
          </a:p>
        </p:txBody>
      </p:sp>
      <p:sp>
        <p:nvSpPr>
          <p:cNvPr id="259" name="Google Shape;259;p18"/>
          <p:cNvSpPr/>
          <p:nvPr/>
        </p:nvSpPr>
        <p:spPr>
          <a:xfrm>
            <a:off x="731520" y="3383280"/>
            <a:ext cx="1690560" cy="29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700"/>
              <a:buFont typeface="Georgia"/>
              <a:buNone/>
            </a:pPr>
            <a:r>
              <a:rPr b="1" lang="en-US" sz="1700" strike="noStrike">
                <a:solidFill>
                  <a:srgbClr val="C9A961"/>
                </a:solidFill>
                <a:latin typeface="Georgia"/>
                <a:ea typeface="Georgia"/>
                <a:cs typeface="Georgia"/>
                <a:sym typeface="Georgia"/>
              </a:rPr>
              <a:t>~20s</a:t>
            </a:r>
            <a:endParaRPr b="0" sz="1700" strike="noStrike">
              <a:solidFill>
                <a:schemeClr val="dk1"/>
              </a:solidFill>
              <a:latin typeface="Arial"/>
              <a:ea typeface="Arial"/>
              <a:cs typeface="Arial"/>
              <a:sym typeface="Arial"/>
            </a:endParaRPr>
          </a:p>
        </p:txBody>
      </p:sp>
      <p:sp>
        <p:nvSpPr>
          <p:cNvPr id="260" name="Google Shape;260;p18"/>
          <p:cNvSpPr/>
          <p:nvPr/>
        </p:nvSpPr>
        <p:spPr>
          <a:xfrm>
            <a:off x="731520" y="3657600"/>
            <a:ext cx="1690560" cy="20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800"/>
              <a:buFont typeface="Calibri"/>
              <a:buNone/>
            </a:pPr>
            <a:r>
              <a:rPr b="0" lang="en-US" sz="800" strike="noStrike">
                <a:solidFill>
                  <a:srgbClr val="CADCFC"/>
                </a:solidFill>
                <a:latin typeface="Calibri"/>
                <a:ea typeface="Calibri"/>
                <a:cs typeface="Calibri"/>
                <a:sym typeface="Calibri"/>
              </a:rPr>
              <a:t>to embed 1,200 records</a:t>
            </a:r>
            <a:endParaRPr b="0" sz="800" strike="noStrike">
              <a:solidFill>
                <a:schemeClr val="dk1"/>
              </a:solidFill>
              <a:latin typeface="Arial"/>
              <a:ea typeface="Arial"/>
              <a:cs typeface="Arial"/>
              <a:sym typeface="Arial"/>
            </a:endParaRPr>
          </a:p>
        </p:txBody>
      </p:sp>
      <p:sp>
        <p:nvSpPr>
          <p:cNvPr id="261" name="Google Shape;261;p18"/>
          <p:cNvSpPr/>
          <p:nvPr/>
        </p:nvSpPr>
        <p:spPr>
          <a:xfrm>
            <a:off x="2487240" y="3383280"/>
            <a:ext cx="1690560" cy="29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700"/>
              <a:buFont typeface="Georgia"/>
              <a:buNone/>
            </a:pPr>
            <a:r>
              <a:rPr b="1" lang="en-US" sz="1700" strike="noStrike">
                <a:solidFill>
                  <a:srgbClr val="C9A961"/>
                </a:solidFill>
                <a:latin typeface="Georgia"/>
                <a:ea typeface="Georgia"/>
                <a:cs typeface="Georgia"/>
                <a:sym typeface="Georgia"/>
              </a:rPr>
              <a:t>1×</a:t>
            </a:r>
            <a:endParaRPr b="0" sz="1700" strike="noStrike">
              <a:solidFill>
                <a:schemeClr val="dk1"/>
              </a:solidFill>
              <a:latin typeface="Arial"/>
              <a:ea typeface="Arial"/>
              <a:cs typeface="Arial"/>
              <a:sym typeface="Arial"/>
            </a:endParaRPr>
          </a:p>
        </p:txBody>
      </p:sp>
      <p:sp>
        <p:nvSpPr>
          <p:cNvPr id="262" name="Google Shape;262;p18"/>
          <p:cNvSpPr/>
          <p:nvPr/>
        </p:nvSpPr>
        <p:spPr>
          <a:xfrm>
            <a:off x="2487240" y="3657600"/>
            <a:ext cx="1690560" cy="20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800"/>
              <a:buFont typeface="Calibri"/>
              <a:buNone/>
            </a:pPr>
            <a:r>
              <a:rPr b="0" lang="en-US" sz="800" strike="noStrike">
                <a:solidFill>
                  <a:srgbClr val="CADCFC"/>
                </a:solidFill>
                <a:latin typeface="Calibri"/>
                <a:ea typeface="Calibri"/>
                <a:cs typeface="Calibri"/>
                <a:sym typeface="Calibri"/>
              </a:rPr>
              <a:t>computed, stored on DB</a:t>
            </a:r>
            <a:endParaRPr b="0" sz="800" strike="noStrike">
              <a:solidFill>
                <a:schemeClr val="dk1"/>
              </a:solidFill>
              <a:latin typeface="Arial"/>
              <a:ea typeface="Arial"/>
              <a:cs typeface="Arial"/>
              <a:sym typeface="Arial"/>
            </a:endParaRPr>
          </a:p>
        </p:txBody>
      </p:sp>
      <p:sp>
        <p:nvSpPr>
          <p:cNvPr id="263" name="Google Shape;263;p18"/>
          <p:cNvSpPr/>
          <p:nvPr/>
        </p:nvSpPr>
        <p:spPr>
          <a:xfrm>
            <a:off x="4242960" y="3383280"/>
            <a:ext cx="1690560" cy="29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700"/>
              <a:buFont typeface="Georgia"/>
              <a:buNone/>
            </a:pPr>
            <a:r>
              <a:rPr b="1" lang="en-US" sz="1700" strike="noStrike">
                <a:solidFill>
                  <a:srgbClr val="C9A961"/>
                </a:solidFill>
                <a:latin typeface="Georgia"/>
                <a:ea typeface="Georgia"/>
                <a:cs typeface="Georgia"/>
                <a:sym typeface="Georgia"/>
              </a:rPr>
              <a:t>0</a:t>
            </a:r>
            <a:endParaRPr b="0" sz="1700" strike="noStrike">
              <a:solidFill>
                <a:schemeClr val="dk1"/>
              </a:solidFill>
              <a:latin typeface="Arial"/>
              <a:ea typeface="Arial"/>
              <a:cs typeface="Arial"/>
              <a:sym typeface="Arial"/>
            </a:endParaRPr>
          </a:p>
        </p:txBody>
      </p:sp>
      <p:sp>
        <p:nvSpPr>
          <p:cNvPr id="264" name="Google Shape;264;p18"/>
          <p:cNvSpPr/>
          <p:nvPr/>
        </p:nvSpPr>
        <p:spPr>
          <a:xfrm>
            <a:off x="4242960" y="3657600"/>
            <a:ext cx="1690560" cy="20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800"/>
              <a:buFont typeface="Calibri"/>
              <a:buNone/>
            </a:pPr>
            <a:r>
              <a:rPr b="0" lang="en-US" sz="800" strike="noStrike">
                <a:solidFill>
                  <a:srgbClr val="CADCFC"/>
                </a:solidFill>
                <a:latin typeface="Calibri"/>
                <a:ea typeface="Calibri"/>
                <a:cs typeface="Calibri"/>
                <a:sym typeface="Calibri"/>
              </a:rPr>
              <a:t>GPUs required</a:t>
            </a:r>
            <a:endParaRPr b="0" sz="800" strike="noStrike">
              <a:solidFill>
                <a:schemeClr val="dk1"/>
              </a:solidFill>
              <a:latin typeface="Arial"/>
              <a:ea typeface="Arial"/>
              <a:cs typeface="Arial"/>
              <a:sym typeface="Arial"/>
            </a:endParaRPr>
          </a:p>
        </p:txBody>
      </p:sp>
      <p:sp>
        <p:nvSpPr>
          <p:cNvPr id="265" name="Google Shape;265;p18"/>
          <p:cNvSpPr/>
          <p:nvPr/>
        </p:nvSpPr>
        <p:spPr>
          <a:xfrm>
            <a:off x="457200" y="4114800"/>
            <a:ext cx="575964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Georgia"/>
              <a:buNone/>
            </a:pPr>
            <a:r>
              <a:rPr b="1" lang="en-US" sz="1400" strike="noStrike">
                <a:solidFill>
                  <a:srgbClr val="1E2761"/>
                </a:solidFill>
                <a:latin typeface="Georgia"/>
                <a:ea typeface="Georgia"/>
                <a:cs typeface="Georgia"/>
                <a:sym typeface="Georgia"/>
              </a:rPr>
              <a:t>Why once is enough</a:t>
            </a:r>
            <a:endParaRPr b="0" sz="1400" strike="noStrike">
              <a:solidFill>
                <a:schemeClr val="dk1"/>
              </a:solidFill>
              <a:latin typeface="Arial"/>
              <a:ea typeface="Arial"/>
              <a:cs typeface="Arial"/>
              <a:sym typeface="Arial"/>
            </a:endParaRPr>
          </a:p>
        </p:txBody>
      </p:sp>
      <p:cxnSp>
        <p:nvCxnSpPr>
          <p:cNvPr id="266" name="Google Shape;266;p18"/>
          <p:cNvCxnSpPr/>
          <p:nvPr/>
        </p:nvCxnSpPr>
        <p:spPr>
          <a:xfrm>
            <a:off x="457200" y="4434840"/>
            <a:ext cx="457200" cy="360"/>
          </a:xfrm>
          <a:prstGeom prst="straightConnector1">
            <a:avLst/>
          </a:prstGeom>
          <a:noFill/>
          <a:ln cap="flat" cmpd="sng" w="25400">
            <a:solidFill>
              <a:srgbClr val="C9A961"/>
            </a:solidFill>
            <a:prstDash val="solid"/>
            <a:round/>
            <a:headEnd len="sm" w="sm" type="none"/>
            <a:tailEnd len="sm" w="sm" type="none"/>
          </a:ln>
        </p:spPr>
      </p:cxnSp>
      <p:sp>
        <p:nvSpPr>
          <p:cNvPr id="267" name="Google Shape;267;p18"/>
          <p:cNvSpPr/>
          <p:nvPr/>
        </p:nvSpPr>
        <p:spPr>
          <a:xfrm>
            <a:off x="457200" y="4526280"/>
            <a:ext cx="5759640" cy="109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200"/>
              <a:buFont typeface="Calibri"/>
              <a:buNone/>
            </a:pPr>
            <a:r>
              <a:rPr b="0" lang="en-US" sz="1200" strike="noStrike">
                <a:solidFill>
                  <a:srgbClr val="2A2F4A"/>
                </a:solidFill>
                <a:latin typeface="Calibri"/>
                <a:ea typeface="Calibri"/>
                <a:cs typeface="Calibri"/>
                <a:sym typeface="Calibri"/>
              </a:rPr>
              <a:t>Embeddings represent the text, not the clustering. When the oracle gives feedback the system doesn't recompute anything: it re-reads the same vectors from the DB and applies a new grouping logic on top of them.</a:t>
            </a:r>
            <a:endParaRPr b="0" sz="1200" strike="noStrike">
              <a:solidFill>
                <a:schemeClr val="dk1"/>
              </a:solidFill>
              <a:latin typeface="Arial"/>
              <a:ea typeface="Arial"/>
              <a:cs typeface="Arial"/>
              <a:sym typeface="Arial"/>
            </a:endParaRPr>
          </a:p>
        </p:txBody>
      </p:sp>
      <p:sp>
        <p:nvSpPr>
          <p:cNvPr id="268" name="Google Shape;268;p18"/>
          <p:cNvSpPr/>
          <p:nvPr/>
        </p:nvSpPr>
        <p:spPr>
          <a:xfrm>
            <a:off x="457200" y="5715000"/>
            <a:ext cx="5759640" cy="77616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 name="Google Shape;269;p18"/>
          <p:cNvSpPr/>
          <p:nvPr/>
        </p:nvSpPr>
        <p:spPr>
          <a:xfrm>
            <a:off x="457200" y="5715000"/>
            <a:ext cx="72000" cy="77616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 name="Google Shape;270;p18"/>
          <p:cNvSpPr/>
          <p:nvPr/>
        </p:nvSpPr>
        <p:spPr>
          <a:xfrm>
            <a:off x="685800" y="5779080"/>
            <a:ext cx="5485320" cy="20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THE PROBLEM</a:t>
            </a:r>
            <a:endParaRPr b="0" sz="900" strike="noStrike">
              <a:solidFill>
                <a:schemeClr val="dk1"/>
              </a:solidFill>
              <a:latin typeface="Arial"/>
              <a:ea typeface="Arial"/>
              <a:cs typeface="Arial"/>
              <a:sym typeface="Arial"/>
            </a:endParaRPr>
          </a:p>
        </p:txBody>
      </p:sp>
      <p:sp>
        <p:nvSpPr>
          <p:cNvPr id="271" name="Google Shape;271;p18"/>
          <p:cNvSpPr/>
          <p:nvPr/>
        </p:nvSpPr>
        <p:spPr>
          <a:xfrm>
            <a:off x="685800" y="5943600"/>
            <a:ext cx="543960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50"/>
              <a:buFont typeface="Calibri"/>
              <a:buNone/>
            </a:pPr>
            <a:r>
              <a:rPr b="0" lang="en-US" sz="1050" strike="noStrike">
                <a:solidFill>
                  <a:srgbClr val="2A2F4A"/>
                </a:solidFill>
                <a:latin typeface="Calibri"/>
                <a:ea typeface="Calibri"/>
                <a:cs typeface="Calibri"/>
                <a:sym typeface="Calibri"/>
              </a:rPr>
              <a:t>Plain text embeddings don't capture structured metadata like the 1–5 star rating. Two 1-star reviews on different topics end up far apart in semantic space, even when the oracle wants to group them together.</a:t>
            </a:r>
            <a:endParaRPr b="0" sz="1050" strike="noStrike">
              <a:solidFill>
                <a:schemeClr val="dk1"/>
              </a:solidFill>
              <a:latin typeface="Arial"/>
              <a:ea typeface="Arial"/>
              <a:cs typeface="Arial"/>
              <a:sym typeface="Arial"/>
            </a:endParaRPr>
          </a:p>
        </p:txBody>
      </p:sp>
      <p:sp>
        <p:nvSpPr>
          <p:cNvPr id="272" name="Google Shape;272;p18"/>
          <p:cNvSpPr/>
          <p:nvPr/>
        </p:nvSpPr>
        <p:spPr>
          <a:xfrm>
            <a:off x="6583680" y="1874520"/>
            <a:ext cx="511956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Georgia"/>
              <a:buNone/>
            </a:pPr>
            <a:r>
              <a:rPr b="1" lang="en-US" sz="1400" strike="noStrike">
                <a:solidFill>
                  <a:srgbClr val="1E2761"/>
                </a:solidFill>
                <a:latin typeface="Georgia"/>
                <a:ea typeface="Georgia"/>
                <a:cs typeface="Georgia"/>
                <a:sym typeface="Georgia"/>
              </a:rPr>
              <a:t>Options considered</a:t>
            </a:r>
            <a:endParaRPr b="0" sz="1400" strike="noStrike">
              <a:solidFill>
                <a:schemeClr val="dk1"/>
              </a:solidFill>
              <a:latin typeface="Arial"/>
              <a:ea typeface="Arial"/>
              <a:cs typeface="Arial"/>
              <a:sym typeface="Arial"/>
            </a:endParaRPr>
          </a:p>
        </p:txBody>
      </p:sp>
      <p:cxnSp>
        <p:nvCxnSpPr>
          <p:cNvPr id="273" name="Google Shape;273;p18"/>
          <p:cNvCxnSpPr/>
          <p:nvPr/>
        </p:nvCxnSpPr>
        <p:spPr>
          <a:xfrm>
            <a:off x="6583680" y="2194560"/>
            <a:ext cx="457200" cy="360"/>
          </a:xfrm>
          <a:prstGeom prst="straightConnector1">
            <a:avLst/>
          </a:prstGeom>
          <a:noFill/>
          <a:ln cap="flat" cmpd="sng" w="25400">
            <a:solidFill>
              <a:srgbClr val="C9A961"/>
            </a:solidFill>
            <a:prstDash val="solid"/>
            <a:round/>
            <a:headEnd len="sm" w="sm" type="none"/>
            <a:tailEnd len="sm" w="sm" type="none"/>
          </a:ln>
        </p:spPr>
      </p:cxnSp>
      <p:sp>
        <p:nvSpPr>
          <p:cNvPr id="274" name="Google Shape;274;p18"/>
          <p:cNvSpPr/>
          <p:nvPr/>
        </p:nvSpPr>
        <p:spPr>
          <a:xfrm>
            <a:off x="6583680" y="2331720"/>
            <a:ext cx="364680" cy="364680"/>
          </a:xfrm>
          <a:prstGeom prst="ellipse">
            <a:avLst/>
          </a:prstGeom>
          <a:solidFill>
            <a:srgbClr val="F4F6FB"/>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 name="Google Shape;275;p18"/>
          <p:cNvSpPr/>
          <p:nvPr/>
        </p:nvSpPr>
        <p:spPr>
          <a:xfrm>
            <a:off x="6583680" y="2331720"/>
            <a:ext cx="364680" cy="364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600"/>
              <a:buFont typeface="Georgia"/>
              <a:buNone/>
            </a:pPr>
            <a:r>
              <a:rPr b="1" lang="en-US" sz="1600" strike="noStrike">
                <a:solidFill>
                  <a:srgbClr val="6A6F8C"/>
                </a:solidFill>
                <a:latin typeface="Georgia"/>
                <a:ea typeface="Georgia"/>
                <a:cs typeface="Georgia"/>
                <a:sym typeface="Georgia"/>
              </a:rPr>
              <a:t>✗</a:t>
            </a:r>
            <a:endParaRPr b="0" sz="1600" strike="noStrike">
              <a:solidFill>
                <a:schemeClr val="dk1"/>
              </a:solidFill>
              <a:latin typeface="Arial"/>
              <a:ea typeface="Arial"/>
              <a:cs typeface="Arial"/>
              <a:sym typeface="Arial"/>
            </a:endParaRPr>
          </a:p>
        </p:txBody>
      </p:sp>
      <p:sp>
        <p:nvSpPr>
          <p:cNvPr id="276" name="Google Shape;276;p18"/>
          <p:cNvSpPr/>
          <p:nvPr/>
        </p:nvSpPr>
        <p:spPr>
          <a:xfrm>
            <a:off x="7086600" y="2295000"/>
            <a:ext cx="461664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Text embedding only</a:t>
            </a:r>
            <a:endParaRPr b="0" sz="1200" strike="noStrike">
              <a:solidFill>
                <a:schemeClr val="dk1"/>
              </a:solidFill>
              <a:latin typeface="Arial"/>
              <a:ea typeface="Arial"/>
              <a:cs typeface="Arial"/>
              <a:sym typeface="Arial"/>
            </a:endParaRPr>
          </a:p>
        </p:txBody>
      </p:sp>
      <p:sp>
        <p:nvSpPr>
          <p:cNvPr id="277" name="Google Shape;277;p18"/>
          <p:cNvSpPr/>
          <p:nvPr/>
        </p:nvSpPr>
        <p:spPr>
          <a:xfrm>
            <a:off x="7086600" y="2551320"/>
            <a:ext cx="461664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000"/>
              <a:buFont typeface="Calibri"/>
              <a:buNone/>
            </a:pPr>
            <a:r>
              <a:rPr b="0" lang="en-US" sz="1000" strike="noStrike">
                <a:solidFill>
                  <a:srgbClr val="6A6F8C"/>
                </a:solidFill>
                <a:latin typeface="Calibri"/>
                <a:ea typeface="Calibri"/>
                <a:cs typeface="Calibri"/>
                <a:sym typeface="Calibri"/>
              </a:rPr>
              <a:t>Simple, but rating-driven clustering doesn't work.</a:t>
            </a:r>
            <a:endParaRPr b="0" sz="1000" strike="noStrike">
              <a:solidFill>
                <a:schemeClr val="dk1"/>
              </a:solidFill>
              <a:latin typeface="Arial"/>
              <a:ea typeface="Arial"/>
              <a:cs typeface="Arial"/>
              <a:sym typeface="Arial"/>
            </a:endParaRPr>
          </a:p>
        </p:txBody>
      </p:sp>
      <p:sp>
        <p:nvSpPr>
          <p:cNvPr id="278" name="Google Shape;278;p18"/>
          <p:cNvSpPr/>
          <p:nvPr/>
        </p:nvSpPr>
        <p:spPr>
          <a:xfrm>
            <a:off x="6583680" y="3044880"/>
            <a:ext cx="364680" cy="36468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18"/>
          <p:cNvSpPr/>
          <p:nvPr/>
        </p:nvSpPr>
        <p:spPr>
          <a:xfrm>
            <a:off x="6583680" y="3044880"/>
            <a:ext cx="364680" cy="364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Georgia"/>
              <a:buNone/>
            </a:pPr>
            <a:r>
              <a:rPr b="1" lang="en-US" sz="1600" strike="noStrike">
                <a:solidFill>
                  <a:srgbClr val="FFFFFF"/>
                </a:solidFill>
                <a:latin typeface="Georgia"/>
                <a:ea typeface="Georgia"/>
                <a:cs typeface="Georgia"/>
                <a:sym typeface="Georgia"/>
              </a:rPr>
              <a:t>✓</a:t>
            </a:r>
            <a:endParaRPr b="0" sz="1600" strike="noStrike">
              <a:solidFill>
                <a:schemeClr val="dk1"/>
              </a:solidFill>
              <a:latin typeface="Arial"/>
              <a:ea typeface="Arial"/>
              <a:cs typeface="Arial"/>
              <a:sym typeface="Arial"/>
            </a:endParaRPr>
          </a:p>
        </p:txBody>
      </p:sp>
      <p:sp>
        <p:nvSpPr>
          <p:cNvPr id="280" name="Google Shape;280;p18"/>
          <p:cNvSpPr/>
          <p:nvPr/>
        </p:nvSpPr>
        <p:spPr>
          <a:xfrm>
            <a:off x="7086600" y="3008520"/>
            <a:ext cx="461664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Text embedding + on-the-fly metadata weighting</a:t>
            </a:r>
            <a:endParaRPr b="0" sz="1200" strike="noStrike">
              <a:solidFill>
                <a:schemeClr val="dk1"/>
              </a:solidFill>
              <a:latin typeface="Arial"/>
              <a:ea typeface="Arial"/>
              <a:cs typeface="Arial"/>
              <a:sym typeface="Arial"/>
            </a:endParaRPr>
          </a:p>
        </p:txBody>
      </p:sp>
      <p:sp>
        <p:nvSpPr>
          <p:cNvPr id="281" name="Google Shape;281;p18"/>
          <p:cNvSpPr/>
          <p:nvPr/>
        </p:nvSpPr>
        <p:spPr>
          <a:xfrm>
            <a:off x="7086600" y="3264480"/>
            <a:ext cx="461664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000"/>
              <a:buFont typeface="Calibri"/>
              <a:buNone/>
            </a:pPr>
            <a:r>
              <a:rPr b="0" lang="en-US" sz="1000" strike="noStrike">
                <a:solidFill>
                  <a:srgbClr val="6A6F8C"/>
                </a:solidFill>
                <a:latin typeface="Calibri"/>
                <a:ea typeface="Calibri"/>
                <a:cs typeface="Calibri"/>
                <a:sym typeface="Calibri"/>
              </a:rPr>
              <a:t>Chosen — pure 384-dim embedding stored once; metadata joined at query time with tunable weight.</a:t>
            </a:r>
            <a:endParaRPr b="0" sz="1000" strike="noStrike">
              <a:solidFill>
                <a:schemeClr val="dk1"/>
              </a:solidFill>
              <a:latin typeface="Arial"/>
              <a:ea typeface="Arial"/>
              <a:cs typeface="Arial"/>
              <a:sym typeface="Arial"/>
            </a:endParaRPr>
          </a:p>
        </p:txBody>
      </p:sp>
      <p:sp>
        <p:nvSpPr>
          <p:cNvPr id="282" name="Google Shape;282;p18"/>
          <p:cNvSpPr/>
          <p:nvPr/>
        </p:nvSpPr>
        <p:spPr>
          <a:xfrm>
            <a:off x="6583680" y="3758040"/>
            <a:ext cx="364680" cy="364680"/>
          </a:xfrm>
          <a:prstGeom prst="ellipse">
            <a:avLst/>
          </a:prstGeom>
          <a:solidFill>
            <a:srgbClr val="F4F6FB"/>
          </a:solidFill>
          <a:ln cap="flat" cmpd="sng" w="12700">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18"/>
          <p:cNvSpPr/>
          <p:nvPr/>
        </p:nvSpPr>
        <p:spPr>
          <a:xfrm>
            <a:off x="6583680" y="3758040"/>
            <a:ext cx="364680" cy="364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6F8C"/>
              </a:buClr>
              <a:buSzPts val="1600"/>
              <a:buFont typeface="Georgia"/>
              <a:buNone/>
            </a:pPr>
            <a:r>
              <a:rPr b="1" lang="en-US" sz="1600" strike="noStrike">
                <a:solidFill>
                  <a:srgbClr val="6A6F8C"/>
                </a:solidFill>
                <a:latin typeface="Georgia"/>
                <a:ea typeface="Georgia"/>
                <a:cs typeface="Georgia"/>
                <a:sym typeface="Georgia"/>
              </a:rPr>
              <a:t>△</a:t>
            </a:r>
            <a:endParaRPr b="0" sz="1600" strike="noStrike">
              <a:solidFill>
                <a:schemeClr val="dk1"/>
              </a:solidFill>
              <a:latin typeface="Arial"/>
              <a:ea typeface="Arial"/>
              <a:cs typeface="Arial"/>
              <a:sym typeface="Arial"/>
            </a:endParaRPr>
          </a:p>
        </p:txBody>
      </p:sp>
      <p:sp>
        <p:nvSpPr>
          <p:cNvPr id="284" name="Google Shape;284;p18"/>
          <p:cNvSpPr/>
          <p:nvPr/>
        </p:nvSpPr>
        <p:spPr>
          <a:xfrm>
            <a:off x="7086600" y="3721680"/>
            <a:ext cx="461664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200"/>
              <a:buFont typeface="Calibri"/>
              <a:buNone/>
            </a:pPr>
            <a:r>
              <a:rPr b="1" lang="en-US" sz="1200" strike="noStrike">
                <a:solidFill>
                  <a:srgbClr val="2A2F4A"/>
                </a:solidFill>
                <a:latin typeface="Calibri"/>
                <a:ea typeface="Calibri"/>
                <a:cs typeface="Calibri"/>
                <a:sym typeface="Calibri"/>
              </a:rPr>
              <a:t>Separate spaces per clustering view</a:t>
            </a:r>
            <a:endParaRPr b="0" sz="1200" strike="noStrike">
              <a:solidFill>
                <a:schemeClr val="dk1"/>
              </a:solidFill>
              <a:latin typeface="Arial"/>
              <a:ea typeface="Arial"/>
              <a:cs typeface="Arial"/>
              <a:sym typeface="Arial"/>
            </a:endParaRPr>
          </a:p>
        </p:txBody>
      </p:sp>
      <p:sp>
        <p:nvSpPr>
          <p:cNvPr id="285" name="Google Shape;285;p18"/>
          <p:cNvSpPr/>
          <p:nvPr/>
        </p:nvSpPr>
        <p:spPr>
          <a:xfrm>
            <a:off x="7086600" y="3977640"/>
            <a:ext cx="461664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000"/>
              <a:buFont typeface="Calibri"/>
              <a:buNone/>
            </a:pPr>
            <a:r>
              <a:rPr b="0" lang="en-US" sz="1000" strike="noStrike">
                <a:solidFill>
                  <a:srgbClr val="6A6F8C"/>
                </a:solidFill>
                <a:latin typeface="Calibri"/>
                <a:ea typeface="Calibri"/>
                <a:cs typeface="Calibri"/>
                <a:sym typeface="Calibri"/>
              </a:rPr>
              <a:t>Cleaner, but too complex for the MVP.</a:t>
            </a:r>
            <a:endParaRPr b="0" sz="1000" strike="noStrike">
              <a:solidFill>
                <a:schemeClr val="dk1"/>
              </a:solidFill>
              <a:latin typeface="Arial"/>
              <a:ea typeface="Arial"/>
              <a:cs typeface="Arial"/>
              <a:sym typeface="Arial"/>
            </a:endParaRPr>
          </a:p>
        </p:txBody>
      </p:sp>
      <p:sp>
        <p:nvSpPr>
          <p:cNvPr id="286" name="Google Shape;286;p18"/>
          <p:cNvSpPr/>
          <p:nvPr/>
        </p:nvSpPr>
        <p:spPr>
          <a:xfrm>
            <a:off x="6583680" y="4572000"/>
            <a:ext cx="5119560" cy="155376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7" name="Google Shape;287;p18"/>
          <p:cNvSpPr/>
          <p:nvPr/>
        </p:nvSpPr>
        <p:spPr>
          <a:xfrm>
            <a:off x="6583680" y="4572000"/>
            <a:ext cx="511956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8" name="Google Shape;288;p18"/>
          <p:cNvSpPr/>
          <p:nvPr/>
        </p:nvSpPr>
        <p:spPr>
          <a:xfrm>
            <a:off x="6766560" y="4736520"/>
            <a:ext cx="475380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000"/>
              <a:buFont typeface="Calibri"/>
              <a:buNone/>
            </a:pPr>
            <a:r>
              <a:rPr b="1" lang="en-US" sz="1000" strike="noStrike">
                <a:solidFill>
                  <a:srgbClr val="C9A961"/>
                </a:solidFill>
                <a:latin typeface="Calibri"/>
                <a:ea typeface="Calibri"/>
                <a:cs typeface="Calibri"/>
                <a:sym typeface="Calibri"/>
              </a:rPr>
              <a:t>CHOSEN SOLUTION</a:t>
            </a:r>
            <a:endParaRPr b="0" sz="1000" strike="noStrike">
              <a:solidFill>
                <a:schemeClr val="dk1"/>
              </a:solidFill>
              <a:latin typeface="Arial"/>
              <a:ea typeface="Arial"/>
              <a:cs typeface="Arial"/>
              <a:sym typeface="Arial"/>
            </a:endParaRPr>
          </a:p>
        </p:txBody>
      </p:sp>
      <p:sp>
        <p:nvSpPr>
          <p:cNvPr id="289" name="Google Shape;289;p18"/>
          <p:cNvSpPr/>
          <p:nvPr/>
        </p:nvSpPr>
        <p:spPr>
          <a:xfrm>
            <a:off x="6766560" y="5029200"/>
            <a:ext cx="1690560" cy="456120"/>
          </a:xfrm>
          <a:prstGeom prst="rect">
            <a:avLst/>
          </a:prstGeom>
          <a:solidFill>
            <a:srgbClr val="16204E"/>
          </a:solidFill>
          <a:ln cap="flat" cmpd="sng" w="9525">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0" name="Google Shape;290;p18"/>
          <p:cNvSpPr/>
          <p:nvPr/>
        </p:nvSpPr>
        <p:spPr>
          <a:xfrm>
            <a:off x="6766560" y="5029200"/>
            <a:ext cx="16905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900"/>
              <a:buFont typeface="Calibri"/>
              <a:buNone/>
            </a:pPr>
            <a:r>
              <a:rPr b="0" lang="en-US" sz="900" strike="noStrike">
                <a:solidFill>
                  <a:srgbClr val="CADCFC"/>
                </a:solidFill>
                <a:latin typeface="Calibri"/>
                <a:ea typeface="Calibri"/>
                <a:cs typeface="Calibri"/>
                <a:sym typeface="Calibri"/>
              </a:rPr>
              <a:t>text vector</a:t>
            </a:r>
            <a:endParaRPr b="0" sz="9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384 dim</a:t>
            </a:r>
            <a:endParaRPr b="0" sz="1100" strike="noStrike">
              <a:solidFill>
                <a:schemeClr val="dk1"/>
              </a:solidFill>
              <a:latin typeface="Arial"/>
              <a:ea typeface="Arial"/>
              <a:cs typeface="Arial"/>
              <a:sym typeface="Arial"/>
            </a:endParaRPr>
          </a:p>
        </p:txBody>
      </p:sp>
      <p:sp>
        <p:nvSpPr>
          <p:cNvPr id="291" name="Google Shape;291;p18"/>
          <p:cNvSpPr/>
          <p:nvPr/>
        </p:nvSpPr>
        <p:spPr>
          <a:xfrm>
            <a:off x="8820000" y="5009760"/>
            <a:ext cx="1233360" cy="45612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 name="Google Shape;292;p18"/>
          <p:cNvSpPr/>
          <p:nvPr/>
        </p:nvSpPr>
        <p:spPr>
          <a:xfrm>
            <a:off x="8820000" y="5009760"/>
            <a:ext cx="1233360" cy="456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900"/>
              <a:buFont typeface="Calibri"/>
              <a:buNone/>
            </a:pPr>
            <a:r>
              <a:rPr b="0" lang="en-US" sz="900" strike="noStrike">
                <a:solidFill>
                  <a:srgbClr val="1E2761"/>
                </a:solidFill>
                <a:latin typeface="Calibri"/>
                <a:ea typeface="Calibri"/>
                <a:cs typeface="Calibri"/>
                <a:sym typeface="Calibri"/>
              </a:rPr>
              <a:t>weighted metadata</a:t>
            </a:r>
            <a:endParaRPr b="0" sz="9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quantitative features</a:t>
            </a:r>
            <a:endParaRPr b="0" sz="1100" strike="noStrike">
              <a:solidFill>
                <a:schemeClr val="dk1"/>
              </a:solidFill>
              <a:latin typeface="Arial"/>
              <a:ea typeface="Arial"/>
              <a:cs typeface="Arial"/>
              <a:sym typeface="Arial"/>
            </a:endParaRPr>
          </a:p>
        </p:txBody>
      </p:sp>
      <p:sp>
        <p:nvSpPr>
          <p:cNvPr id="293" name="Google Shape;293;p18"/>
          <p:cNvSpPr/>
          <p:nvPr/>
        </p:nvSpPr>
        <p:spPr>
          <a:xfrm>
            <a:off x="6766560" y="5532120"/>
            <a:ext cx="475380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0" i="1" lang="en-US" sz="1000" strike="noStrike">
                <a:solidFill>
                  <a:srgbClr val="CADCFC"/>
                </a:solidFill>
                <a:latin typeface="Calibri"/>
                <a:ea typeface="Calibri"/>
                <a:cs typeface="Calibri"/>
                <a:sym typeface="Calibri"/>
              </a:rPr>
              <a:t>Metadata stored as separate DB columns; joined at clustering time via np.concatenate([embedding, [rating_norm * weight]]).</a:t>
            </a:r>
            <a:endParaRPr b="0" sz="1000" strike="noStrike">
              <a:solidFill>
                <a:schemeClr val="dk1"/>
              </a:solidFill>
              <a:latin typeface="Arial"/>
              <a:ea typeface="Arial"/>
              <a:cs typeface="Arial"/>
              <a:sym typeface="Arial"/>
            </a:endParaRPr>
          </a:p>
        </p:txBody>
      </p:sp>
      <p:sp>
        <p:nvSpPr>
          <p:cNvPr id="294" name="Google Shape;294;p18"/>
          <p:cNvSpPr/>
          <p:nvPr/>
        </p:nvSpPr>
        <p:spPr>
          <a:xfrm>
            <a:off x="6583680" y="6080760"/>
            <a:ext cx="5119560" cy="50184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 name="Google Shape;295;p18"/>
          <p:cNvSpPr/>
          <p:nvPr/>
        </p:nvSpPr>
        <p:spPr>
          <a:xfrm>
            <a:off x="6720840" y="6080760"/>
            <a:ext cx="489096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(P2)  </a:t>
            </a:r>
            <a:r>
              <a:rPr b="0" lang="en-US" sz="1000" strike="noStrike">
                <a:solidFill>
                  <a:srgbClr val="2A2F4A"/>
                </a:solidFill>
                <a:latin typeface="Calibri"/>
                <a:ea typeface="Calibri"/>
                <a:cs typeface="Calibri"/>
                <a:sym typeface="Calibri"/>
              </a:rPr>
              <a:t>generate embeddings (384 dim, text only) → store on DB → run k-means with configurable rating_weight.</a:t>
            </a:r>
            <a:endParaRPr b="0" sz="1000" strike="noStrike">
              <a:solidFill>
                <a:schemeClr val="dk1"/>
              </a:solidFill>
              <a:latin typeface="Arial"/>
              <a:ea typeface="Arial"/>
              <a:cs typeface="Arial"/>
              <a:sym typeface="Arial"/>
            </a:endParaRPr>
          </a:p>
        </p:txBody>
      </p:sp>
      <p:sp>
        <p:nvSpPr>
          <p:cNvPr id="296" name="Google Shape;296;p18"/>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297" name="Google Shape;297;p18"/>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3 / 10</a:t>
            </a:r>
            <a:endParaRPr b="0" sz="900"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19"/>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304" name="Google Shape;304;p19"/>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305" name="Google Shape;305;p19"/>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Sprint 2 · P1 — Backend &amp; Data Modeling</a:t>
            </a:r>
            <a:endParaRPr b="0" sz="2600" strike="noStrike">
              <a:solidFill>
                <a:schemeClr val="dk1"/>
              </a:solidFill>
              <a:latin typeface="Arial"/>
              <a:ea typeface="Arial"/>
              <a:cs typeface="Arial"/>
              <a:sym typeface="Arial"/>
            </a:endParaRPr>
          </a:p>
        </p:txBody>
      </p:sp>
      <p:sp>
        <p:nvSpPr>
          <p:cNvPr id="306" name="Google Shape;306;p19"/>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SPRINT 2 · P1</a:t>
            </a:r>
            <a:endParaRPr b="0" sz="900" strike="noStrike">
              <a:solidFill>
                <a:schemeClr val="dk1"/>
              </a:solidFill>
              <a:latin typeface="Arial"/>
              <a:ea typeface="Arial"/>
              <a:cs typeface="Arial"/>
              <a:sym typeface="Arial"/>
            </a:endParaRPr>
          </a:p>
        </p:txBody>
      </p:sp>
      <p:cxnSp>
        <p:nvCxnSpPr>
          <p:cNvPr id="307" name="Google Shape;307;p19"/>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308" name="Google Shape;308;p19"/>
          <p:cNvSpPr/>
          <p:nvPr/>
        </p:nvSpPr>
        <p:spPr>
          <a:xfrm>
            <a:off x="457200" y="1280160"/>
            <a:ext cx="11246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The backend grew from a skeleton into a real API: dedicated routers, extracted session-state management, and the cluster/turn endpoints the engine and frontend depend on.</a:t>
            </a:r>
            <a:endParaRPr b="0" sz="1200" strike="noStrike">
              <a:solidFill>
                <a:schemeClr val="dk1"/>
              </a:solidFill>
              <a:latin typeface="Arial"/>
              <a:ea typeface="Arial"/>
              <a:cs typeface="Arial"/>
              <a:sym typeface="Arial"/>
            </a:endParaRPr>
          </a:p>
        </p:txBody>
      </p:sp>
      <p:sp>
        <p:nvSpPr>
          <p:cNvPr id="309" name="Google Shape;309;p19"/>
          <p:cNvSpPr/>
          <p:nvPr/>
        </p:nvSpPr>
        <p:spPr>
          <a:xfrm>
            <a:off x="457200" y="1828800"/>
            <a:ext cx="11246040" cy="867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0" name="Google Shape;310;p19"/>
          <p:cNvSpPr/>
          <p:nvPr/>
        </p:nvSpPr>
        <p:spPr>
          <a:xfrm>
            <a:off x="457200" y="1828800"/>
            <a:ext cx="108720" cy="867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19"/>
          <p:cNvSpPr/>
          <p:nvPr/>
        </p:nvSpPr>
        <p:spPr>
          <a:xfrm>
            <a:off x="685800" y="1920240"/>
            <a:ext cx="54853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P1 · INFRASTRUCTURE &amp; DB</a:t>
            </a:r>
            <a:endParaRPr b="0" sz="1100" strike="noStrike">
              <a:solidFill>
                <a:schemeClr val="dk1"/>
              </a:solidFill>
              <a:latin typeface="Arial"/>
              <a:ea typeface="Arial"/>
              <a:cs typeface="Arial"/>
              <a:sym typeface="Arial"/>
            </a:endParaRPr>
          </a:p>
        </p:txBody>
      </p:sp>
      <p:sp>
        <p:nvSpPr>
          <p:cNvPr id="312" name="Google Shape;312;p19"/>
          <p:cNvSpPr/>
          <p:nvPr/>
        </p:nvSpPr>
        <p:spPr>
          <a:xfrm>
            <a:off x="685800" y="2148840"/>
            <a:ext cx="502812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lang="en-US" sz="2400" strike="noStrike">
                <a:solidFill>
                  <a:srgbClr val="FFFFFF"/>
                </a:solidFill>
                <a:latin typeface="Georgia"/>
                <a:ea typeface="Georgia"/>
                <a:cs typeface="Georgia"/>
                <a:sym typeface="Georgia"/>
              </a:rPr>
              <a:t>Davide Sarti</a:t>
            </a:r>
            <a:endParaRPr b="0" sz="2400" strike="noStrike">
              <a:solidFill>
                <a:schemeClr val="dk1"/>
              </a:solidFill>
              <a:latin typeface="Arial"/>
              <a:ea typeface="Arial"/>
              <a:cs typeface="Arial"/>
              <a:sym typeface="Arial"/>
            </a:endParaRPr>
          </a:p>
        </p:txBody>
      </p:sp>
      <p:sp>
        <p:nvSpPr>
          <p:cNvPr id="313" name="Google Shape;313;p19"/>
          <p:cNvSpPr/>
          <p:nvPr/>
        </p:nvSpPr>
        <p:spPr>
          <a:xfrm>
            <a:off x="5439085" y="2054244"/>
            <a:ext cx="6027600" cy="456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600"/>
              <a:buFont typeface="Georgia"/>
              <a:buNone/>
            </a:pPr>
            <a:r>
              <a:rPr b="0" i="1" lang="en-US" sz="1600" strike="noStrike">
                <a:solidFill>
                  <a:srgbClr val="CADCFC"/>
                </a:solidFill>
                <a:latin typeface="Georgia"/>
                <a:ea typeface="Georgia"/>
                <a:cs typeface="Georgia"/>
                <a:sym typeface="Georgia"/>
              </a:rPr>
              <a:t>Routers · Session state · Persistence</a:t>
            </a:r>
            <a:endParaRPr b="0" sz="1600" strike="noStrike">
              <a:solidFill>
                <a:schemeClr val="dk1"/>
              </a:solidFill>
              <a:latin typeface="Arial"/>
              <a:ea typeface="Arial"/>
              <a:cs typeface="Arial"/>
              <a:sym typeface="Arial"/>
            </a:endParaRPr>
          </a:p>
        </p:txBody>
      </p:sp>
      <p:sp>
        <p:nvSpPr>
          <p:cNvPr id="314" name="Google Shape;314;p19"/>
          <p:cNvSpPr/>
          <p:nvPr/>
        </p:nvSpPr>
        <p:spPr>
          <a:xfrm>
            <a:off x="457200" y="2926080"/>
            <a:ext cx="694836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What I built</a:t>
            </a:r>
            <a:endParaRPr b="0" sz="1500" strike="noStrike">
              <a:solidFill>
                <a:schemeClr val="dk1"/>
              </a:solidFill>
              <a:latin typeface="Arial"/>
              <a:ea typeface="Arial"/>
              <a:cs typeface="Arial"/>
              <a:sym typeface="Arial"/>
            </a:endParaRPr>
          </a:p>
        </p:txBody>
      </p:sp>
      <p:cxnSp>
        <p:nvCxnSpPr>
          <p:cNvPr id="315" name="Google Shape;315;p19"/>
          <p:cNvCxnSpPr/>
          <p:nvPr/>
        </p:nvCxnSpPr>
        <p:spPr>
          <a:xfrm>
            <a:off x="457200" y="3291840"/>
            <a:ext cx="457200" cy="360"/>
          </a:xfrm>
          <a:prstGeom prst="straightConnector1">
            <a:avLst/>
          </a:prstGeom>
          <a:noFill/>
          <a:ln cap="flat" cmpd="sng" w="25400">
            <a:solidFill>
              <a:srgbClr val="C9A961"/>
            </a:solidFill>
            <a:prstDash val="solid"/>
            <a:round/>
            <a:headEnd len="sm" w="sm" type="none"/>
            <a:tailEnd len="sm" w="sm" type="none"/>
          </a:ln>
        </p:spPr>
      </p:cxnSp>
      <p:sp>
        <p:nvSpPr>
          <p:cNvPr id="316" name="Google Shape;316;p19"/>
          <p:cNvSpPr/>
          <p:nvPr/>
        </p:nvSpPr>
        <p:spPr>
          <a:xfrm>
            <a:off x="457200" y="3611875"/>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7" name="Google Shape;317;p19"/>
          <p:cNvSpPr/>
          <p:nvPr/>
        </p:nvSpPr>
        <p:spPr>
          <a:xfrm>
            <a:off x="685800" y="342900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Routers &amp; endpoints  </a:t>
            </a:r>
            <a:r>
              <a:rPr b="0" lang="en-US" sz="1200" strike="noStrike">
                <a:solidFill>
                  <a:srgbClr val="2A2F4A"/>
                </a:solidFill>
                <a:latin typeface="Calibri"/>
                <a:ea typeface="Calibri"/>
                <a:cs typeface="Calibri"/>
                <a:sym typeface="Calibri"/>
              </a:rPr>
              <a:t>— split the API into dedicated </a:t>
            </a:r>
            <a:r>
              <a:rPr b="0" lang="en-US" sz="1200" strike="noStrike">
                <a:solidFill>
                  <a:srgbClr val="1E2761"/>
                </a:solidFill>
                <a:latin typeface="Consolas"/>
                <a:ea typeface="Consolas"/>
                <a:cs typeface="Consolas"/>
                <a:sym typeface="Consolas"/>
              </a:rPr>
              <a:t>clusters.py</a:t>
            </a:r>
            <a:r>
              <a:rPr b="0" lang="en-US" sz="1200" strike="noStrike">
                <a:solidFill>
                  <a:srgbClr val="2A2F4A"/>
                </a:solidFill>
                <a:latin typeface="Calibri"/>
                <a:ea typeface="Calibri"/>
                <a:cs typeface="Calibri"/>
                <a:sym typeface="Calibri"/>
              </a:rPr>
              <a:t> and </a:t>
            </a:r>
            <a:r>
              <a:rPr b="0" lang="en-US" sz="1200" strike="noStrike">
                <a:solidFill>
                  <a:srgbClr val="1E2761"/>
                </a:solidFill>
                <a:latin typeface="Consolas"/>
                <a:ea typeface="Consolas"/>
                <a:cs typeface="Consolas"/>
                <a:sym typeface="Consolas"/>
              </a:rPr>
              <a:t>turns.py</a:t>
            </a:r>
            <a:r>
              <a:rPr b="0" lang="en-US" sz="1200" strike="noStrike">
                <a:solidFill>
                  <a:srgbClr val="2A2F4A"/>
                </a:solidFill>
                <a:latin typeface="Calibri"/>
                <a:ea typeface="Calibri"/>
                <a:cs typeface="Calibri"/>
                <a:sym typeface="Calibri"/>
              </a:rPr>
              <a:t> routers; added GET cluster-state and turn-history, session DELETE, status PATCH, and a cluster-points render endpoint.</a:t>
            </a:r>
            <a:endParaRPr b="0" sz="1200" strike="noStrike">
              <a:solidFill>
                <a:schemeClr val="dk1"/>
              </a:solidFill>
              <a:latin typeface="Arial"/>
              <a:ea typeface="Arial"/>
              <a:cs typeface="Arial"/>
              <a:sym typeface="Arial"/>
            </a:endParaRPr>
          </a:p>
        </p:txBody>
      </p:sp>
      <p:sp>
        <p:nvSpPr>
          <p:cNvPr id="318" name="Google Shape;318;p19"/>
          <p:cNvSpPr/>
          <p:nvPr/>
        </p:nvSpPr>
        <p:spPr>
          <a:xfrm>
            <a:off x="457200" y="424296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9" name="Google Shape;319;p19"/>
          <p:cNvSpPr/>
          <p:nvPr/>
        </p:nvSpPr>
        <p:spPr>
          <a:xfrm>
            <a:off x="685800" y="4133160"/>
            <a:ext cx="6674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Session state  </a:t>
            </a:r>
            <a:r>
              <a:rPr b="0" lang="en-US" sz="1200" strike="noStrike">
                <a:solidFill>
                  <a:srgbClr val="2A2F4A"/>
                </a:solidFill>
                <a:latin typeface="Calibri"/>
                <a:ea typeface="Calibri"/>
                <a:cs typeface="Calibri"/>
                <a:sym typeface="Calibri"/>
              </a:rPr>
              <a:t>— extracted state into </a:t>
            </a:r>
            <a:r>
              <a:rPr b="0" lang="en-US" sz="1200" strike="noStrike">
                <a:solidFill>
                  <a:srgbClr val="1E2761"/>
                </a:solidFill>
                <a:latin typeface="Consolas"/>
                <a:ea typeface="Consolas"/>
                <a:cs typeface="Consolas"/>
                <a:sym typeface="Consolas"/>
              </a:rPr>
              <a:t>session_state.py</a:t>
            </a:r>
            <a:r>
              <a:rPr b="0" lang="en-US" sz="1200" strike="noStrike">
                <a:solidFill>
                  <a:srgbClr val="2A2F4A"/>
                </a:solidFill>
                <a:latin typeface="Calibri"/>
                <a:ea typeface="Calibri"/>
                <a:cs typeface="Calibri"/>
                <a:sym typeface="Calibri"/>
              </a:rPr>
              <a:t>, separating the </a:t>
            </a:r>
            <a:r>
              <a:rPr b="0" lang="en-US" sz="1200" strike="noStrike">
                <a:solidFill>
                  <a:srgbClr val="1E2761"/>
                </a:solidFill>
                <a:latin typeface="Consolas"/>
                <a:ea typeface="Consolas"/>
                <a:cs typeface="Consolas"/>
                <a:sym typeface="Consolas"/>
              </a:rPr>
              <a:t>/turns</a:t>
            </a:r>
            <a:r>
              <a:rPr b="0" lang="en-US" sz="1200" strike="noStrike">
                <a:solidFill>
                  <a:srgbClr val="2A2F4A"/>
                </a:solidFill>
                <a:latin typeface="Calibri"/>
                <a:ea typeface="Calibri"/>
                <a:cs typeface="Calibri"/>
                <a:sym typeface="Calibri"/>
              </a:rPr>
              <a:t> POST and </a:t>
            </a:r>
            <a:r>
              <a:rPr b="0" lang="en-US" sz="1200" strike="noStrike">
                <a:solidFill>
                  <a:srgbClr val="1E2761"/>
                </a:solidFill>
                <a:latin typeface="Consolas"/>
                <a:ea typeface="Consolas"/>
                <a:cs typeface="Consolas"/>
                <a:sym typeface="Consolas"/>
              </a:rPr>
              <a:t>/clusters</a:t>
            </a:r>
            <a:r>
              <a:rPr b="0" lang="en-US" sz="1200" strike="noStrike">
                <a:solidFill>
                  <a:srgbClr val="2A2F4A"/>
                </a:solidFill>
                <a:latin typeface="Calibri"/>
                <a:ea typeface="Calibri"/>
                <a:cs typeface="Calibri"/>
                <a:sym typeface="Calibri"/>
              </a:rPr>
              <a:t> logic; full coverage in </a:t>
            </a:r>
            <a:r>
              <a:rPr b="0" lang="en-US" sz="1200" strike="noStrike">
                <a:solidFill>
                  <a:srgbClr val="1E2761"/>
                </a:solidFill>
                <a:latin typeface="Consolas"/>
                <a:ea typeface="Consolas"/>
                <a:cs typeface="Consolas"/>
                <a:sym typeface="Consolas"/>
              </a:rPr>
              <a:t>test_turns_endpoint.py</a:t>
            </a:r>
            <a:r>
              <a:rPr b="0" lang="en-US" sz="1200" strike="noStrike">
                <a:solidFill>
                  <a:srgbClr val="2A2F4A"/>
                </a:solidFill>
                <a:latin typeface="Calibri"/>
                <a:ea typeface="Calibri"/>
                <a:cs typeface="Calibri"/>
                <a:sym typeface="Calibri"/>
              </a:rPr>
              <a:t>.</a:t>
            </a:r>
            <a:endParaRPr b="0" sz="1200" strike="noStrike">
              <a:solidFill>
                <a:schemeClr val="dk1"/>
              </a:solidFill>
              <a:latin typeface="Arial"/>
              <a:ea typeface="Arial"/>
              <a:cs typeface="Arial"/>
              <a:sym typeface="Arial"/>
            </a:endParaRPr>
          </a:p>
        </p:txBody>
      </p:sp>
      <p:sp>
        <p:nvSpPr>
          <p:cNvPr id="320" name="Google Shape;320;p19"/>
          <p:cNvSpPr/>
          <p:nvPr/>
        </p:nvSpPr>
        <p:spPr>
          <a:xfrm>
            <a:off x="457263" y="4780778"/>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1" name="Google Shape;321;p19"/>
          <p:cNvSpPr/>
          <p:nvPr/>
        </p:nvSpPr>
        <p:spPr>
          <a:xfrm>
            <a:off x="685800" y="4700160"/>
            <a:ext cx="6674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Persistence &amp; harness  </a:t>
            </a:r>
            <a:r>
              <a:rPr b="0" lang="en-US" sz="1200" strike="noStrike">
                <a:solidFill>
                  <a:srgbClr val="2A2F4A"/>
                </a:solidFill>
                <a:latin typeface="Calibri"/>
                <a:ea typeface="Calibri"/>
                <a:cs typeface="Calibri"/>
                <a:sym typeface="Calibri"/>
              </a:rPr>
              <a:t>— cluster state now updates in the DB on every </a:t>
            </a:r>
            <a:r>
              <a:rPr b="0" lang="en-US" sz="1200" strike="noStrike">
                <a:solidFill>
                  <a:srgbClr val="1E2761"/>
                </a:solidFill>
                <a:latin typeface="Consolas"/>
                <a:ea typeface="Consolas"/>
                <a:cs typeface="Consolas"/>
                <a:sym typeface="Consolas"/>
              </a:rPr>
              <a:t>/turns</a:t>
            </a:r>
            <a:r>
              <a:rPr b="0" lang="en-US" sz="1200" strike="noStrike">
                <a:solidFill>
                  <a:srgbClr val="2A2F4A"/>
                </a:solidFill>
                <a:latin typeface="Calibri"/>
                <a:ea typeface="Calibri"/>
                <a:cs typeface="Calibri"/>
                <a:sym typeface="Calibri"/>
              </a:rPr>
              <a:t> POST (with a SystemTurn fix); added an alternative </a:t>
            </a:r>
            <a:r>
              <a:rPr b="0" lang="en-US" sz="1200" strike="noStrike">
                <a:solidFill>
                  <a:srgbClr val="1E2761"/>
                </a:solidFill>
                <a:latin typeface="Consolas"/>
                <a:ea typeface="Consolas"/>
                <a:cs typeface="Consolas"/>
                <a:sym typeface="Consolas"/>
              </a:rPr>
              <a:t>harness_openrouter.py</a:t>
            </a:r>
            <a:r>
              <a:rPr b="0" lang="en-US" sz="1200" strike="noStrike">
                <a:solidFill>
                  <a:srgbClr val="2A2F4A"/>
                </a:solidFill>
                <a:latin typeface="Calibri"/>
                <a:ea typeface="Calibri"/>
                <a:cs typeface="Calibri"/>
                <a:sym typeface="Calibri"/>
              </a:rPr>
              <a:t> LLM provider.</a:t>
            </a:r>
            <a:endParaRPr b="0" sz="1200" strike="noStrike">
              <a:solidFill>
                <a:schemeClr val="dk1"/>
              </a:solidFill>
              <a:latin typeface="Arial"/>
              <a:ea typeface="Arial"/>
              <a:cs typeface="Arial"/>
              <a:sym typeface="Arial"/>
            </a:endParaRPr>
          </a:p>
        </p:txBody>
      </p:sp>
      <p:sp>
        <p:nvSpPr>
          <p:cNvPr id="322" name="Google Shape;322;p19"/>
          <p:cNvSpPr/>
          <p:nvPr/>
        </p:nvSpPr>
        <p:spPr>
          <a:xfrm>
            <a:off x="7589520" y="2926080"/>
            <a:ext cx="4113720" cy="201060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19"/>
          <p:cNvSpPr/>
          <p:nvPr/>
        </p:nvSpPr>
        <p:spPr>
          <a:xfrm>
            <a:off x="7589520" y="2926080"/>
            <a:ext cx="72000" cy="2010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4" name="Google Shape;324;p19"/>
          <p:cNvSpPr/>
          <p:nvPr/>
        </p:nvSpPr>
        <p:spPr>
          <a:xfrm>
            <a:off x="7818120" y="303588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CHALLENGES</a:t>
            </a:r>
            <a:endParaRPr b="0" sz="900" strike="noStrike">
              <a:solidFill>
                <a:schemeClr val="dk1"/>
              </a:solidFill>
              <a:latin typeface="Arial"/>
              <a:ea typeface="Arial"/>
              <a:cs typeface="Arial"/>
              <a:sym typeface="Arial"/>
            </a:endParaRPr>
          </a:p>
        </p:txBody>
      </p:sp>
      <p:sp>
        <p:nvSpPr>
          <p:cNvPr id="325" name="Google Shape;325;p19"/>
          <p:cNvSpPr/>
          <p:nvPr/>
        </p:nvSpPr>
        <p:spPr>
          <a:xfrm>
            <a:off x="7818120" y="3367514"/>
            <a:ext cx="3747900" cy="155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100">
                <a:solidFill>
                  <a:srgbClr val="2A2F4A"/>
                </a:solidFill>
                <a:latin typeface="Calibri"/>
                <a:ea typeface="Calibri"/>
                <a:cs typeface="Calibri"/>
                <a:sym typeface="Calibri"/>
              </a:rPr>
              <a:t>The core challenge was not just meeting team requirements, but doing so while maintaining consistent data schemas and shared data types across every layer of the system. Since the backend is the integration point for most functionalities, any deviation in data structures would cascade into breakages across multiple components. Agreeing on and enforcing a common contract between modules took significant coordination effort</a:t>
            </a:r>
            <a:endParaRPr sz="1100">
              <a:solidFill>
                <a:srgbClr val="2A2F4A"/>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2A2F4A"/>
              </a:solidFill>
              <a:latin typeface="Calibri"/>
              <a:ea typeface="Calibri"/>
              <a:cs typeface="Calibri"/>
              <a:sym typeface="Calibri"/>
            </a:endParaRPr>
          </a:p>
          <a:p>
            <a:pPr indent="0" lvl="0" marL="0" marR="0" rtl="0" algn="l">
              <a:lnSpc>
                <a:spcPct val="100000"/>
              </a:lnSpc>
              <a:spcBef>
                <a:spcPts val="0"/>
              </a:spcBef>
              <a:spcAft>
                <a:spcPts val="0"/>
              </a:spcAft>
              <a:buClr>
                <a:srgbClr val="2A2F4A"/>
              </a:buClr>
              <a:buSzPts val="1100"/>
              <a:buFont typeface="Calibri"/>
              <a:buNone/>
            </a:pPr>
            <a:r>
              <a:t/>
            </a:r>
            <a:endParaRPr sz="1100">
              <a:solidFill>
                <a:srgbClr val="2A2F4A"/>
              </a:solidFill>
              <a:latin typeface="Calibri"/>
              <a:ea typeface="Calibri"/>
              <a:cs typeface="Calibri"/>
              <a:sym typeface="Calibri"/>
            </a:endParaRPr>
          </a:p>
        </p:txBody>
      </p:sp>
      <p:sp>
        <p:nvSpPr>
          <p:cNvPr id="326" name="Google Shape;326;p19"/>
          <p:cNvSpPr/>
          <p:nvPr/>
        </p:nvSpPr>
        <p:spPr>
          <a:xfrm>
            <a:off x="7589520" y="5102280"/>
            <a:ext cx="4113720" cy="12517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19"/>
          <p:cNvSpPr/>
          <p:nvPr/>
        </p:nvSpPr>
        <p:spPr>
          <a:xfrm>
            <a:off x="7589520" y="5102280"/>
            <a:ext cx="411372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19"/>
          <p:cNvSpPr/>
          <p:nvPr/>
        </p:nvSpPr>
        <p:spPr>
          <a:xfrm>
            <a:off x="7818120" y="526680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SPRINT</a:t>
            </a:r>
            <a:endParaRPr b="0" sz="900" strike="noStrike">
              <a:solidFill>
                <a:schemeClr val="dk1"/>
              </a:solidFill>
              <a:latin typeface="Arial"/>
              <a:ea typeface="Arial"/>
              <a:cs typeface="Arial"/>
              <a:sym typeface="Arial"/>
            </a:endParaRPr>
          </a:p>
        </p:txBody>
      </p:sp>
      <p:sp>
        <p:nvSpPr>
          <p:cNvPr id="329" name="Google Shape;329;p19"/>
          <p:cNvSpPr/>
          <p:nvPr/>
        </p:nvSpPr>
        <p:spPr>
          <a:xfrm>
            <a:off x="7818120" y="5513760"/>
            <a:ext cx="3747960" cy="74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Keep aligning schemas as the frontend evolves</a:t>
            </a:r>
            <a:r>
              <a:rPr lang="en-US" sz="1100">
                <a:solidFill>
                  <a:srgbClr val="CADCFC"/>
                </a:solidFill>
                <a:latin typeface="Calibri"/>
                <a:ea typeface="Calibri"/>
                <a:cs typeface="Calibri"/>
                <a:sym typeface="Calibri"/>
              </a:rPr>
              <a:t>, according to the needs of the team, refactoring.</a:t>
            </a:r>
            <a:endParaRPr b="0" sz="1100" strike="noStrike">
              <a:solidFill>
                <a:schemeClr val="dk1"/>
              </a:solidFill>
              <a:latin typeface="Arial"/>
              <a:ea typeface="Arial"/>
              <a:cs typeface="Arial"/>
              <a:sym typeface="Arial"/>
            </a:endParaRPr>
          </a:p>
        </p:txBody>
      </p:sp>
      <p:sp>
        <p:nvSpPr>
          <p:cNvPr id="330" name="Google Shape;330;p19"/>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331" name="Google Shape;331;p19"/>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5 / 10</a:t>
            </a:r>
            <a:endParaRPr b="0" sz="900"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20"/>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338" name="Google Shape;338;p20"/>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339" name="Google Shape;339;p20"/>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Sprint 2 · P2 — Initial Clustering &amp; Cluster Naming</a:t>
            </a:r>
            <a:endParaRPr b="0" sz="2600" strike="noStrike">
              <a:solidFill>
                <a:schemeClr val="dk1"/>
              </a:solidFill>
              <a:latin typeface="Arial"/>
              <a:ea typeface="Arial"/>
              <a:cs typeface="Arial"/>
              <a:sym typeface="Arial"/>
            </a:endParaRPr>
          </a:p>
        </p:txBody>
      </p:sp>
      <p:sp>
        <p:nvSpPr>
          <p:cNvPr id="340" name="Google Shape;340;p20"/>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SPRINT 2 · P2</a:t>
            </a:r>
            <a:endParaRPr b="0" sz="900" strike="noStrike">
              <a:solidFill>
                <a:schemeClr val="dk1"/>
              </a:solidFill>
              <a:latin typeface="Arial"/>
              <a:ea typeface="Arial"/>
              <a:cs typeface="Arial"/>
              <a:sym typeface="Arial"/>
            </a:endParaRPr>
          </a:p>
        </p:txBody>
      </p:sp>
      <p:cxnSp>
        <p:nvCxnSpPr>
          <p:cNvPr id="341" name="Google Shape;341;p20"/>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342" name="Google Shape;342;p20"/>
          <p:cNvSpPr/>
          <p:nvPr/>
        </p:nvSpPr>
        <p:spPr>
          <a:xfrm>
            <a:off x="457200" y="1280160"/>
            <a:ext cx="11246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K-means initial clustering with soft assignments and LLM-generated names, verified end-to-end against 1,200 real embedded reviews.</a:t>
            </a:r>
            <a:endParaRPr b="0" sz="1200" strike="noStrike">
              <a:solidFill>
                <a:schemeClr val="dk1"/>
              </a:solidFill>
              <a:latin typeface="Arial"/>
              <a:ea typeface="Arial"/>
              <a:cs typeface="Arial"/>
              <a:sym typeface="Arial"/>
            </a:endParaRPr>
          </a:p>
        </p:txBody>
      </p:sp>
      <p:sp>
        <p:nvSpPr>
          <p:cNvPr id="343" name="Google Shape;343;p20"/>
          <p:cNvSpPr/>
          <p:nvPr/>
        </p:nvSpPr>
        <p:spPr>
          <a:xfrm>
            <a:off x="457200" y="1828800"/>
            <a:ext cx="11246040" cy="867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 name="Google Shape;344;p20"/>
          <p:cNvSpPr/>
          <p:nvPr/>
        </p:nvSpPr>
        <p:spPr>
          <a:xfrm>
            <a:off x="457200" y="1828800"/>
            <a:ext cx="108720" cy="867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 name="Google Shape;345;p20"/>
          <p:cNvSpPr/>
          <p:nvPr/>
        </p:nvSpPr>
        <p:spPr>
          <a:xfrm>
            <a:off x="685800" y="1920240"/>
            <a:ext cx="54853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P2 · DATA &amp; EMBEDDINGS</a:t>
            </a:r>
            <a:endParaRPr b="0" sz="1100" strike="noStrike">
              <a:solidFill>
                <a:schemeClr val="dk1"/>
              </a:solidFill>
              <a:latin typeface="Arial"/>
              <a:ea typeface="Arial"/>
              <a:cs typeface="Arial"/>
              <a:sym typeface="Arial"/>
            </a:endParaRPr>
          </a:p>
        </p:txBody>
      </p:sp>
      <p:sp>
        <p:nvSpPr>
          <p:cNvPr id="346" name="Google Shape;346;p20"/>
          <p:cNvSpPr/>
          <p:nvPr/>
        </p:nvSpPr>
        <p:spPr>
          <a:xfrm>
            <a:off x="685800" y="2148840"/>
            <a:ext cx="502812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lang="en-US" sz="2400" strike="noStrike">
                <a:solidFill>
                  <a:srgbClr val="FFFFFF"/>
                </a:solidFill>
                <a:latin typeface="Georgia"/>
                <a:ea typeface="Georgia"/>
                <a:cs typeface="Georgia"/>
                <a:sym typeface="Georgia"/>
              </a:rPr>
              <a:t>Thomas Ottonello</a:t>
            </a:r>
            <a:endParaRPr b="0" sz="2400" strike="noStrike">
              <a:solidFill>
                <a:schemeClr val="dk1"/>
              </a:solidFill>
              <a:latin typeface="Arial"/>
              <a:ea typeface="Arial"/>
              <a:cs typeface="Arial"/>
              <a:sym typeface="Arial"/>
            </a:endParaRPr>
          </a:p>
        </p:txBody>
      </p:sp>
      <p:sp>
        <p:nvSpPr>
          <p:cNvPr id="347" name="Google Shape;347;p20"/>
          <p:cNvSpPr/>
          <p:nvPr/>
        </p:nvSpPr>
        <p:spPr>
          <a:xfrm>
            <a:off x="5788105" y="2055823"/>
            <a:ext cx="5759700" cy="456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600"/>
              <a:buFont typeface="Georgia"/>
              <a:buNone/>
            </a:pPr>
            <a:r>
              <a:rPr b="0" i="1" lang="en-US" sz="1600" strike="noStrike">
                <a:solidFill>
                  <a:srgbClr val="CADCFC"/>
                </a:solidFill>
                <a:latin typeface="Georgia"/>
                <a:ea typeface="Georgia"/>
                <a:cs typeface="Georgia"/>
                <a:sym typeface="Georgia"/>
              </a:rPr>
              <a:t>Clustering · Soft assignments · Naming · Operations</a:t>
            </a:r>
            <a:endParaRPr b="0" sz="1600" strike="noStrike">
              <a:solidFill>
                <a:schemeClr val="dk1"/>
              </a:solidFill>
              <a:latin typeface="Arial"/>
              <a:ea typeface="Arial"/>
              <a:cs typeface="Arial"/>
              <a:sym typeface="Arial"/>
            </a:endParaRPr>
          </a:p>
        </p:txBody>
      </p:sp>
      <p:sp>
        <p:nvSpPr>
          <p:cNvPr id="348" name="Google Shape;348;p20"/>
          <p:cNvSpPr/>
          <p:nvPr/>
        </p:nvSpPr>
        <p:spPr>
          <a:xfrm>
            <a:off x="457200" y="2926080"/>
            <a:ext cx="694836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What I built</a:t>
            </a:r>
            <a:endParaRPr b="0" sz="1500" strike="noStrike">
              <a:solidFill>
                <a:schemeClr val="dk1"/>
              </a:solidFill>
              <a:latin typeface="Arial"/>
              <a:ea typeface="Arial"/>
              <a:cs typeface="Arial"/>
              <a:sym typeface="Arial"/>
            </a:endParaRPr>
          </a:p>
        </p:txBody>
      </p:sp>
      <p:cxnSp>
        <p:nvCxnSpPr>
          <p:cNvPr id="349" name="Google Shape;349;p20"/>
          <p:cNvCxnSpPr/>
          <p:nvPr/>
        </p:nvCxnSpPr>
        <p:spPr>
          <a:xfrm>
            <a:off x="457200" y="3291840"/>
            <a:ext cx="457200" cy="360"/>
          </a:xfrm>
          <a:prstGeom prst="straightConnector1">
            <a:avLst/>
          </a:prstGeom>
          <a:noFill/>
          <a:ln cap="flat" cmpd="sng" w="25400">
            <a:solidFill>
              <a:srgbClr val="C9A961"/>
            </a:solidFill>
            <a:prstDash val="solid"/>
            <a:round/>
            <a:headEnd len="sm" w="sm" type="none"/>
            <a:tailEnd len="sm" w="sm" type="none"/>
          </a:ln>
        </p:spPr>
      </p:cxnSp>
      <p:sp>
        <p:nvSpPr>
          <p:cNvPr id="350" name="Google Shape;350;p20"/>
          <p:cNvSpPr/>
          <p:nvPr/>
        </p:nvSpPr>
        <p:spPr>
          <a:xfrm>
            <a:off x="457200" y="3605015"/>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1" name="Google Shape;351;p20"/>
          <p:cNvSpPr/>
          <p:nvPr/>
        </p:nvSpPr>
        <p:spPr>
          <a:xfrm>
            <a:off x="685800" y="342900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Initial clustering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initial_clustering.py</a:t>
            </a:r>
            <a:r>
              <a:rPr b="0" lang="en-US" sz="1200" strike="noStrike">
                <a:solidFill>
                  <a:srgbClr val="2A2F4A"/>
                </a:solidFill>
                <a:latin typeface="Calibri"/>
                <a:ea typeface="Calibri"/>
                <a:cs typeface="Calibri"/>
                <a:sym typeface="Calibri"/>
              </a:rPr>
              <a:t>: runs k-means on the embedding matrix and returns clusters + soft assignments as DB objects. k is parametric; the caller owns the transaction.</a:t>
            </a:r>
            <a:endParaRPr b="0" sz="1200" strike="noStrike">
              <a:solidFill>
                <a:schemeClr val="dk1"/>
              </a:solidFill>
              <a:latin typeface="Arial"/>
              <a:ea typeface="Arial"/>
              <a:cs typeface="Arial"/>
              <a:sym typeface="Arial"/>
            </a:endParaRPr>
          </a:p>
        </p:txBody>
      </p:sp>
      <p:sp>
        <p:nvSpPr>
          <p:cNvPr id="352" name="Google Shape;352;p20"/>
          <p:cNvSpPr/>
          <p:nvPr/>
        </p:nvSpPr>
        <p:spPr>
          <a:xfrm>
            <a:off x="457200" y="4318634"/>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3" name="Google Shape;353;p20"/>
          <p:cNvSpPr/>
          <p:nvPr/>
        </p:nvSpPr>
        <p:spPr>
          <a:xfrm>
            <a:off x="685800" y="413316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Soft assignments  </a:t>
            </a:r>
            <a:r>
              <a:rPr b="0" lang="en-US" sz="1200" strike="noStrike">
                <a:solidFill>
                  <a:srgbClr val="2A2F4A"/>
                </a:solidFill>
                <a:latin typeface="Calibri"/>
                <a:ea typeface="Calibri"/>
                <a:cs typeface="Calibri"/>
                <a:sym typeface="Calibri"/>
              </a:rPr>
              <a:t>— each point gets a probability per cluster via softmax(-squared_distance); sums to 1 per point, exactly what f_uncertainty needs to find boundary points.</a:t>
            </a:r>
            <a:endParaRPr b="0" sz="1200" strike="noStrike">
              <a:solidFill>
                <a:schemeClr val="dk1"/>
              </a:solidFill>
              <a:latin typeface="Arial"/>
              <a:ea typeface="Arial"/>
              <a:cs typeface="Arial"/>
              <a:sym typeface="Arial"/>
            </a:endParaRPr>
          </a:p>
        </p:txBody>
      </p:sp>
      <p:sp>
        <p:nvSpPr>
          <p:cNvPr id="354" name="Google Shape;354;p20"/>
          <p:cNvSpPr/>
          <p:nvPr/>
        </p:nvSpPr>
        <p:spPr>
          <a:xfrm>
            <a:off x="457200" y="494676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5" name="Google Shape;355;p20"/>
          <p:cNvSpPr/>
          <p:nvPr/>
        </p:nvSpPr>
        <p:spPr>
          <a:xfrm>
            <a:off x="685800" y="4837320"/>
            <a:ext cx="6674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k tuning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silhouette_for_k</a:t>
            </a:r>
            <a:r>
              <a:rPr b="0" lang="en-US" sz="1200" strike="noStrike">
                <a:solidFill>
                  <a:srgbClr val="2A2F4A"/>
                </a:solidFill>
                <a:latin typeface="Calibri"/>
                <a:ea typeface="Calibri"/>
                <a:cs typeface="Calibri"/>
                <a:sym typeface="Calibri"/>
              </a:rPr>
              <a:t> and </a:t>
            </a:r>
            <a:r>
              <a:rPr b="0" lang="en-US" sz="1200" strike="noStrike">
                <a:solidFill>
                  <a:srgbClr val="1E2761"/>
                </a:solidFill>
                <a:latin typeface="Consolas"/>
                <a:ea typeface="Consolas"/>
                <a:cs typeface="Consolas"/>
                <a:sym typeface="Consolas"/>
              </a:rPr>
              <a:t>sweep_k</a:t>
            </a:r>
            <a:r>
              <a:rPr b="0" lang="en-US" sz="1200" strike="noStrike">
                <a:solidFill>
                  <a:srgbClr val="2A2F4A"/>
                </a:solidFill>
                <a:latin typeface="Calibri"/>
                <a:ea typeface="Calibri"/>
                <a:cs typeface="Calibri"/>
                <a:sym typeface="Calibri"/>
              </a:rPr>
              <a:t> score cluster separation so the oracle can pick a sensible k before clustering.</a:t>
            </a:r>
            <a:endParaRPr b="0" sz="1200" strike="noStrike">
              <a:solidFill>
                <a:schemeClr val="dk1"/>
              </a:solidFill>
              <a:latin typeface="Arial"/>
              <a:ea typeface="Arial"/>
              <a:cs typeface="Arial"/>
              <a:sym typeface="Arial"/>
            </a:endParaRPr>
          </a:p>
        </p:txBody>
      </p:sp>
      <p:sp>
        <p:nvSpPr>
          <p:cNvPr id="356" name="Google Shape;356;p20"/>
          <p:cNvSpPr/>
          <p:nvPr/>
        </p:nvSpPr>
        <p:spPr>
          <a:xfrm>
            <a:off x="457200" y="551376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7" name="Google Shape;357;p20"/>
          <p:cNvSpPr/>
          <p:nvPr/>
        </p:nvSpPr>
        <p:spPr>
          <a:xfrm>
            <a:off x="685800" y="5403960"/>
            <a:ext cx="6674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Cluster naming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cluster_naming.py</a:t>
            </a:r>
            <a:r>
              <a:rPr b="0" lang="en-US" sz="1200" strike="noStrike">
                <a:solidFill>
                  <a:srgbClr val="2A2F4A"/>
                </a:solidFill>
                <a:latin typeface="Calibri"/>
                <a:ea typeface="Calibri"/>
                <a:cs typeface="Calibri"/>
                <a:sym typeface="Calibri"/>
              </a:rPr>
              <a:t>: sends the 8 most representative points per cluster to the LLM for a name + description; best-effort, falls back to a placeholder.</a:t>
            </a:r>
            <a:endParaRPr b="0" sz="1200" strike="noStrike">
              <a:solidFill>
                <a:schemeClr val="dk1"/>
              </a:solidFill>
              <a:latin typeface="Arial"/>
              <a:ea typeface="Arial"/>
              <a:cs typeface="Arial"/>
              <a:sym typeface="Arial"/>
            </a:endParaRPr>
          </a:p>
        </p:txBody>
      </p:sp>
      <p:sp>
        <p:nvSpPr>
          <p:cNvPr id="358" name="Google Shape;358;p20"/>
          <p:cNvSpPr/>
          <p:nvPr/>
        </p:nvSpPr>
        <p:spPr>
          <a:xfrm>
            <a:off x="457200" y="6052382"/>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9" name="Google Shape;359;p20"/>
          <p:cNvSpPr/>
          <p:nvPr/>
        </p:nvSpPr>
        <p:spPr>
          <a:xfrm>
            <a:off x="685800" y="5970960"/>
            <a:ext cx="6674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Cluster operations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cluster_operations.py</a:t>
            </a:r>
            <a:r>
              <a:rPr b="0" lang="en-US" sz="1200" strike="noStrike">
                <a:solidFill>
                  <a:srgbClr val="2A2F4A"/>
                </a:solidFill>
                <a:latin typeface="Calibri"/>
                <a:ea typeface="Calibri"/>
                <a:cs typeface="Calibri"/>
                <a:sym typeface="Calibri"/>
              </a:rPr>
              <a:t>: real k-means-based merge / split / rename, each writing a complete soft-assignment snapshot. 11 passing tests.</a:t>
            </a:r>
            <a:endParaRPr b="0" sz="1200" strike="noStrike">
              <a:solidFill>
                <a:schemeClr val="dk1"/>
              </a:solidFill>
              <a:latin typeface="Arial"/>
              <a:ea typeface="Arial"/>
              <a:cs typeface="Arial"/>
              <a:sym typeface="Arial"/>
            </a:endParaRPr>
          </a:p>
        </p:txBody>
      </p:sp>
      <p:sp>
        <p:nvSpPr>
          <p:cNvPr id="360" name="Google Shape;360;p20"/>
          <p:cNvSpPr/>
          <p:nvPr/>
        </p:nvSpPr>
        <p:spPr>
          <a:xfrm>
            <a:off x="7589520" y="2926080"/>
            <a:ext cx="4113720" cy="201060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1" name="Google Shape;361;p20"/>
          <p:cNvSpPr/>
          <p:nvPr/>
        </p:nvSpPr>
        <p:spPr>
          <a:xfrm>
            <a:off x="7589520" y="2926080"/>
            <a:ext cx="72000" cy="2010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2" name="Google Shape;362;p20"/>
          <p:cNvSpPr/>
          <p:nvPr/>
        </p:nvSpPr>
        <p:spPr>
          <a:xfrm>
            <a:off x="7818120" y="303588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CHALLENGES</a:t>
            </a:r>
            <a:endParaRPr b="0" sz="900" strike="noStrike">
              <a:solidFill>
                <a:schemeClr val="dk1"/>
              </a:solidFill>
              <a:latin typeface="Arial"/>
              <a:ea typeface="Arial"/>
              <a:cs typeface="Arial"/>
              <a:sym typeface="Arial"/>
            </a:endParaRPr>
          </a:p>
        </p:txBody>
      </p:sp>
      <p:sp>
        <p:nvSpPr>
          <p:cNvPr id="363" name="Google Shape;363;p20"/>
          <p:cNvSpPr/>
          <p:nvPr/>
        </p:nvSpPr>
        <p:spPr>
          <a:xfrm>
            <a:off x="7818120" y="3291840"/>
            <a:ext cx="3747960" cy="155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alibri"/>
              <a:buNone/>
            </a:pPr>
            <a:r>
              <a:rPr b="0" lang="en-US" sz="1100" strike="noStrike">
                <a:solidFill>
                  <a:srgbClr val="2A2F4A"/>
                </a:solidFill>
                <a:latin typeface="Calibri"/>
                <a:ea typeface="Calibri"/>
                <a:cs typeface="Calibri"/>
                <a:sym typeface="Calibri"/>
              </a:rPr>
              <a:t>K-means gives hard labels but the SoftAssignment table wants probabilities — settled on softmax over negative squared distances. Couldn't test FastAPI/LLM end-to-end locally (deps not installed), so verification ran on the pure clustering logic against the demo DB. Silhouette scores are low (~0.03) — expected for sentence embeddings of reviews.</a:t>
            </a:r>
            <a:endParaRPr b="0" sz="1100" strike="noStrike">
              <a:solidFill>
                <a:schemeClr val="dk1"/>
              </a:solidFill>
              <a:latin typeface="Arial"/>
              <a:ea typeface="Arial"/>
              <a:cs typeface="Arial"/>
              <a:sym typeface="Arial"/>
            </a:endParaRPr>
          </a:p>
        </p:txBody>
      </p:sp>
      <p:sp>
        <p:nvSpPr>
          <p:cNvPr id="364" name="Google Shape;364;p20"/>
          <p:cNvSpPr/>
          <p:nvPr/>
        </p:nvSpPr>
        <p:spPr>
          <a:xfrm>
            <a:off x="7589520" y="5102280"/>
            <a:ext cx="4113720" cy="12517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5" name="Google Shape;365;p20"/>
          <p:cNvSpPr/>
          <p:nvPr/>
        </p:nvSpPr>
        <p:spPr>
          <a:xfrm>
            <a:off x="7589520" y="5102280"/>
            <a:ext cx="411372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6" name="Google Shape;366;p20"/>
          <p:cNvSpPr/>
          <p:nvPr/>
        </p:nvSpPr>
        <p:spPr>
          <a:xfrm>
            <a:off x="7818120" y="526680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SPRINT</a:t>
            </a:r>
            <a:endParaRPr b="0" sz="900" strike="noStrike">
              <a:solidFill>
                <a:schemeClr val="dk1"/>
              </a:solidFill>
              <a:latin typeface="Arial"/>
              <a:ea typeface="Arial"/>
              <a:cs typeface="Arial"/>
              <a:sym typeface="Arial"/>
            </a:endParaRPr>
          </a:p>
        </p:txBody>
      </p:sp>
      <p:sp>
        <p:nvSpPr>
          <p:cNvPr id="367" name="Google Shape;367;p20"/>
          <p:cNvSpPr/>
          <p:nvPr/>
        </p:nvSpPr>
        <p:spPr>
          <a:xfrm>
            <a:off x="7818120" y="5513760"/>
            <a:ext cx="3747960" cy="74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Add a point-level reassign operation. Coordinate with P3 on the turn-number convention. Add structured logging to clustering runs. Evaluate HDBSCAN given the low silhouette scores.</a:t>
            </a:r>
            <a:endParaRPr b="0" sz="1100" strike="noStrike">
              <a:solidFill>
                <a:schemeClr val="dk1"/>
              </a:solidFill>
              <a:latin typeface="Arial"/>
              <a:ea typeface="Arial"/>
              <a:cs typeface="Arial"/>
              <a:sym typeface="Arial"/>
            </a:endParaRPr>
          </a:p>
        </p:txBody>
      </p:sp>
      <p:sp>
        <p:nvSpPr>
          <p:cNvPr id="368" name="Google Shape;368;p20"/>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369" name="Google Shape;369;p20"/>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6 / 10</a:t>
            </a:r>
            <a:endParaRPr b="0" sz="900"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1"/>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376" name="Google Shape;376;p21"/>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377" name="Google Shape;377;p21"/>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Sprint 2 · P3 — Core Engine</a:t>
            </a:r>
            <a:endParaRPr b="0" sz="2600" strike="noStrike">
              <a:solidFill>
                <a:schemeClr val="dk1"/>
              </a:solidFill>
              <a:latin typeface="Arial"/>
              <a:ea typeface="Arial"/>
              <a:cs typeface="Arial"/>
              <a:sym typeface="Arial"/>
            </a:endParaRPr>
          </a:p>
        </p:txBody>
      </p:sp>
      <p:sp>
        <p:nvSpPr>
          <p:cNvPr id="378" name="Google Shape;378;p21"/>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SPRINT 2 · P3</a:t>
            </a:r>
            <a:endParaRPr b="0" sz="900" strike="noStrike">
              <a:solidFill>
                <a:schemeClr val="dk1"/>
              </a:solidFill>
              <a:latin typeface="Arial"/>
              <a:ea typeface="Arial"/>
              <a:cs typeface="Arial"/>
              <a:sym typeface="Arial"/>
            </a:endParaRPr>
          </a:p>
        </p:txBody>
      </p:sp>
      <p:cxnSp>
        <p:nvCxnSpPr>
          <p:cNvPr id="379" name="Google Shape;379;p21"/>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380" name="Google Shape;380;p21"/>
          <p:cNvSpPr/>
          <p:nvPr/>
        </p:nvSpPr>
        <p:spPr>
          <a:xfrm>
            <a:off x="457200" y="1280160"/>
            <a:ext cx="11246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Every engine function now has a real implementation — no stubs. 48 passing tests across the f_* suite.</a:t>
            </a:r>
            <a:endParaRPr b="0" sz="1200" strike="noStrike">
              <a:solidFill>
                <a:schemeClr val="dk1"/>
              </a:solidFill>
              <a:latin typeface="Arial"/>
              <a:ea typeface="Arial"/>
              <a:cs typeface="Arial"/>
              <a:sym typeface="Arial"/>
            </a:endParaRPr>
          </a:p>
        </p:txBody>
      </p:sp>
      <p:sp>
        <p:nvSpPr>
          <p:cNvPr id="381" name="Google Shape;381;p21"/>
          <p:cNvSpPr/>
          <p:nvPr/>
        </p:nvSpPr>
        <p:spPr>
          <a:xfrm>
            <a:off x="457200" y="1828800"/>
            <a:ext cx="11246040" cy="867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2" name="Google Shape;382;p21"/>
          <p:cNvSpPr/>
          <p:nvPr/>
        </p:nvSpPr>
        <p:spPr>
          <a:xfrm>
            <a:off x="457200" y="1828800"/>
            <a:ext cx="108720" cy="867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3" name="Google Shape;383;p21"/>
          <p:cNvSpPr/>
          <p:nvPr/>
        </p:nvSpPr>
        <p:spPr>
          <a:xfrm>
            <a:off x="685800" y="1920240"/>
            <a:ext cx="54853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P3 · CORE ENGINE (f_*)</a:t>
            </a:r>
            <a:endParaRPr b="0" sz="1100" strike="noStrike">
              <a:solidFill>
                <a:schemeClr val="dk1"/>
              </a:solidFill>
              <a:latin typeface="Arial"/>
              <a:ea typeface="Arial"/>
              <a:cs typeface="Arial"/>
              <a:sym typeface="Arial"/>
            </a:endParaRPr>
          </a:p>
        </p:txBody>
      </p:sp>
      <p:sp>
        <p:nvSpPr>
          <p:cNvPr id="384" name="Google Shape;384;p21"/>
          <p:cNvSpPr/>
          <p:nvPr/>
        </p:nvSpPr>
        <p:spPr>
          <a:xfrm>
            <a:off x="685800" y="2148840"/>
            <a:ext cx="502812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lang="en-US" sz="2400" strike="noStrike">
                <a:solidFill>
                  <a:srgbClr val="FFFFFF"/>
                </a:solidFill>
                <a:latin typeface="Georgia"/>
                <a:ea typeface="Georgia"/>
                <a:cs typeface="Georgia"/>
                <a:sym typeface="Georgia"/>
              </a:rPr>
              <a:t>Matteo Pareto</a:t>
            </a:r>
            <a:endParaRPr b="0" sz="2400" strike="noStrike">
              <a:solidFill>
                <a:schemeClr val="dk1"/>
              </a:solidFill>
              <a:latin typeface="Arial"/>
              <a:ea typeface="Arial"/>
              <a:cs typeface="Arial"/>
              <a:sym typeface="Arial"/>
            </a:endParaRPr>
          </a:p>
        </p:txBody>
      </p:sp>
      <p:sp>
        <p:nvSpPr>
          <p:cNvPr id="385" name="Google Shape;385;p21"/>
          <p:cNvSpPr/>
          <p:nvPr/>
        </p:nvSpPr>
        <p:spPr>
          <a:xfrm>
            <a:off x="5820629" y="2055823"/>
            <a:ext cx="5759700" cy="456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600"/>
              <a:buFont typeface="Georgia"/>
              <a:buNone/>
            </a:pPr>
            <a:r>
              <a:rPr b="0" i="1" lang="en-US" sz="1600" strike="noStrike">
                <a:solidFill>
                  <a:srgbClr val="CADCFC"/>
                </a:solidFill>
                <a:latin typeface="Georgia"/>
                <a:ea typeface="Georgia"/>
                <a:cs typeface="Georgia"/>
                <a:sym typeface="Georgia"/>
              </a:rPr>
              <a:t>f_output · f_next_state · f_uncertainty · f_apply_operations</a:t>
            </a:r>
            <a:endParaRPr b="0" sz="1600" strike="noStrike">
              <a:solidFill>
                <a:schemeClr val="dk1"/>
              </a:solidFill>
              <a:latin typeface="Arial"/>
              <a:ea typeface="Arial"/>
              <a:cs typeface="Arial"/>
              <a:sym typeface="Arial"/>
            </a:endParaRPr>
          </a:p>
        </p:txBody>
      </p:sp>
      <p:sp>
        <p:nvSpPr>
          <p:cNvPr id="386" name="Google Shape;386;p21"/>
          <p:cNvSpPr/>
          <p:nvPr/>
        </p:nvSpPr>
        <p:spPr>
          <a:xfrm>
            <a:off x="457200" y="2926080"/>
            <a:ext cx="694836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What I built</a:t>
            </a:r>
            <a:endParaRPr b="0" sz="1500" strike="noStrike">
              <a:solidFill>
                <a:schemeClr val="dk1"/>
              </a:solidFill>
              <a:latin typeface="Arial"/>
              <a:ea typeface="Arial"/>
              <a:cs typeface="Arial"/>
              <a:sym typeface="Arial"/>
            </a:endParaRPr>
          </a:p>
        </p:txBody>
      </p:sp>
      <p:cxnSp>
        <p:nvCxnSpPr>
          <p:cNvPr id="387" name="Google Shape;387;p21"/>
          <p:cNvCxnSpPr/>
          <p:nvPr/>
        </p:nvCxnSpPr>
        <p:spPr>
          <a:xfrm>
            <a:off x="457200" y="3291840"/>
            <a:ext cx="457200" cy="360"/>
          </a:xfrm>
          <a:prstGeom prst="straightConnector1">
            <a:avLst/>
          </a:prstGeom>
          <a:noFill/>
          <a:ln cap="flat" cmpd="sng" w="25400">
            <a:solidFill>
              <a:srgbClr val="C9A961"/>
            </a:solidFill>
            <a:prstDash val="solid"/>
            <a:round/>
            <a:headEnd len="sm" w="sm" type="none"/>
            <a:tailEnd len="sm" w="sm" type="none"/>
          </a:ln>
        </p:spPr>
      </p:cxnSp>
      <p:sp>
        <p:nvSpPr>
          <p:cNvPr id="388" name="Google Shape;388;p21"/>
          <p:cNvSpPr/>
          <p:nvPr/>
        </p:nvSpPr>
        <p:spPr>
          <a:xfrm>
            <a:off x="457200" y="3642852"/>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9" name="Google Shape;389;p21"/>
          <p:cNvSpPr/>
          <p:nvPr/>
        </p:nvSpPr>
        <p:spPr>
          <a:xfrm>
            <a:off x="685800" y="3429000"/>
            <a:ext cx="6674040" cy="730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Executor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f_output</a:t>
            </a:r>
            <a:r>
              <a:rPr b="0" lang="en-US" sz="1200" strike="noStrike">
                <a:solidFill>
                  <a:srgbClr val="2A2F4A"/>
                </a:solidFill>
                <a:latin typeface="Calibri"/>
                <a:ea typeface="Calibri"/>
                <a:cs typeface="Calibri"/>
                <a:sym typeface="Calibri"/>
              </a:rPr>
              <a:t> calls the LLM and returns (raw, usage) for cost tracking; </a:t>
            </a:r>
            <a:r>
              <a:rPr b="0" lang="en-US" sz="1200" strike="noStrike">
                <a:solidFill>
                  <a:srgbClr val="1E2761"/>
                </a:solidFill>
                <a:latin typeface="Consolas"/>
                <a:ea typeface="Consolas"/>
                <a:cs typeface="Consolas"/>
                <a:sym typeface="Consolas"/>
              </a:rPr>
              <a:t>f_next_state</a:t>
            </a:r>
            <a:r>
              <a:rPr b="0" lang="en-US" sz="1200" strike="noStrike">
                <a:solidFill>
                  <a:srgbClr val="2A2F4A"/>
                </a:solidFill>
                <a:latin typeface="Calibri"/>
                <a:ea typeface="Calibri"/>
                <a:cs typeface="Calibri"/>
                <a:sym typeface="Calibri"/>
              </a:rPr>
              <a:t> rebuilds clusters, checks contradictions, and returns a new immutable state.</a:t>
            </a:r>
            <a:endParaRPr b="0" sz="1200" strike="noStrike">
              <a:solidFill>
                <a:schemeClr val="dk1"/>
              </a:solidFill>
              <a:latin typeface="Arial"/>
              <a:ea typeface="Arial"/>
              <a:cs typeface="Arial"/>
              <a:sym typeface="Arial"/>
            </a:endParaRPr>
          </a:p>
        </p:txBody>
      </p:sp>
      <p:sp>
        <p:nvSpPr>
          <p:cNvPr id="390" name="Google Shape;390;p21"/>
          <p:cNvSpPr/>
          <p:nvPr/>
        </p:nvSpPr>
        <p:spPr>
          <a:xfrm>
            <a:off x="457200" y="433440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1" name="Google Shape;391;p21"/>
          <p:cNvSpPr/>
          <p:nvPr/>
        </p:nvSpPr>
        <p:spPr>
          <a:xfrm>
            <a:off x="685800" y="4224600"/>
            <a:ext cx="6674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Sensor &amp; Planner  </a:t>
            </a:r>
            <a:r>
              <a:rPr b="0" lang="en-US" sz="1200" strike="noStrike">
                <a:solidFill>
                  <a:srgbClr val="2A2F4A"/>
                </a:solidFill>
                <a:latin typeface="Calibri"/>
                <a:ea typeface="Calibri"/>
                <a:cs typeface="Calibri"/>
                <a:sym typeface="Calibri"/>
              </a:rPr>
              <a:t>— f_uncertainty scores boundary points as 1 - max(prob) from soft assignments; f_next_best_step is a rule-based show / ask / stop decision — no LLM call.</a:t>
            </a:r>
            <a:endParaRPr b="0" sz="1200" strike="noStrike">
              <a:solidFill>
                <a:schemeClr val="dk1"/>
              </a:solidFill>
              <a:latin typeface="Arial"/>
              <a:ea typeface="Arial"/>
              <a:cs typeface="Arial"/>
              <a:sym typeface="Arial"/>
            </a:endParaRPr>
          </a:p>
        </p:txBody>
      </p:sp>
      <p:sp>
        <p:nvSpPr>
          <p:cNvPr id="392" name="Google Shape;392;p21"/>
          <p:cNvSpPr/>
          <p:nvPr/>
        </p:nvSpPr>
        <p:spPr>
          <a:xfrm>
            <a:off x="457200" y="4957796"/>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3" name="Google Shape;393;p21"/>
          <p:cNvSpPr/>
          <p:nvPr/>
        </p:nvSpPr>
        <p:spPr>
          <a:xfrm>
            <a:off x="685800" y="479160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Feedback bridge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f_parse_clustering_intent</a:t>
            </a:r>
            <a:r>
              <a:rPr b="0" lang="en-US" sz="1200" strike="noStrike">
                <a:solidFill>
                  <a:srgbClr val="2A2F4A"/>
                </a:solidFill>
                <a:latin typeface="Calibri"/>
                <a:ea typeface="Calibri"/>
                <a:cs typeface="Calibri"/>
                <a:sym typeface="Calibri"/>
              </a:rPr>
              <a:t> turns free-text intent into {k, axis}; </a:t>
            </a:r>
            <a:r>
              <a:rPr b="0" lang="en-US" sz="1200" strike="noStrike">
                <a:solidFill>
                  <a:srgbClr val="1E2761"/>
                </a:solidFill>
                <a:latin typeface="Consolas"/>
                <a:ea typeface="Consolas"/>
                <a:cs typeface="Consolas"/>
                <a:sym typeface="Consolas"/>
              </a:rPr>
              <a:t>f_apply_operations</a:t>
            </a:r>
            <a:r>
              <a:rPr b="0" lang="en-US" sz="1200" strike="noStrike">
                <a:solidFill>
                  <a:srgbClr val="2A2F4A"/>
                </a:solidFill>
                <a:latin typeface="Calibri"/>
                <a:ea typeface="Calibri"/>
                <a:cs typeface="Calibri"/>
                <a:sym typeface="Calibri"/>
              </a:rPr>
              <a:t> dispatches Claude's merge/split/rename to P2's real k-means functions.</a:t>
            </a:r>
            <a:endParaRPr b="0" sz="1200" strike="noStrike">
              <a:solidFill>
                <a:schemeClr val="dk1"/>
              </a:solidFill>
              <a:latin typeface="Arial"/>
              <a:ea typeface="Arial"/>
              <a:cs typeface="Arial"/>
              <a:sym typeface="Arial"/>
            </a:endParaRPr>
          </a:p>
        </p:txBody>
      </p:sp>
      <p:sp>
        <p:nvSpPr>
          <p:cNvPr id="394" name="Google Shape;394;p21"/>
          <p:cNvSpPr/>
          <p:nvPr/>
        </p:nvSpPr>
        <p:spPr>
          <a:xfrm>
            <a:off x="7589520" y="2926080"/>
            <a:ext cx="4113720" cy="2010600"/>
          </a:xfrm>
          <a:prstGeom prst="rect">
            <a:avLst/>
          </a:prstGeom>
          <a:solidFill>
            <a:srgbClr val="F4F6FB"/>
          </a:solidFill>
          <a:ln cap="flat" cmpd="sng" w="9525">
            <a:solidFill>
              <a:srgbClr val="D9DF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5" name="Google Shape;395;p21"/>
          <p:cNvSpPr/>
          <p:nvPr/>
        </p:nvSpPr>
        <p:spPr>
          <a:xfrm>
            <a:off x="7589520" y="2926080"/>
            <a:ext cx="72000" cy="2010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6" name="Google Shape;396;p21"/>
          <p:cNvSpPr/>
          <p:nvPr/>
        </p:nvSpPr>
        <p:spPr>
          <a:xfrm>
            <a:off x="7818120" y="303588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CHALLENGES</a:t>
            </a:r>
            <a:endParaRPr b="0" sz="900" strike="noStrike">
              <a:solidFill>
                <a:schemeClr val="dk1"/>
              </a:solidFill>
              <a:latin typeface="Arial"/>
              <a:ea typeface="Arial"/>
              <a:cs typeface="Arial"/>
              <a:sym typeface="Arial"/>
            </a:endParaRPr>
          </a:p>
        </p:txBody>
      </p:sp>
      <p:sp>
        <p:nvSpPr>
          <p:cNvPr id="397" name="Google Shape;397;p21"/>
          <p:cNvSpPr/>
          <p:nvPr/>
        </p:nvSpPr>
        <p:spPr>
          <a:xfrm>
            <a:off x="7818120" y="3291840"/>
            <a:ext cx="3747960" cy="155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100"/>
              <a:buFont typeface="Calibri"/>
              <a:buNone/>
            </a:pPr>
            <a:r>
              <a:rPr b="0" lang="en-US" sz="1100" strike="noStrike">
                <a:solidFill>
                  <a:srgbClr val="2A2F4A"/>
                </a:solidFill>
                <a:latin typeface="Calibri"/>
                <a:ea typeface="Calibri"/>
                <a:cs typeface="Calibri"/>
                <a:sym typeface="Calibri"/>
              </a:rPr>
              <a:t>Caught schema drift (target_cluster_id → target_cluster_ids) and f_output's new tuple return via existing tests. Fixed an architectural bug flagged by Opus: the old design had Claude inventing data-point assignments. Resolved by making Claude the translator only — it chooses the operation; k-means decides where every point goes.</a:t>
            </a:r>
            <a:endParaRPr b="0" sz="1100" strike="noStrike">
              <a:solidFill>
                <a:schemeClr val="dk1"/>
              </a:solidFill>
              <a:latin typeface="Arial"/>
              <a:ea typeface="Arial"/>
              <a:cs typeface="Arial"/>
              <a:sym typeface="Arial"/>
            </a:endParaRPr>
          </a:p>
        </p:txBody>
      </p:sp>
      <p:sp>
        <p:nvSpPr>
          <p:cNvPr id="398" name="Google Shape;398;p21"/>
          <p:cNvSpPr/>
          <p:nvPr/>
        </p:nvSpPr>
        <p:spPr>
          <a:xfrm>
            <a:off x="7589520" y="5102280"/>
            <a:ext cx="4113720" cy="12517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9" name="Google Shape;399;p21"/>
          <p:cNvSpPr/>
          <p:nvPr/>
        </p:nvSpPr>
        <p:spPr>
          <a:xfrm>
            <a:off x="7589520" y="5102280"/>
            <a:ext cx="411372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0" name="Google Shape;400;p21"/>
          <p:cNvSpPr/>
          <p:nvPr/>
        </p:nvSpPr>
        <p:spPr>
          <a:xfrm>
            <a:off x="7818120" y="526680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SPRINT</a:t>
            </a:r>
            <a:endParaRPr b="0" sz="900" strike="noStrike">
              <a:solidFill>
                <a:schemeClr val="dk1"/>
              </a:solidFill>
              <a:latin typeface="Arial"/>
              <a:ea typeface="Arial"/>
              <a:cs typeface="Arial"/>
              <a:sym typeface="Arial"/>
            </a:endParaRPr>
          </a:p>
        </p:txBody>
      </p:sp>
      <p:sp>
        <p:nvSpPr>
          <p:cNvPr id="401" name="Google Shape;401;p21"/>
          <p:cNvSpPr/>
          <p:nvPr/>
        </p:nvSpPr>
        <p:spPr>
          <a:xfrm>
            <a:off x="7818120" y="5513760"/>
            <a:ext cx="3747960" cy="74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Wire f_apply_operations into turns.py to close the oracle feedback loop. Implement f_eval (still a stub) before the final demo.</a:t>
            </a:r>
            <a:endParaRPr b="0" sz="1100" strike="noStrike">
              <a:solidFill>
                <a:schemeClr val="dk1"/>
              </a:solidFill>
              <a:latin typeface="Arial"/>
              <a:ea typeface="Arial"/>
              <a:cs typeface="Arial"/>
              <a:sym typeface="Arial"/>
            </a:endParaRPr>
          </a:p>
        </p:txBody>
      </p:sp>
      <p:sp>
        <p:nvSpPr>
          <p:cNvPr id="402" name="Google Shape;402;p21"/>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403" name="Google Shape;403;p21"/>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7 / 10</a:t>
            </a:r>
            <a:endParaRPr b="0" sz="900"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22"/>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410" name="Google Shape;410;p22"/>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411" name="Google Shape;411;p22"/>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Sprint 2 · P4 — LLM &amp; Prompting</a:t>
            </a:r>
            <a:endParaRPr b="0" sz="2600" strike="noStrike">
              <a:solidFill>
                <a:schemeClr val="dk1"/>
              </a:solidFill>
              <a:latin typeface="Arial"/>
              <a:ea typeface="Arial"/>
              <a:cs typeface="Arial"/>
              <a:sym typeface="Arial"/>
            </a:endParaRPr>
          </a:p>
        </p:txBody>
      </p:sp>
      <p:sp>
        <p:nvSpPr>
          <p:cNvPr id="412" name="Google Shape;412;p22"/>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SPRINT 2 · P4</a:t>
            </a:r>
            <a:endParaRPr b="0" sz="900" strike="noStrike">
              <a:solidFill>
                <a:schemeClr val="dk1"/>
              </a:solidFill>
              <a:latin typeface="Arial"/>
              <a:ea typeface="Arial"/>
              <a:cs typeface="Arial"/>
              <a:sym typeface="Arial"/>
            </a:endParaRPr>
          </a:p>
        </p:txBody>
      </p:sp>
      <p:cxnSp>
        <p:nvCxnSpPr>
          <p:cNvPr id="413" name="Google Shape;413;p22"/>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414" name="Google Shape;414;p22"/>
          <p:cNvSpPr/>
          <p:nvPr/>
        </p:nvSpPr>
        <p:spPr>
          <a:xfrm>
            <a:off x="457200" y="1280160"/>
            <a:ext cx="11246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Structured operations, real contradiction detection, and per-call cost tracking — all flowing through the single harness chokepoint.</a:t>
            </a:r>
            <a:endParaRPr b="0" sz="1200" strike="noStrike">
              <a:solidFill>
                <a:schemeClr val="dk1"/>
              </a:solidFill>
              <a:latin typeface="Arial"/>
              <a:ea typeface="Arial"/>
              <a:cs typeface="Arial"/>
              <a:sym typeface="Arial"/>
            </a:endParaRPr>
          </a:p>
        </p:txBody>
      </p:sp>
      <p:sp>
        <p:nvSpPr>
          <p:cNvPr id="415" name="Google Shape;415;p22"/>
          <p:cNvSpPr/>
          <p:nvPr/>
        </p:nvSpPr>
        <p:spPr>
          <a:xfrm>
            <a:off x="457200" y="1828800"/>
            <a:ext cx="11246040" cy="867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6" name="Google Shape;416;p22"/>
          <p:cNvSpPr/>
          <p:nvPr/>
        </p:nvSpPr>
        <p:spPr>
          <a:xfrm>
            <a:off x="457200" y="1828800"/>
            <a:ext cx="108720" cy="867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7" name="Google Shape;417;p22"/>
          <p:cNvSpPr/>
          <p:nvPr/>
        </p:nvSpPr>
        <p:spPr>
          <a:xfrm>
            <a:off x="685800" y="1920240"/>
            <a:ext cx="54853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P4 · LLM &amp; PROMPTING</a:t>
            </a:r>
            <a:endParaRPr b="0" sz="1100" strike="noStrike">
              <a:solidFill>
                <a:schemeClr val="dk1"/>
              </a:solidFill>
              <a:latin typeface="Arial"/>
              <a:ea typeface="Arial"/>
              <a:cs typeface="Arial"/>
              <a:sym typeface="Arial"/>
            </a:endParaRPr>
          </a:p>
        </p:txBody>
      </p:sp>
      <p:sp>
        <p:nvSpPr>
          <p:cNvPr id="418" name="Google Shape;418;p22"/>
          <p:cNvSpPr/>
          <p:nvPr/>
        </p:nvSpPr>
        <p:spPr>
          <a:xfrm>
            <a:off x="685800" y="2148840"/>
            <a:ext cx="502812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lang="en-US" sz="2400" strike="noStrike">
                <a:solidFill>
                  <a:srgbClr val="FFFFFF"/>
                </a:solidFill>
                <a:latin typeface="Georgia"/>
                <a:ea typeface="Georgia"/>
                <a:cs typeface="Georgia"/>
                <a:sym typeface="Georgia"/>
              </a:rPr>
              <a:t>Nilo Netti</a:t>
            </a:r>
            <a:endParaRPr b="0" sz="2400" strike="noStrike">
              <a:solidFill>
                <a:schemeClr val="dk1"/>
              </a:solidFill>
              <a:latin typeface="Arial"/>
              <a:ea typeface="Arial"/>
              <a:cs typeface="Arial"/>
              <a:sym typeface="Arial"/>
            </a:endParaRPr>
          </a:p>
        </p:txBody>
      </p:sp>
      <p:sp>
        <p:nvSpPr>
          <p:cNvPr id="419" name="Google Shape;419;p22"/>
          <p:cNvSpPr/>
          <p:nvPr/>
        </p:nvSpPr>
        <p:spPr>
          <a:xfrm>
            <a:off x="5811170" y="2055823"/>
            <a:ext cx="5759700" cy="456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600"/>
              <a:buFont typeface="Georgia"/>
              <a:buNone/>
            </a:pPr>
            <a:r>
              <a:rPr b="0" i="1" lang="en-US" sz="1600" strike="noStrike">
                <a:solidFill>
                  <a:srgbClr val="CADCFC"/>
                </a:solidFill>
                <a:latin typeface="Georgia"/>
                <a:ea typeface="Georgia"/>
                <a:cs typeface="Georgia"/>
                <a:sym typeface="Georgia"/>
              </a:rPr>
              <a:t>Harness · Prompts · Contradiction · Cost</a:t>
            </a:r>
            <a:endParaRPr b="0" sz="1600" strike="noStrike">
              <a:solidFill>
                <a:schemeClr val="dk1"/>
              </a:solidFill>
              <a:latin typeface="Arial"/>
              <a:ea typeface="Arial"/>
              <a:cs typeface="Arial"/>
              <a:sym typeface="Arial"/>
            </a:endParaRPr>
          </a:p>
        </p:txBody>
      </p:sp>
      <p:sp>
        <p:nvSpPr>
          <p:cNvPr id="420" name="Google Shape;420;p22"/>
          <p:cNvSpPr/>
          <p:nvPr/>
        </p:nvSpPr>
        <p:spPr>
          <a:xfrm>
            <a:off x="457200" y="2926080"/>
            <a:ext cx="694836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What I built</a:t>
            </a:r>
            <a:endParaRPr b="0" sz="1500" strike="noStrike">
              <a:solidFill>
                <a:schemeClr val="dk1"/>
              </a:solidFill>
              <a:latin typeface="Arial"/>
              <a:ea typeface="Arial"/>
              <a:cs typeface="Arial"/>
              <a:sym typeface="Arial"/>
            </a:endParaRPr>
          </a:p>
        </p:txBody>
      </p:sp>
      <p:cxnSp>
        <p:nvCxnSpPr>
          <p:cNvPr id="421" name="Google Shape;421;p22"/>
          <p:cNvCxnSpPr/>
          <p:nvPr/>
        </p:nvCxnSpPr>
        <p:spPr>
          <a:xfrm>
            <a:off x="457200" y="3291840"/>
            <a:ext cx="457200" cy="360"/>
          </a:xfrm>
          <a:prstGeom prst="straightConnector1">
            <a:avLst/>
          </a:prstGeom>
          <a:noFill/>
          <a:ln cap="flat" cmpd="sng" w="25400">
            <a:solidFill>
              <a:srgbClr val="C9A961"/>
            </a:solidFill>
            <a:prstDash val="solid"/>
            <a:round/>
            <a:headEnd len="sm" w="sm" type="none"/>
            <a:tailEnd len="sm" w="sm" type="none"/>
          </a:ln>
        </p:spPr>
      </p:cxnSp>
      <p:sp>
        <p:nvSpPr>
          <p:cNvPr id="422" name="Google Shape;422;p22"/>
          <p:cNvSpPr/>
          <p:nvPr/>
        </p:nvSpPr>
        <p:spPr>
          <a:xfrm>
            <a:off x="457200" y="3605015"/>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3" name="Google Shape;423;p22"/>
          <p:cNvSpPr/>
          <p:nvPr/>
        </p:nvSpPr>
        <p:spPr>
          <a:xfrm>
            <a:off x="685800" y="342900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a:solidFill>
                  <a:srgbClr val="1E2761"/>
                </a:solidFill>
                <a:latin typeface="Calibri"/>
                <a:ea typeface="Calibri"/>
                <a:cs typeface="Calibri"/>
                <a:sym typeface="Calibri"/>
              </a:rPr>
              <a:t>API wrapper</a:t>
            </a:r>
            <a:r>
              <a:rPr b="1" lang="en-US" sz="1200" strike="noStrike">
                <a:solidFill>
                  <a:srgbClr val="1E2761"/>
                </a:solidFill>
                <a:latin typeface="Calibri"/>
                <a:ea typeface="Calibri"/>
                <a:cs typeface="Calibri"/>
                <a:sym typeface="Calibri"/>
              </a:rPr>
              <a:t>  </a:t>
            </a:r>
            <a:r>
              <a:rPr lang="en-US" sz="1200">
                <a:solidFill>
                  <a:srgbClr val="2A2F4A"/>
                </a:solidFill>
                <a:latin typeface="Calibri"/>
                <a:ea typeface="Calibri"/>
                <a:cs typeface="Calibri"/>
                <a:sym typeface="Calibri"/>
              </a:rPr>
              <a:t>- load_prompt(), hash_prompt(), render_prompt(), call_llm, errors management</a:t>
            </a:r>
            <a:r>
              <a:rPr b="0" lang="en-US" sz="1200" strike="noStrike">
                <a:solidFill>
                  <a:srgbClr val="2A2F4A"/>
                </a:solidFill>
                <a:latin typeface="Calibri"/>
                <a:ea typeface="Calibri"/>
                <a:cs typeface="Calibri"/>
                <a:sym typeface="Calibri"/>
              </a:rPr>
              <a:t> </a:t>
            </a:r>
            <a:endParaRPr sz="1200">
              <a:solidFill>
                <a:srgbClr val="2A2F4A"/>
              </a:solidFill>
              <a:latin typeface="Calibri"/>
              <a:ea typeface="Calibri"/>
              <a:cs typeface="Calibri"/>
              <a:sym typeface="Calibri"/>
            </a:endParaRPr>
          </a:p>
          <a:p>
            <a:pPr indent="-304800" lvl="0" marL="457200" marR="0" rtl="0" algn="l">
              <a:lnSpc>
                <a:spcPct val="100000"/>
              </a:lnSpc>
              <a:spcBef>
                <a:spcPts val="0"/>
              </a:spcBef>
              <a:spcAft>
                <a:spcPts val="0"/>
              </a:spcAft>
              <a:buSzPts val="1200"/>
              <a:buChar char="-"/>
            </a:pPr>
            <a:r>
              <a:rPr b="0" lang="en-US" sz="1200" strike="noStrike">
                <a:solidFill>
                  <a:srgbClr val="1E2761"/>
                </a:solidFill>
                <a:latin typeface="Consolas"/>
                <a:ea typeface="Consolas"/>
                <a:cs typeface="Consolas"/>
                <a:sym typeface="Consolas"/>
              </a:rPr>
              <a:t>f_output.txt</a:t>
            </a:r>
            <a:r>
              <a:rPr b="0" lang="en-US" sz="1200" strike="noStrike">
                <a:solidFill>
                  <a:srgbClr val="2A2F4A"/>
                </a:solidFill>
                <a:latin typeface="Calibri"/>
                <a:ea typeface="Calibri"/>
                <a:cs typeface="Calibri"/>
                <a:sym typeface="Calibri"/>
              </a:rPr>
              <a:t>: Claude returns operations (merge/split/rename)</a:t>
            </a:r>
            <a:r>
              <a:rPr lang="en-US" sz="1200">
                <a:solidFill>
                  <a:srgbClr val="2A2F4A"/>
                </a:solidFill>
                <a:latin typeface="Calibri"/>
                <a:ea typeface="Calibri"/>
                <a:cs typeface="Calibri"/>
                <a:sym typeface="Calibri"/>
              </a:rPr>
              <a:t> needed on the clustering</a:t>
            </a:r>
            <a:endParaRPr b="0" sz="1200" strike="noStrike">
              <a:solidFill>
                <a:schemeClr val="dk1"/>
              </a:solidFill>
              <a:latin typeface="Arial"/>
              <a:ea typeface="Arial"/>
              <a:cs typeface="Arial"/>
              <a:sym typeface="Arial"/>
            </a:endParaRPr>
          </a:p>
        </p:txBody>
      </p:sp>
      <p:sp>
        <p:nvSpPr>
          <p:cNvPr id="424" name="Google Shape;424;p22"/>
          <p:cNvSpPr/>
          <p:nvPr/>
        </p:nvSpPr>
        <p:spPr>
          <a:xfrm>
            <a:off x="457200" y="4318634"/>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5" name="Google Shape;425;p22"/>
          <p:cNvSpPr/>
          <p:nvPr/>
        </p:nvSpPr>
        <p:spPr>
          <a:xfrm>
            <a:off x="685800" y="413316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Cost tracking  </a:t>
            </a:r>
            <a:r>
              <a:rPr b="0" lang="en-US" sz="1200" strike="noStrike">
                <a:solidFill>
                  <a:srgbClr val="2A2F4A"/>
                </a:solidFill>
                <a:latin typeface="Calibri"/>
                <a:ea typeface="Calibri"/>
                <a:cs typeface="Calibri"/>
                <a:sym typeface="Calibri"/>
              </a:rPr>
              <a:t>— </a:t>
            </a:r>
            <a:r>
              <a:rPr b="0" lang="en-US" sz="1200" strike="noStrike">
                <a:solidFill>
                  <a:srgbClr val="1E2761"/>
                </a:solidFill>
                <a:latin typeface="Consolas"/>
                <a:ea typeface="Consolas"/>
                <a:cs typeface="Consolas"/>
                <a:sym typeface="Consolas"/>
              </a:rPr>
              <a:t>f_output</a:t>
            </a:r>
            <a:r>
              <a:rPr b="0" lang="en-US" sz="1200" strike="noStrike">
                <a:solidFill>
                  <a:srgbClr val="2A2F4A"/>
                </a:solidFill>
                <a:latin typeface="Calibri"/>
                <a:ea typeface="Calibri"/>
                <a:cs typeface="Calibri"/>
                <a:sym typeface="Calibri"/>
              </a:rPr>
              <a:t> now returns (raw, usage); SystemTurn exposes token_usage and cost_usd; </a:t>
            </a:r>
            <a:r>
              <a:rPr b="0" lang="en-US" sz="1200" strike="noStrike">
                <a:solidFill>
                  <a:srgbClr val="1E2761"/>
                </a:solidFill>
                <a:latin typeface="Consolas"/>
                <a:ea typeface="Consolas"/>
                <a:cs typeface="Consolas"/>
                <a:sym typeface="Consolas"/>
              </a:rPr>
              <a:t>log_llm_call</a:t>
            </a:r>
            <a:r>
              <a:rPr b="0" lang="en-US" sz="1200" strike="noStrike">
                <a:solidFill>
                  <a:srgbClr val="2A2F4A"/>
                </a:solidFill>
                <a:latin typeface="Calibri"/>
                <a:ea typeface="Calibri"/>
                <a:cs typeface="Calibri"/>
                <a:sym typeface="Calibri"/>
              </a:rPr>
              <a:t> runs after every LLM response.</a:t>
            </a:r>
            <a:endParaRPr b="0" sz="1200" strike="noStrike">
              <a:solidFill>
                <a:schemeClr val="dk1"/>
              </a:solidFill>
              <a:latin typeface="Arial"/>
              <a:ea typeface="Arial"/>
              <a:cs typeface="Arial"/>
              <a:sym typeface="Arial"/>
            </a:endParaRPr>
          </a:p>
        </p:txBody>
      </p:sp>
      <p:sp>
        <p:nvSpPr>
          <p:cNvPr id="426" name="Google Shape;426;p22"/>
          <p:cNvSpPr/>
          <p:nvPr/>
        </p:nvSpPr>
        <p:spPr>
          <a:xfrm>
            <a:off x="457200" y="4946760"/>
            <a:ext cx="108720" cy="10872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7" name="Google Shape;427;p22"/>
          <p:cNvSpPr/>
          <p:nvPr/>
        </p:nvSpPr>
        <p:spPr>
          <a:xfrm>
            <a:off x="685800" y="4837320"/>
            <a:ext cx="6674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Contradiction detection  </a:t>
            </a:r>
            <a:r>
              <a:rPr b="0" lang="en-US" sz="1200" strike="noStrike">
                <a:solidFill>
                  <a:srgbClr val="2A2F4A"/>
                </a:solidFill>
                <a:latin typeface="Calibri"/>
                <a:ea typeface="Calibri"/>
                <a:cs typeface="Calibri"/>
                <a:sym typeface="Calibri"/>
              </a:rPr>
              <a:t>— real </a:t>
            </a:r>
            <a:r>
              <a:rPr b="0" lang="en-US" sz="1200" strike="noStrike">
                <a:solidFill>
                  <a:srgbClr val="1E2761"/>
                </a:solidFill>
                <a:latin typeface="Consolas"/>
                <a:ea typeface="Consolas"/>
                <a:cs typeface="Consolas"/>
                <a:sym typeface="Consolas"/>
              </a:rPr>
              <a:t>detect_contradiction</a:t>
            </a:r>
            <a:r>
              <a:rPr b="0" lang="en-US" sz="1200" strike="noStrike">
                <a:solidFill>
                  <a:srgbClr val="2A2F4A"/>
                </a:solidFill>
                <a:latin typeface="Calibri"/>
                <a:ea typeface="Calibri"/>
                <a:cs typeface="Calibri"/>
                <a:sym typeface="Calibri"/>
              </a:rPr>
              <a:t>: keyword matching split↔merge on the same target cluster, provider-agnostic.</a:t>
            </a:r>
            <a:endParaRPr b="0" sz="1200" strike="noStrike">
              <a:solidFill>
                <a:schemeClr val="dk1"/>
              </a:solidFill>
              <a:latin typeface="Arial"/>
              <a:ea typeface="Arial"/>
              <a:cs typeface="Arial"/>
              <a:sym typeface="Arial"/>
            </a:endParaRPr>
          </a:p>
        </p:txBody>
      </p:sp>
      <p:sp>
        <p:nvSpPr>
          <p:cNvPr id="428" name="Google Shape;428;p22"/>
          <p:cNvSpPr/>
          <p:nvPr/>
        </p:nvSpPr>
        <p:spPr>
          <a:xfrm>
            <a:off x="457200" y="5579975"/>
            <a:ext cx="108600" cy="10860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9" name="Google Shape;429;p22"/>
          <p:cNvSpPr/>
          <p:nvPr/>
        </p:nvSpPr>
        <p:spPr>
          <a:xfrm>
            <a:off x="685800" y="5403960"/>
            <a:ext cx="6674040" cy="63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f_eval &amp; provider  </a:t>
            </a:r>
            <a:r>
              <a:rPr b="0" lang="en-US" sz="1200" strike="noStrike">
                <a:solidFill>
                  <a:srgbClr val="2A2F4A"/>
                </a:solidFill>
                <a:latin typeface="Calibri"/>
                <a:ea typeface="Calibri"/>
                <a:cs typeface="Calibri"/>
                <a:sym typeface="Calibri"/>
              </a:rPr>
              <a:t>— implemented </a:t>
            </a:r>
            <a:r>
              <a:rPr b="0" lang="en-US" sz="1200" strike="noStrike">
                <a:solidFill>
                  <a:srgbClr val="1E2761"/>
                </a:solidFill>
                <a:latin typeface="Consolas"/>
                <a:ea typeface="Consolas"/>
                <a:cs typeface="Consolas"/>
                <a:sym typeface="Consolas"/>
              </a:rPr>
              <a:t>f_eval</a:t>
            </a:r>
            <a:r>
              <a:rPr b="0" lang="en-US" sz="1200" strike="noStrike">
                <a:solidFill>
                  <a:srgbClr val="2A2F4A"/>
                </a:solidFill>
                <a:latin typeface="Calibri"/>
                <a:ea typeface="Calibri"/>
                <a:cs typeface="Calibri"/>
                <a:sym typeface="Calibri"/>
              </a:rPr>
              <a:t> (coherence, coverage, suggested merges); active provider is OpenRouter with DeepSeek-free.</a:t>
            </a:r>
            <a:endParaRPr b="0" sz="1200" strike="noStrike">
              <a:solidFill>
                <a:schemeClr val="dk1"/>
              </a:solidFill>
              <a:latin typeface="Arial"/>
              <a:ea typeface="Arial"/>
              <a:cs typeface="Arial"/>
              <a:sym typeface="Arial"/>
            </a:endParaRPr>
          </a:p>
        </p:txBody>
      </p:sp>
      <p:sp>
        <p:nvSpPr>
          <p:cNvPr id="430" name="Google Shape;430;p22"/>
          <p:cNvSpPr/>
          <p:nvPr/>
        </p:nvSpPr>
        <p:spPr>
          <a:xfrm>
            <a:off x="7818120" y="303588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t/>
            </a:r>
            <a:endParaRPr b="0" sz="900" strike="noStrike">
              <a:solidFill>
                <a:schemeClr val="dk1"/>
              </a:solidFill>
              <a:latin typeface="Arial"/>
              <a:ea typeface="Arial"/>
              <a:cs typeface="Arial"/>
              <a:sym typeface="Arial"/>
            </a:endParaRPr>
          </a:p>
        </p:txBody>
      </p:sp>
      <p:sp>
        <p:nvSpPr>
          <p:cNvPr id="431" name="Google Shape;431;p22"/>
          <p:cNvSpPr/>
          <p:nvPr/>
        </p:nvSpPr>
        <p:spPr>
          <a:xfrm>
            <a:off x="7589520" y="5102280"/>
            <a:ext cx="4113720" cy="125172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2" name="Google Shape;432;p22"/>
          <p:cNvSpPr/>
          <p:nvPr/>
        </p:nvSpPr>
        <p:spPr>
          <a:xfrm>
            <a:off x="7589520" y="5102280"/>
            <a:ext cx="411372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3" name="Google Shape;433;p22"/>
          <p:cNvSpPr/>
          <p:nvPr/>
        </p:nvSpPr>
        <p:spPr>
          <a:xfrm>
            <a:off x="7818120" y="526680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SPRINT</a:t>
            </a:r>
            <a:endParaRPr b="0" sz="900" strike="noStrike">
              <a:solidFill>
                <a:schemeClr val="dk1"/>
              </a:solidFill>
              <a:latin typeface="Arial"/>
              <a:ea typeface="Arial"/>
              <a:cs typeface="Arial"/>
              <a:sym typeface="Arial"/>
            </a:endParaRPr>
          </a:p>
        </p:txBody>
      </p:sp>
      <p:sp>
        <p:nvSpPr>
          <p:cNvPr id="434" name="Google Shape;434;p22"/>
          <p:cNvSpPr/>
          <p:nvPr/>
        </p:nvSpPr>
        <p:spPr>
          <a:xfrm>
            <a:off x="7818120" y="5513760"/>
            <a:ext cx="3747960" cy="74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lang="en-US" sz="1100" strike="noStrike">
                <a:solidFill>
                  <a:srgbClr val="CADCFC"/>
                </a:solidFill>
                <a:latin typeface="Calibri"/>
                <a:ea typeface="Calibri"/>
                <a:cs typeface="Calibri"/>
                <a:sym typeface="Calibri"/>
              </a:rPr>
              <a:t>Refine the f_eval prompt and fold its self-assessment into the planner loop. Tune the contradiction heuristics on real multi-turn sessions.</a:t>
            </a:r>
            <a:endParaRPr b="0" sz="1100" strike="noStrike">
              <a:solidFill>
                <a:schemeClr val="dk1"/>
              </a:solidFill>
              <a:latin typeface="Arial"/>
              <a:ea typeface="Arial"/>
              <a:cs typeface="Arial"/>
              <a:sym typeface="Arial"/>
            </a:endParaRPr>
          </a:p>
        </p:txBody>
      </p:sp>
      <p:sp>
        <p:nvSpPr>
          <p:cNvPr id="435" name="Google Shape;435;p22"/>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436" name="Google Shape;436;p22"/>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8 / 10</a:t>
            </a:r>
            <a:endParaRPr b="0" sz="900"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23"/>
          <p:cNvSpPr/>
          <p:nvPr/>
        </p:nvSpPr>
        <p:spPr>
          <a:xfrm>
            <a:off x="457200" y="411480"/>
            <a:ext cx="501840" cy="50184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443" name="Google Shape;443;p23"/>
          <p:cNvPicPr preferRelativeResize="0"/>
          <p:nvPr/>
        </p:nvPicPr>
        <p:blipFill rotWithShape="1">
          <a:blip r:embed="rId3">
            <a:alphaModFix/>
          </a:blip>
          <a:srcRect b="0" l="0" r="0" t="0"/>
          <a:stretch/>
        </p:blipFill>
        <p:spPr>
          <a:xfrm>
            <a:off x="567000" y="521280"/>
            <a:ext cx="282240" cy="282240"/>
          </a:xfrm>
          <a:prstGeom prst="rect">
            <a:avLst/>
          </a:prstGeom>
          <a:noFill/>
          <a:ln>
            <a:noFill/>
          </a:ln>
        </p:spPr>
      </p:pic>
      <p:sp>
        <p:nvSpPr>
          <p:cNvPr id="444" name="Google Shape;444;p23"/>
          <p:cNvSpPr/>
          <p:nvPr/>
        </p:nvSpPr>
        <p:spPr>
          <a:xfrm>
            <a:off x="1143000" y="411480"/>
            <a:ext cx="9142920" cy="547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Georgia"/>
              <a:buNone/>
            </a:pPr>
            <a:r>
              <a:rPr b="1" lang="en-US" sz="2600" strike="noStrike">
                <a:solidFill>
                  <a:srgbClr val="1E2761"/>
                </a:solidFill>
                <a:latin typeface="Georgia"/>
                <a:ea typeface="Georgia"/>
                <a:cs typeface="Georgia"/>
                <a:sym typeface="Georgia"/>
              </a:rPr>
              <a:t>Sprint 2 · P5 — Evaluation &amp; CLI</a:t>
            </a:r>
            <a:endParaRPr b="0" sz="2600" strike="noStrike">
              <a:solidFill>
                <a:schemeClr val="dk1"/>
              </a:solidFill>
              <a:latin typeface="Arial"/>
              <a:ea typeface="Arial"/>
              <a:cs typeface="Arial"/>
              <a:sym typeface="Arial"/>
            </a:endParaRPr>
          </a:p>
        </p:txBody>
      </p:sp>
      <p:sp>
        <p:nvSpPr>
          <p:cNvPr id="445" name="Google Shape;445;p23"/>
          <p:cNvSpPr/>
          <p:nvPr/>
        </p:nvSpPr>
        <p:spPr>
          <a:xfrm>
            <a:off x="10058400" y="502920"/>
            <a:ext cx="1644840" cy="3189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SPRINT 2 · P5</a:t>
            </a:r>
            <a:endParaRPr b="0" sz="900" strike="noStrike">
              <a:solidFill>
                <a:schemeClr val="dk1"/>
              </a:solidFill>
              <a:latin typeface="Arial"/>
              <a:ea typeface="Arial"/>
              <a:cs typeface="Arial"/>
              <a:sym typeface="Arial"/>
            </a:endParaRPr>
          </a:p>
        </p:txBody>
      </p:sp>
      <p:cxnSp>
        <p:nvCxnSpPr>
          <p:cNvPr id="446" name="Google Shape;446;p23"/>
          <p:cNvCxnSpPr/>
          <p:nvPr/>
        </p:nvCxnSpPr>
        <p:spPr>
          <a:xfrm>
            <a:off x="457200" y="1097280"/>
            <a:ext cx="11247120" cy="360"/>
          </a:xfrm>
          <a:prstGeom prst="straightConnector1">
            <a:avLst/>
          </a:prstGeom>
          <a:noFill/>
          <a:ln cap="flat" cmpd="sng" w="12700">
            <a:solidFill>
              <a:srgbClr val="D9DFEC"/>
            </a:solidFill>
            <a:prstDash val="solid"/>
            <a:round/>
            <a:headEnd len="sm" w="sm" type="none"/>
            <a:tailEnd len="sm" w="sm" type="none"/>
          </a:ln>
        </p:spPr>
      </p:cxnSp>
      <p:sp>
        <p:nvSpPr>
          <p:cNvPr id="447" name="Google Shape;447;p23"/>
          <p:cNvSpPr/>
          <p:nvPr/>
        </p:nvSpPr>
        <p:spPr>
          <a:xfrm>
            <a:off x="457200" y="1280160"/>
            <a:ext cx="11246040" cy="501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1200"/>
              <a:buFont typeface="Calibri"/>
              <a:buNone/>
            </a:pPr>
            <a:r>
              <a:rPr b="0" i="1" lang="en-US" sz="1200" strike="noStrike">
                <a:solidFill>
                  <a:srgbClr val="6A6F8C"/>
                </a:solidFill>
                <a:latin typeface="Calibri"/>
                <a:ea typeface="Calibri"/>
                <a:cs typeface="Calibri"/>
                <a:sym typeface="Calibri"/>
              </a:rPr>
              <a:t>The human-facing layer landed: an interactive CLI and the structured logging that makes every run reproducible.</a:t>
            </a:r>
            <a:endParaRPr b="0" sz="1200" strike="noStrike">
              <a:solidFill>
                <a:schemeClr val="dk1"/>
              </a:solidFill>
              <a:latin typeface="Arial"/>
              <a:ea typeface="Arial"/>
              <a:cs typeface="Arial"/>
              <a:sym typeface="Arial"/>
            </a:endParaRPr>
          </a:p>
        </p:txBody>
      </p:sp>
      <p:sp>
        <p:nvSpPr>
          <p:cNvPr id="448" name="Google Shape;448;p23"/>
          <p:cNvSpPr/>
          <p:nvPr/>
        </p:nvSpPr>
        <p:spPr>
          <a:xfrm>
            <a:off x="457200" y="1828800"/>
            <a:ext cx="11246100" cy="867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9" name="Google Shape;449;p23"/>
          <p:cNvSpPr/>
          <p:nvPr/>
        </p:nvSpPr>
        <p:spPr>
          <a:xfrm>
            <a:off x="457200" y="1828800"/>
            <a:ext cx="108720" cy="8676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0" name="Google Shape;450;p23"/>
          <p:cNvSpPr/>
          <p:nvPr/>
        </p:nvSpPr>
        <p:spPr>
          <a:xfrm>
            <a:off x="685800" y="1920240"/>
            <a:ext cx="36565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1100"/>
              <a:buFont typeface="Calibri"/>
              <a:buNone/>
            </a:pPr>
            <a:r>
              <a:rPr b="1" lang="en-US" sz="1100" strike="noStrike">
                <a:solidFill>
                  <a:srgbClr val="C9A961"/>
                </a:solidFill>
                <a:latin typeface="Calibri"/>
                <a:ea typeface="Calibri"/>
                <a:cs typeface="Calibri"/>
                <a:sym typeface="Calibri"/>
              </a:rPr>
              <a:t>P5 · EVALUATION &amp; CLI</a:t>
            </a:r>
            <a:endParaRPr b="0" sz="1100" strike="noStrike">
              <a:solidFill>
                <a:schemeClr val="dk1"/>
              </a:solidFill>
              <a:latin typeface="Arial"/>
              <a:ea typeface="Arial"/>
              <a:cs typeface="Arial"/>
              <a:sym typeface="Arial"/>
            </a:endParaRPr>
          </a:p>
        </p:txBody>
      </p:sp>
      <p:sp>
        <p:nvSpPr>
          <p:cNvPr id="451" name="Google Shape;451;p23"/>
          <p:cNvSpPr/>
          <p:nvPr/>
        </p:nvSpPr>
        <p:spPr>
          <a:xfrm>
            <a:off x="685800" y="2148840"/>
            <a:ext cx="502812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b="1" lang="en-US" sz="2400" strike="noStrike">
                <a:solidFill>
                  <a:srgbClr val="FFFFFF"/>
                </a:solidFill>
                <a:latin typeface="Georgia"/>
                <a:ea typeface="Georgia"/>
                <a:cs typeface="Georgia"/>
                <a:sym typeface="Georgia"/>
              </a:rPr>
              <a:t>Arianna Schiavi</a:t>
            </a:r>
            <a:endParaRPr b="0" sz="2400" strike="noStrike">
              <a:solidFill>
                <a:schemeClr val="dk1"/>
              </a:solidFill>
              <a:latin typeface="Arial"/>
              <a:ea typeface="Arial"/>
              <a:cs typeface="Arial"/>
              <a:sym typeface="Arial"/>
            </a:endParaRPr>
          </a:p>
        </p:txBody>
      </p:sp>
      <p:sp>
        <p:nvSpPr>
          <p:cNvPr id="452" name="Google Shape;452;p23"/>
          <p:cNvSpPr/>
          <p:nvPr/>
        </p:nvSpPr>
        <p:spPr>
          <a:xfrm>
            <a:off x="10398945" y="3026633"/>
            <a:ext cx="2696400" cy="36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100"/>
              <a:buFont typeface="Calibri"/>
              <a:buNone/>
            </a:pPr>
            <a:r>
              <a:t/>
            </a:r>
            <a:endParaRPr b="0" sz="1100" strike="noStrike">
              <a:solidFill>
                <a:schemeClr val="dk1"/>
              </a:solidFill>
              <a:latin typeface="Arial"/>
              <a:ea typeface="Arial"/>
              <a:cs typeface="Arial"/>
              <a:sym typeface="Arial"/>
            </a:endParaRPr>
          </a:p>
        </p:txBody>
      </p:sp>
      <p:sp>
        <p:nvSpPr>
          <p:cNvPr id="453" name="Google Shape;453;p23"/>
          <p:cNvSpPr/>
          <p:nvPr/>
        </p:nvSpPr>
        <p:spPr>
          <a:xfrm>
            <a:off x="457200" y="2971800"/>
            <a:ext cx="6948360" cy="364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500"/>
              <a:buFont typeface="Georgia"/>
              <a:buNone/>
            </a:pPr>
            <a:r>
              <a:rPr b="1" lang="en-US" sz="1500" strike="noStrike">
                <a:solidFill>
                  <a:srgbClr val="1E2761"/>
                </a:solidFill>
                <a:latin typeface="Georgia"/>
                <a:ea typeface="Georgia"/>
                <a:cs typeface="Georgia"/>
                <a:sym typeface="Georgia"/>
              </a:rPr>
              <a:t>What I built</a:t>
            </a:r>
            <a:endParaRPr b="0" sz="1500" strike="noStrike">
              <a:solidFill>
                <a:schemeClr val="dk1"/>
              </a:solidFill>
              <a:latin typeface="Arial"/>
              <a:ea typeface="Arial"/>
              <a:cs typeface="Arial"/>
              <a:sym typeface="Arial"/>
            </a:endParaRPr>
          </a:p>
        </p:txBody>
      </p:sp>
      <p:cxnSp>
        <p:nvCxnSpPr>
          <p:cNvPr id="454" name="Google Shape;454;p23"/>
          <p:cNvCxnSpPr/>
          <p:nvPr/>
        </p:nvCxnSpPr>
        <p:spPr>
          <a:xfrm>
            <a:off x="457200" y="3337560"/>
            <a:ext cx="457200" cy="360"/>
          </a:xfrm>
          <a:prstGeom prst="straightConnector1">
            <a:avLst/>
          </a:prstGeom>
          <a:noFill/>
          <a:ln cap="flat" cmpd="sng" w="25400">
            <a:solidFill>
              <a:srgbClr val="C9A961"/>
            </a:solidFill>
            <a:prstDash val="solid"/>
            <a:round/>
            <a:headEnd len="sm" w="sm" type="none"/>
            <a:tailEnd len="sm" w="sm" type="none"/>
          </a:ln>
        </p:spPr>
      </p:cxnSp>
      <p:sp>
        <p:nvSpPr>
          <p:cNvPr id="455" name="Google Shape;455;p23"/>
          <p:cNvSpPr/>
          <p:nvPr/>
        </p:nvSpPr>
        <p:spPr>
          <a:xfrm>
            <a:off x="457200" y="3904200"/>
            <a:ext cx="127080" cy="12708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6" name="Google Shape;456;p23"/>
          <p:cNvSpPr/>
          <p:nvPr/>
        </p:nvSpPr>
        <p:spPr>
          <a:xfrm>
            <a:off x="731520" y="3812760"/>
            <a:ext cx="6674040" cy="254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a:solidFill>
                  <a:srgbClr val="1E2761"/>
                </a:solidFill>
                <a:latin typeface="Calibri"/>
                <a:ea typeface="Calibri"/>
                <a:cs typeface="Calibri"/>
                <a:sym typeface="Calibri"/>
              </a:rPr>
              <a:t>UI</a:t>
            </a:r>
            <a:r>
              <a:rPr b="1" lang="en-US" sz="1200" strike="noStrike">
                <a:solidFill>
                  <a:srgbClr val="1E2761"/>
                </a:solidFill>
                <a:latin typeface="Calibri"/>
                <a:ea typeface="Calibri"/>
                <a:cs typeface="Calibri"/>
                <a:sym typeface="Calibri"/>
              </a:rPr>
              <a:t> interface</a:t>
            </a:r>
            <a:endParaRPr b="0" sz="1200" strike="noStrike">
              <a:solidFill>
                <a:schemeClr val="dk1"/>
              </a:solidFill>
              <a:latin typeface="Arial"/>
              <a:ea typeface="Arial"/>
              <a:cs typeface="Arial"/>
              <a:sym typeface="Arial"/>
            </a:endParaRPr>
          </a:p>
        </p:txBody>
      </p:sp>
      <p:sp>
        <p:nvSpPr>
          <p:cNvPr id="457" name="Google Shape;457;p23"/>
          <p:cNvSpPr/>
          <p:nvPr/>
        </p:nvSpPr>
        <p:spPr>
          <a:xfrm>
            <a:off x="731520" y="4050360"/>
            <a:ext cx="6674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50"/>
              <a:buFont typeface="Calibri"/>
              <a:buNone/>
            </a:pPr>
            <a:r>
              <a:rPr b="0" lang="en-US" sz="1050" strike="noStrike">
                <a:solidFill>
                  <a:srgbClr val="2A2F4A"/>
                </a:solidFill>
                <a:latin typeface="Calibri"/>
                <a:ea typeface="Calibri"/>
                <a:cs typeface="Calibri"/>
                <a:sym typeface="Calibri"/>
              </a:rPr>
              <a:t>Interactive command-line entry point: start a session, run initial clustering, view the current clustering, send oracle feedback turns, and inspect uncertainty.</a:t>
            </a:r>
            <a:endParaRPr b="0" sz="1050" strike="noStrike">
              <a:solidFill>
                <a:schemeClr val="dk1"/>
              </a:solidFill>
              <a:latin typeface="Arial"/>
              <a:ea typeface="Arial"/>
              <a:cs typeface="Arial"/>
              <a:sym typeface="Arial"/>
            </a:endParaRPr>
          </a:p>
        </p:txBody>
      </p:sp>
      <p:sp>
        <p:nvSpPr>
          <p:cNvPr id="458" name="Google Shape;458;p23"/>
          <p:cNvSpPr/>
          <p:nvPr/>
        </p:nvSpPr>
        <p:spPr>
          <a:xfrm>
            <a:off x="457200" y="4590000"/>
            <a:ext cx="127080" cy="12708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9" name="Google Shape;459;p23"/>
          <p:cNvSpPr/>
          <p:nvPr/>
        </p:nvSpPr>
        <p:spPr>
          <a:xfrm>
            <a:off x="731520" y="4498560"/>
            <a:ext cx="6674040" cy="254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Structured logging</a:t>
            </a:r>
            <a:endParaRPr b="0" sz="1200" strike="noStrike">
              <a:solidFill>
                <a:schemeClr val="dk1"/>
              </a:solidFill>
              <a:latin typeface="Arial"/>
              <a:ea typeface="Arial"/>
              <a:cs typeface="Arial"/>
              <a:sym typeface="Arial"/>
            </a:endParaRPr>
          </a:p>
        </p:txBody>
      </p:sp>
      <p:sp>
        <p:nvSpPr>
          <p:cNvPr id="460" name="Google Shape;460;p23"/>
          <p:cNvSpPr/>
          <p:nvPr/>
        </p:nvSpPr>
        <p:spPr>
          <a:xfrm>
            <a:off x="731520" y="4736160"/>
            <a:ext cx="6674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50"/>
              <a:buFont typeface="Calibri"/>
              <a:buNone/>
            </a:pPr>
            <a:r>
              <a:rPr b="0" lang="en-US" sz="1050" strike="noStrike">
                <a:solidFill>
                  <a:srgbClr val="2A2F4A"/>
                </a:solidFill>
                <a:latin typeface="Calibri"/>
                <a:ea typeface="Calibri"/>
                <a:cs typeface="Calibri"/>
                <a:sym typeface="Calibri"/>
              </a:rPr>
              <a:t>log_llm_call records every turn — prompt hash, token usage and cost — as structured JSONL, plus deviation tracking for reproducible experiments.</a:t>
            </a:r>
            <a:endParaRPr b="0" sz="1050" strike="noStrike">
              <a:solidFill>
                <a:schemeClr val="dk1"/>
              </a:solidFill>
              <a:latin typeface="Arial"/>
              <a:ea typeface="Arial"/>
              <a:cs typeface="Arial"/>
              <a:sym typeface="Arial"/>
            </a:endParaRPr>
          </a:p>
        </p:txBody>
      </p:sp>
      <p:sp>
        <p:nvSpPr>
          <p:cNvPr id="461" name="Google Shape;461;p23"/>
          <p:cNvSpPr/>
          <p:nvPr/>
        </p:nvSpPr>
        <p:spPr>
          <a:xfrm>
            <a:off x="457200" y="5275800"/>
            <a:ext cx="127080" cy="127080"/>
          </a:xfrm>
          <a:prstGeom prst="ellipse">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2" name="Google Shape;462;p23"/>
          <p:cNvSpPr/>
          <p:nvPr/>
        </p:nvSpPr>
        <p:spPr>
          <a:xfrm>
            <a:off x="731520" y="5184360"/>
            <a:ext cx="6674040" cy="254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lang="en-US" sz="1200" strike="noStrike">
                <a:solidFill>
                  <a:srgbClr val="1E2761"/>
                </a:solidFill>
                <a:latin typeface="Calibri"/>
                <a:ea typeface="Calibri"/>
                <a:cs typeface="Calibri"/>
                <a:sym typeface="Calibri"/>
              </a:rPr>
              <a:t>Metrics groundwork</a:t>
            </a:r>
            <a:endParaRPr b="0" sz="1200" strike="noStrike">
              <a:solidFill>
                <a:schemeClr val="dk1"/>
              </a:solidFill>
              <a:latin typeface="Arial"/>
              <a:ea typeface="Arial"/>
              <a:cs typeface="Arial"/>
              <a:sym typeface="Arial"/>
            </a:endParaRPr>
          </a:p>
        </p:txBody>
      </p:sp>
      <p:sp>
        <p:nvSpPr>
          <p:cNvPr id="463" name="Google Shape;463;p23"/>
          <p:cNvSpPr/>
          <p:nvPr/>
        </p:nvSpPr>
        <p:spPr>
          <a:xfrm>
            <a:off x="731520" y="5421960"/>
            <a:ext cx="6674040" cy="456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2F4A"/>
              </a:buClr>
              <a:buSzPts val="1050"/>
              <a:buFont typeface="Calibri"/>
              <a:buNone/>
            </a:pPr>
            <a:r>
              <a:rPr b="0" lang="en-US" sz="1050" strike="noStrike">
                <a:solidFill>
                  <a:srgbClr val="2A2F4A"/>
                </a:solidFill>
                <a:latin typeface="Calibri"/>
                <a:ea typeface="Calibri"/>
                <a:cs typeface="Calibri"/>
                <a:sym typeface="Calibri"/>
              </a:rPr>
              <a:t>Foundations for the quantitative results: turns-to-convergence, cognitive load per turn, and ARI/NMI sanity checks against ground truth.</a:t>
            </a:r>
            <a:endParaRPr b="0" sz="1050" strike="noStrike">
              <a:solidFill>
                <a:schemeClr val="dk1"/>
              </a:solidFill>
              <a:latin typeface="Arial"/>
              <a:ea typeface="Arial"/>
              <a:cs typeface="Arial"/>
              <a:sym typeface="Arial"/>
            </a:endParaRPr>
          </a:p>
        </p:txBody>
      </p:sp>
      <p:sp>
        <p:nvSpPr>
          <p:cNvPr id="464" name="Google Shape;464;p23"/>
          <p:cNvSpPr/>
          <p:nvPr/>
        </p:nvSpPr>
        <p:spPr>
          <a:xfrm>
            <a:off x="7589520" y="2971800"/>
            <a:ext cx="4113720" cy="3382200"/>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5" name="Google Shape;465;p23"/>
          <p:cNvSpPr/>
          <p:nvPr/>
        </p:nvSpPr>
        <p:spPr>
          <a:xfrm>
            <a:off x="7589520" y="2971800"/>
            <a:ext cx="4113720" cy="7200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6" name="Google Shape;466;p23"/>
          <p:cNvSpPr/>
          <p:nvPr/>
        </p:nvSpPr>
        <p:spPr>
          <a:xfrm>
            <a:off x="7818120" y="3136320"/>
            <a:ext cx="3747960" cy="227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961"/>
              </a:buClr>
              <a:buSzPts val="900"/>
              <a:buFont typeface="Calibri"/>
              <a:buNone/>
            </a:pPr>
            <a:r>
              <a:rPr b="1" lang="en-US" sz="900" strike="noStrike">
                <a:solidFill>
                  <a:srgbClr val="C9A961"/>
                </a:solidFill>
                <a:latin typeface="Calibri"/>
                <a:ea typeface="Calibri"/>
                <a:cs typeface="Calibri"/>
                <a:sym typeface="Calibri"/>
              </a:rPr>
              <a:t>NEXT SPRINT</a:t>
            </a:r>
            <a:endParaRPr b="0" sz="900" strike="noStrike">
              <a:solidFill>
                <a:schemeClr val="dk1"/>
              </a:solidFill>
              <a:latin typeface="Arial"/>
              <a:ea typeface="Arial"/>
              <a:cs typeface="Arial"/>
              <a:sym typeface="Arial"/>
            </a:endParaRPr>
          </a:p>
        </p:txBody>
      </p:sp>
      <p:sp>
        <p:nvSpPr>
          <p:cNvPr id="467" name="Google Shape;467;p23"/>
          <p:cNvSpPr/>
          <p:nvPr/>
        </p:nvSpPr>
        <p:spPr>
          <a:xfrm>
            <a:off x="7818120" y="3383280"/>
            <a:ext cx="3747960" cy="318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Georgia"/>
              <a:buNone/>
            </a:pPr>
            <a:r>
              <a:rPr b="0" i="1" lang="en-US" sz="1200" strike="noStrike">
                <a:solidFill>
                  <a:srgbClr val="CADCFC"/>
                </a:solidFill>
                <a:latin typeface="Georgia"/>
                <a:ea typeface="Georgia"/>
                <a:cs typeface="Georgia"/>
                <a:sym typeface="Georgia"/>
              </a:rPr>
              <a:t>Targets for next week</a:t>
            </a:r>
            <a:endParaRPr b="0" sz="1200" strike="noStrike">
              <a:solidFill>
                <a:schemeClr val="dk1"/>
              </a:solidFill>
              <a:latin typeface="Arial"/>
              <a:ea typeface="Arial"/>
              <a:cs typeface="Arial"/>
              <a:sym typeface="Arial"/>
            </a:endParaRPr>
          </a:p>
        </p:txBody>
      </p:sp>
      <p:sp>
        <p:nvSpPr>
          <p:cNvPr id="468" name="Google Shape;468;p23"/>
          <p:cNvSpPr/>
          <p:nvPr/>
        </p:nvSpPr>
        <p:spPr>
          <a:xfrm>
            <a:off x="7818120" y="3877200"/>
            <a:ext cx="456120" cy="27324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23"/>
          <p:cNvSpPr/>
          <p:nvPr/>
        </p:nvSpPr>
        <p:spPr>
          <a:xfrm>
            <a:off x="7818120" y="3877200"/>
            <a:ext cx="45612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1</a:t>
            </a:r>
            <a:endParaRPr b="0" sz="1100" strike="noStrike">
              <a:solidFill>
                <a:schemeClr val="dk1"/>
              </a:solidFill>
              <a:latin typeface="Arial"/>
              <a:ea typeface="Arial"/>
              <a:cs typeface="Arial"/>
              <a:sym typeface="Arial"/>
            </a:endParaRPr>
          </a:p>
        </p:txBody>
      </p:sp>
      <p:sp>
        <p:nvSpPr>
          <p:cNvPr id="470" name="Google Shape;470;p23"/>
          <p:cNvSpPr/>
          <p:nvPr/>
        </p:nvSpPr>
        <p:spPr>
          <a:xfrm>
            <a:off x="8366823" y="3721680"/>
            <a:ext cx="3199200" cy="59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0" lang="en-US" sz="1000" strike="noStrike">
                <a:solidFill>
                  <a:srgbClr val="CADCFC"/>
                </a:solidFill>
                <a:latin typeface="Calibri"/>
                <a:ea typeface="Calibri"/>
                <a:cs typeface="Calibri"/>
                <a:sym typeface="Calibri"/>
              </a:rPr>
              <a:t>Build the LLM-as-oracle simulation to run conversations at scale.</a:t>
            </a:r>
            <a:endParaRPr b="0" sz="1000" strike="noStrike">
              <a:solidFill>
                <a:schemeClr val="dk1"/>
              </a:solidFill>
              <a:latin typeface="Arial"/>
              <a:ea typeface="Arial"/>
              <a:cs typeface="Arial"/>
              <a:sym typeface="Arial"/>
            </a:endParaRPr>
          </a:p>
        </p:txBody>
      </p:sp>
      <p:sp>
        <p:nvSpPr>
          <p:cNvPr id="471" name="Google Shape;471;p23"/>
          <p:cNvSpPr/>
          <p:nvPr/>
        </p:nvSpPr>
        <p:spPr>
          <a:xfrm>
            <a:off x="7818120" y="4498920"/>
            <a:ext cx="456120" cy="27324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2" name="Google Shape;472;p23"/>
          <p:cNvSpPr/>
          <p:nvPr/>
        </p:nvSpPr>
        <p:spPr>
          <a:xfrm>
            <a:off x="7818120" y="4498920"/>
            <a:ext cx="45612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2</a:t>
            </a:r>
            <a:endParaRPr b="0" sz="1100" strike="noStrike">
              <a:solidFill>
                <a:schemeClr val="dk1"/>
              </a:solidFill>
              <a:latin typeface="Arial"/>
              <a:ea typeface="Arial"/>
              <a:cs typeface="Arial"/>
              <a:sym typeface="Arial"/>
            </a:endParaRPr>
          </a:p>
        </p:txBody>
      </p:sp>
      <p:sp>
        <p:nvSpPr>
          <p:cNvPr id="473" name="Google Shape;473;p23"/>
          <p:cNvSpPr/>
          <p:nvPr/>
        </p:nvSpPr>
        <p:spPr>
          <a:xfrm>
            <a:off x="8366823" y="4334488"/>
            <a:ext cx="3199200" cy="59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0" lang="en-US" sz="1000" strike="noStrike">
                <a:solidFill>
                  <a:srgbClr val="CADCFC"/>
                </a:solidFill>
                <a:latin typeface="Calibri"/>
                <a:ea typeface="Calibri"/>
                <a:cs typeface="Calibri"/>
                <a:sym typeface="Calibri"/>
              </a:rPr>
              <a:t>Commit the quality spec and lock the headline research question.</a:t>
            </a:r>
            <a:endParaRPr b="0" sz="1000" strike="noStrike">
              <a:solidFill>
                <a:schemeClr val="dk1"/>
              </a:solidFill>
              <a:latin typeface="Arial"/>
              <a:ea typeface="Arial"/>
              <a:cs typeface="Arial"/>
              <a:sym typeface="Arial"/>
            </a:endParaRPr>
          </a:p>
        </p:txBody>
      </p:sp>
      <p:sp>
        <p:nvSpPr>
          <p:cNvPr id="474" name="Google Shape;474;p23"/>
          <p:cNvSpPr/>
          <p:nvPr/>
        </p:nvSpPr>
        <p:spPr>
          <a:xfrm>
            <a:off x="7818120" y="5120640"/>
            <a:ext cx="456120" cy="27324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5" name="Google Shape;475;p23"/>
          <p:cNvSpPr/>
          <p:nvPr/>
        </p:nvSpPr>
        <p:spPr>
          <a:xfrm>
            <a:off x="7818120" y="5120640"/>
            <a:ext cx="45612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3</a:t>
            </a:r>
            <a:endParaRPr b="0" sz="1100" strike="noStrike">
              <a:solidFill>
                <a:schemeClr val="dk1"/>
              </a:solidFill>
              <a:latin typeface="Arial"/>
              <a:ea typeface="Arial"/>
              <a:cs typeface="Arial"/>
              <a:sym typeface="Arial"/>
            </a:endParaRPr>
          </a:p>
        </p:txBody>
      </p:sp>
      <p:sp>
        <p:nvSpPr>
          <p:cNvPr id="476" name="Google Shape;476;p23"/>
          <p:cNvSpPr/>
          <p:nvPr/>
        </p:nvSpPr>
        <p:spPr>
          <a:xfrm>
            <a:off x="8366823" y="4966239"/>
            <a:ext cx="3199200" cy="59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0" lang="en-US" sz="1000" strike="noStrike">
                <a:solidFill>
                  <a:srgbClr val="CADCFC"/>
                </a:solidFill>
                <a:latin typeface="Calibri"/>
                <a:ea typeface="Calibri"/>
                <a:cs typeface="Calibri"/>
                <a:sym typeface="Calibri"/>
              </a:rPr>
              <a:t>One full conversation end-to-end via the </a:t>
            </a:r>
            <a:r>
              <a:rPr lang="en-US" sz="1000">
                <a:solidFill>
                  <a:srgbClr val="CADCFC"/>
                </a:solidFill>
                <a:latin typeface="Calibri"/>
                <a:ea typeface="Calibri"/>
                <a:cs typeface="Calibri"/>
                <a:sym typeface="Calibri"/>
              </a:rPr>
              <a:t>UI</a:t>
            </a:r>
            <a:r>
              <a:rPr b="0" lang="en-US" sz="1000" strike="noStrike">
                <a:solidFill>
                  <a:srgbClr val="CADCFC"/>
                </a:solidFill>
                <a:latin typeface="Calibri"/>
                <a:ea typeface="Calibri"/>
                <a:cs typeface="Calibri"/>
                <a:sym typeface="Calibri"/>
              </a:rPr>
              <a:t> — demo-ready.</a:t>
            </a:r>
            <a:endParaRPr b="0" sz="1000" strike="noStrike">
              <a:solidFill>
                <a:schemeClr val="dk1"/>
              </a:solidFill>
              <a:latin typeface="Arial"/>
              <a:ea typeface="Arial"/>
              <a:cs typeface="Arial"/>
              <a:sym typeface="Arial"/>
            </a:endParaRPr>
          </a:p>
        </p:txBody>
      </p:sp>
      <p:sp>
        <p:nvSpPr>
          <p:cNvPr id="477" name="Google Shape;477;p23"/>
          <p:cNvSpPr/>
          <p:nvPr/>
        </p:nvSpPr>
        <p:spPr>
          <a:xfrm>
            <a:off x="7818120" y="5742360"/>
            <a:ext cx="456120" cy="273240"/>
          </a:xfrm>
          <a:prstGeom prst="rect">
            <a:avLst/>
          </a:prstGeom>
          <a:solidFill>
            <a:srgbClr val="C9A961"/>
          </a:solidFill>
          <a:ln cap="flat" cmpd="sng" w="12700">
            <a:solidFill>
              <a:srgbClr val="C9A9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23"/>
          <p:cNvSpPr/>
          <p:nvPr/>
        </p:nvSpPr>
        <p:spPr>
          <a:xfrm>
            <a:off x="7818120" y="5742360"/>
            <a:ext cx="456120" cy="27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100"/>
              <a:buFont typeface="Calibri"/>
              <a:buNone/>
            </a:pPr>
            <a:r>
              <a:rPr b="1" lang="en-US" sz="1100" strike="noStrike">
                <a:solidFill>
                  <a:srgbClr val="1E2761"/>
                </a:solidFill>
                <a:latin typeface="Calibri"/>
                <a:ea typeface="Calibri"/>
                <a:cs typeface="Calibri"/>
                <a:sym typeface="Calibri"/>
              </a:rPr>
              <a:t>4</a:t>
            </a:r>
            <a:endParaRPr b="0" sz="1100" strike="noStrike">
              <a:solidFill>
                <a:schemeClr val="dk1"/>
              </a:solidFill>
              <a:latin typeface="Arial"/>
              <a:ea typeface="Arial"/>
              <a:cs typeface="Arial"/>
              <a:sym typeface="Arial"/>
            </a:endParaRPr>
          </a:p>
        </p:txBody>
      </p:sp>
      <p:sp>
        <p:nvSpPr>
          <p:cNvPr id="479" name="Google Shape;479;p23"/>
          <p:cNvSpPr/>
          <p:nvPr/>
        </p:nvSpPr>
        <p:spPr>
          <a:xfrm>
            <a:off x="8366823" y="5597987"/>
            <a:ext cx="3199200" cy="593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0" lang="en-US" sz="1000" strike="noStrike">
                <a:solidFill>
                  <a:srgbClr val="CADCFC"/>
                </a:solidFill>
                <a:latin typeface="Calibri"/>
                <a:ea typeface="Calibri"/>
                <a:cs typeface="Calibri"/>
                <a:sym typeface="Calibri"/>
              </a:rPr>
              <a:t>Fix the CLI/API path mismatch (/sessions/{id}/turns vs /turns).</a:t>
            </a:r>
            <a:endParaRPr b="0" sz="1000" strike="noStrike">
              <a:solidFill>
                <a:schemeClr val="dk1"/>
              </a:solidFill>
              <a:latin typeface="Arial"/>
              <a:ea typeface="Arial"/>
              <a:cs typeface="Arial"/>
              <a:sym typeface="Arial"/>
            </a:endParaRPr>
          </a:p>
        </p:txBody>
      </p:sp>
      <p:sp>
        <p:nvSpPr>
          <p:cNvPr id="480" name="Google Shape;480;p23"/>
          <p:cNvSpPr/>
          <p:nvPr/>
        </p:nvSpPr>
        <p:spPr>
          <a:xfrm>
            <a:off x="457200" y="6492240"/>
            <a:ext cx="7314120" cy="273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Conversational Clustering · Sprint 2 Review · May 2026</a:t>
            </a:r>
            <a:endParaRPr b="0" sz="900" strike="noStrike">
              <a:solidFill>
                <a:schemeClr val="dk1"/>
              </a:solidFill>
              <a:latin typeface="Arial"/>
              <a:ea typeface="Arial"/>
              <a:cs typeface="Arial"/>
              <a:sym typeface="Arial"/>
            </a:endParaRPr>
          </a:p>
        </p:txBody>
      </p:sp>
      <p:sp>
        <p:nvSpPr>
          <p:cNvPr id="481" name="Google Shape;481;p23"/>
          <p:cNvSpPr/>
          <p:nvPr/>
        </p:nvSpPr>
        <p:spPr>
          <a:xfrm>
            <a:off x="11064240" y="6492240"/>
            <a:ext cx="639000" cy="2732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A6F8C"/>
              </a:buClr>
              <a:buSzPts val="900"/>
              <a:buFont typeface="Calibri"/>
              <a:buNone/>
            </a:pPr>
            <a:r>
              <a:rPr b="0" lang="en-US" sz="900" strike="noStrike">
                <a:solidFill>
                  <a:srgbClr val="6A6F8C"/>
                </a:solidFill>
                <a:latin typeface="Calibri"/>
                <a:ea typeface="Calibri"/>
                <a:cs typeface="Calibri"/>
                <a:sym typeface="Calibri"/>
              </a:rPr>
              <a:t>9 / 10</a:t>
            </a:r>
            <a:endParaRPr b="0" sz="900" strike="noStrike">
              <a:solidFill>
                <a:schemeClr val="dk1"/>
              </a:solidFill>
              <a:latin typeface="Arial"/>
              <a:ea typeface="Arial"/>
              <a:cs typeface="Arial"/>
              <a:sym typeface="Arial"/>
            </a:endParaRPr>
          </a:p>
        </p:txBody>
      </p:sp>
      <p:sp>
        <p:nvSpPr>
          <p:cNvPr id="482" name="Google Shape;482;p23"/>
          <p:cNvSpPr/>
          <p:nvPr/>
        </p:nvSpPr>
        <p:spPr>
          <a:xfrm>
            <a:off x="5811170" y="2178794"/>
            <a:ext cx="5759700" cy="456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600"/>
              <a:buFont typeface="Georgia"/>
              <a:buNone/>
            </a:pPr>
            <a:r>
              <a:rPr i="1" lang="en-US" sz="1600">
                <a:solidFill>
                  <a:srgbClr val="CADCFC"/>
                </a:solidFill>
                <a:latin typeface="Georgia"/>
                <a:ea typeface="Georgia"/>
                <a:cs typeface="Georgia"/>
                <a:sym typeface="Georgia"/>
              </a:rPr>
              <a:t>CLI · Logging · Metrics</a:t>
            </a:r>
            <a:endParaRPr i="1" sz="1600">
              <a:solidFill>
                <a:srgbClr val="CADCFC"/>
              </a:solidFill>
              <a:latin typeface="Georgia"/>
              <a:ea typeface="Georgia"/>
              <a:cs typeface="Georgia"/>
              <a:sym typeface="Georgia"/>
            </a:endParaRPr>
          </a:p>
          <a:p>
            <a:pPr indent="0" lvl="0" marL="0" marR="0" rtl="0" algn="r">
              <a:lnSpc>
                <a:spcPct val="100000"/>
              </a:lnSpc>
              <a:spcBef>
                <a:spcPts val="0"/>
              </a:spcBef>
              <a:spcAft>
                <a:spcPts val="0"/>
              </a:spcAft>
              <a:buClr>
                <a:srgbClr val="CADCFC"/>
              </a:buClr>
              <a:buSzPts val="1600"/>
              <a:buFont typeface="Georgia"/>
              <a:buNone/>
            </a:pPr>
            <a:r>
              <a:t/>
            </a:r>
            <a:endParaRPr i="1" sz="1600">
              <a:solidFill>
                <a:srgbClr val="CADCFC"/>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