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slide+xml" PartName="/ppt/slides/slide1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5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7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8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9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6" name="Google Shape;406;p9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0" y="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10:notes"/>
          <p:cNvSpPr txBox="1"/>
          <p:nvPr>
            <p:ph idx="1"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:notes"/>
          <p:cNvSpPr txBox="1"/>
          <p:nvPr>
            <p:ph idx="12" type="sldNum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0000" spcFirstLastPara="1" rIns="900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lang="en-US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8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9326880" y="1125658"/>
            <a:ext cx="1644900" cy="1644900"/>
          </a:xfrm>
          <a:prstGeom prst="ellipse">
            <a:avLst/>
          </a:prstGeom>
          <a:solidFill>
            <a:srgbClr val="C9A961"/>
          </a:solidFill>
          <a:ln cap="flat" cmpd="sng" w="1270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0424160" y="1857178"/>
            <a:ext cx="1004700" cy="1004700"/>
          </a:xfrm>
          <a:prstGeom prst="ellipse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9601200" y="2405818"/>
            <a:ext cx="639000" cy="639000"/>
          </a:xfrm>
          <a:prstGeom prst="ellipse">
            <a:avLst/>
          </a:prstGeom>
          <a:solidFill>
            <a:srgbClr val="CADCFC">
              <a:alpha val="70196"/>
            </a:srgbClr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0881360" y="2954458"/>
            <a:ext cx="1279200" cy="1279200"/>
          </a:xfrm>
          <a:prstGeom prst="ellipse">
            <a:avLst/>
          </a:prstGeom>
          <a:solidFill>
            <a:srgbClr val="C9A961">
              <a:alpha val="60000"/>
            </a:srgbClr>
          </a:solidFill>
          <a:ln cap="flat" cmpd="sng" w="1270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9875520" y="3685978"/>
            <a:ext cx="822000" cy="822000"/>
          </a:xfrm>
          <a:prstGeom prst="ellipse">
            <a:avLst/>
          </a:prstGeom>
          <a:solidFill>
            <a:srgbClr val="CADC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1064240" y="4297680"/>
            <a:ext cx="547560" cy="547560"/>
          </a:xfrm>
          <a:prstGeom prst="ellipse">
            <a:avLst/>
          </a:prstGeom>
          <a:solidFill>
            <a:srgbClr val="C9A961"/>
          </a:solidFill>
          <a:ln cap="flat" cmpd="sng" w="1270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9418320" y="4846320"/>
            <a:ext cx="1004760" cy="1004760"/>
          </a:xfrm>
          <a:prstGeom prst="ellipse">
            <a:avLst/>
          </a:prstGeom>
          <a:solidFill>
            <a:srgbClr val="CADCFC">
              <a:alpha val="50196"/>
            </a:srgbClr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10515600" y="5394960"/>
            <a:ext cx="730440" cy="730440"/>
          </a:xfrm>
          <a:prstGeom prst="ellipse">
            <a:avLst/>
          </a:prstGeom>
          <a:solidFill>
            <a:srgbClr val="C9A961">
              <a:alpha val="80000"/>
            </a:srgbClr>
          </a:solidFill>
          <a:ln cap="flat" cmpd="sng" w="1270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822960" y="2361674"/>
            <a:ext cx="227400" cy="44700"/>
          </a:xfrm>
          <a:prstGeom prst="rect">
            <a:avLst/>
          </a:prstGeom>
          <a:solidFill>
            <a:srgbClr val="C9A961"/>
          </a:solidFill>
          <a:ln cap="flat" cmpd="sng" w="1270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143000" y="2159876"/>
            <a:ext cx="54852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REVIEW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822950" y="2320670"/>
            <a:ext cx="66027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b="1" lang="en-US" sz="73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BlaBla</a:t>
            </a:r>
            <a:r>
              <a:rPr b="1" lang="en-US" sz="7300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Clust</a:t>
            </a:r>
            <a:endParaRPr b="0" sz="7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22960" y="3588232"/>
            <a:ext cx="8228400" cy="9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lang="en-US" sz="16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iterative AI system that clusters text through dialogue with an oracle — no ground truth, just understanding.</a:t>
            </a:r>
            <a:endParaRPr b="0" sz="16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4"/>
          <p:cNvCxnSpPr/>
          <p:nvPr/>
        </p:nvCxnSpPr>
        <p:spPr>
          <a:xfrm>
            <a:off x="822960" y="5760720"/>
            <a:ext cx="365760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822960" y="5897880"/>
            <a:ext cx="100573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of 5</a:t>
            </a:r>
            <a:r>
              <a:rPr b="0" lang="en-US" sz="14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   ·   </a:t>
            </a:r>
            <a:r>
              <a:rPr b="0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Davide Sarti · Thomas Ottonello · Matteo Pareto · Nilo Netti · Arianna Schiavi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822960" y="6263640"/>
            <a:ext cx="100573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0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Five vertical layers, five owners</a:t>
            </a:r>
            <a:endParaRPr b="0" sz="26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STEP 1 OF 10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57200" y="1097280"/>
            <a:ext cx="11247120" cy="360"/>
          </a:xfrm>
          <a:prstGeom prst="straightConnector1">
            <a:avLst/>
          </a:prstGeom>
          <a:noFill/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5"/>
          <p:cNvSpPr/>
          <p:nvPr/>
        </p:nvSpPr>
        <p:spPr>
          <a:xfrm>
            <a:off x="457200" y="1280160"/>
            <a:ext cx="1124604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200"/>
              <a:buFont typeface="Calibri"/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The five vertical layers held through the MVP. After it, two cross-cutting initiatives were split off: evaluation moved onto P1 and P3, and semantic re-embedding was added under P4 and P5.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57200" y="2057400"/>
            <a:ext cx="2193480" cy="411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57200" y="2057400"/>
            <a:ext cx="2193480" cy="132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188720" y="2286000"/>
            <a:ext cx="730440" cy="730440"/>
          </a:xfrm>
          <a:prstGeom prst="ellipse">
            <a:avLst/>
          </a:prstGeom>
          <a:solidFill>
            <a:srgbClr val="16204E"/>
          </a:solidFill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600" y="2477880"/>
            <a:ext cx="383040" cy="3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/>
          <p:nvPr/>
        </p:nvSpPr>
        <p:spPr>
          <a:xfrm>
            <a:off x="457200" y="3063240"/>
            <a:ext cx="219348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57200" y="3429000"/>
            <a:ext cx="21934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lang="en-US" sz="22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Davide</a:t>
            </a:r>
            <a:endParaRPr b="0" sz="2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94360" y="3886200"/>
            <a:ext cx="1919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Infrastructure &amp; DB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5"/>
          <p:cNvCxnSpPr/>
          <p:nvPr/>
        </p:nvCxnSpPr>
        <p:spPr>
          <a:xfrm>
            <a:off x="1280160" y="4389120"/>
            <a:ext cx="54864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5"/>
          <p:cNvSpPr/>
          <p:nvPr/>
        </p:nvSpPr>
        <p:spPr>
          <a:xfrm>
            <a:off x="640080" y="4526280"/>
            <a:ext cx="1827720" cy="150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100"/>
              <a:buFont typeface="Calibri"/>
              <a:buNone/>
            </a:pPr>
            <a:r>
              <a:rPr b="0" lang="en-US" sz="11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FastAPI app, SQLAlchemy models, CRUD layer, shared Pydantic schemas.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2743200" y="2057400"/>
            <a:ext cx="2193480" cy="411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2743200" y="2057400"/>
            <a:ext cx="2193480" cy="132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3474720" y="2286000"/>
            <a:ext cx="730440" cy="730440"/>
          </a:xfrm>
          <a:prstGeom prst="ellipse">
            <a:avLst/>
          </a:prstGeom>
          <a:solidFill>
            <a:srgbClr val="16204E"/>
          </a:solidFill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8600" y="2477880"/>
            <a:ext cx="383040" cy="3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2743200" y="3063240"/>
            <a:ext cx="219348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743200" y="3429000"/>
            <a:ext cx="21934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lang="en-US" sz="22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Thomas</a:t>
            </a:r>
            <a:endParaRPr b="0" sz="2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880360" y="3886200"/>
            <a:ext cx="1919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Data &amp; Embeddings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5"/>
          <p:cNvCxnSpPr/>
          <p:nvPr/>
        </p:nvCxnSpPr>
        <p:spPr>
          <a:xfrm>
            <a:off x="3566160" y="4389120"/>
            <a:ext cx="54864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5"/>
          <p:cNvSpPr/>
          <p:nvPr/>
        </p:nvSpPr>
        <p:spPr>
          <a:xfrm>
            <a:off x="2926080" y="4526280"/>
            <a:ext cx="1827720" cy="150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100"/>
              <a:buFont typeface="Calibri"/>
              <a:buNone/>
            </a:pPr>
            <a:r>
              <a:rPr b="0" lang="en-US" sz="11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Initial k-means, soft assignments, single-call LLM naming, run logging.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029200" y="2057400"/>
            <a:ext cx="2193480" cy="411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029200" y="2057400"/>
            <a:ext cx="2193480" cy="132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60720" y="2286000"/>
            <a:ext cx="730440" cy="730440"/>
          </a:xfrm>
          <a:prstGeom prst="ellipse">
            <a:avLst/>
          </a:prstGeom>
          <a:solidFill>
            <a:srgbClr val="16204E"/>
          </a:solidFill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4600" y="2477880"/>
            <a:ext cx="383040" cy="3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029200" y="3063240"/>
            <a:ext cx="219348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029200" y="3429000"/>
            <a:ext cx="21934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lang="en-US" sz="22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Matteo</a:t>
            </a:r>
            <a:endParaRPr b="0" sz="2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166360" y="3886200"/>
            <a:ext cx="1919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Core Engine (f_*)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5"/>
          <p:cNvCxnSpPr/>
          <p:nvPr/>
        </p:nvCxnSpPr>
        <p:spPr>
          <a:xfrm>
            <a:off x="5852160" y="4389120"/>
            <a:ext cx="54864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15"/>
          <p:cNvSpPr/>
          <p:nvPr/>
        </p:nvSpPr>
        <p:spPr>
          <a:xfrm>
            <a:off x="5212080" y="4526280"/>
            <a:ext cx="1827720" cy="150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100"/>
              <a:buFont typeface="Calibri"/>
              <a:buNone/>
            </a:pPr>
            <a:r>
              <a:rPr b="0" lang="en-US" sz="11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f_output, f_uncertainty, f_next_best_step — the engine core.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315200" y="2057400"/>
            <a:ext cx="2193480" cy="411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315200" y="2057400"/>
            <a:ext cx="2193480" cy="132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046720" y="2286000"/>
            <a:ext cx="730440" cy="730440"/>
          </a:xfrm>
          <a:prstGeom prst="ellipse">
            <a:avLst/>
          </a:prstGeom>
          <a:solidFill>
            <a:srgbClr val="16204E"/>
          </a:solidFill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0600" y="2477880"/>
            <a:ext cx="383040" cy="3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7315200" y="3063240"/>
            <a:ext cx="219348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315200" y="3429000"/>
            <a:ext cx="21934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lang="en-US" sz="22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Nilo</a:t>
            </a:r>
            <a:endParaRPr b="0" sz="2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452360" y="3886200"/>
            <a:ext cx="1919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LLM &amp; Prompting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5"/>
          <p:cNvCxnSpPr/>
          <p:nvPr/>
        </p:nvCxnSpPr>
        <p:spPr>
          <a:xfrm>
            <a:off x="8138160" y="4389120"/>
            <a:ext cx="54864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5"/>
          <p:cNvSpPr/>
          <p:nvPr/>
        </p:nvSpPr>
        <p:spPr>
          <a:xfrm>
            <a:off x="7498080" y="4526280"/>
            <a:ext cx="1827720" cy="150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100"/>
              <a:buFont typeface="Calibri"/>
              <a:buNone/>
            </a:pPr>
            <a:r>
              <a:rPr b="0" lang="en-US" sz="11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Harness, prompt design, cluster-level uncertainty, cost tracking.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9601200" y="2057400"/>
            <a:ext cx="2193480" cy="4113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601200" y="2057400"/>
            <a:ext cx="2193480" cy="13248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10332720" y="2286000"/>
            <a:ext cx="730440" cy="730440"/>
          </a:xfrm>
          <a:prstGeom prst="ellipse">
            <a:avLst/>
          </a:prstGeom>
          <a:solidFill>
            <a:srgbClr val="16204E"/>
          </a:solidFill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06600" y="2477880"/>
            <a:ext cx="383040" cy="38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/>
          <p:nvPr/>
        </p:nvSpPr>
        <p:spPr>
          <a:xfrm>
            <a:off x="9601200" y="3063240"/>
            <a:ext cx="219348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P5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601200" y="3429000"/>
            <a:ext cx="219348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b="1" lang="en-US" sz="22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Arianna</a:t>
            </a:r>
            <a:endParaRPr b="0" sz="2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9738360" y="3886200"/>
            <a:ext cx="1919160" cy="4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200"/>
              <a:buFont typeface="Calibri"/>
              <a:buNone/>
            </a:pPr>
            <a:r>
              <a:rPr b="1" lang="en-US" sz="12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Evaluation &amp; </a:t>
            </a:r>
            <a:r>
              <a:rPr b="1" lang="en-US" sz="1200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15"/>
          <p:cNvCxnSpPr/>
          <p:nvPr/>
        </p:nvCxnSpPr>
        <p:spPr>
          <a:xfrm>
            <a:off x="10424160" y="4389120"/>
            <a:ext cx="54864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15"/>
          <p:cNvSpPr/>
          <p:nvPr/>
        </p:nvSpPr>
        <p:spPr>
          <a:xfrm>
            <a:off x="9784080" y="4526280"/>
            <a:ext cx="1827720" cy="150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r>
              <a:rPr b="0" lang="en-US" sz="11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, structured logging, LLM-as-oracle metrics, experiment docs.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r356"/>
          <p:cNvSpPr/>
          <p:nvPr/>
        </p:nvSpPr>
        <p:spPr>
          <a:xfrm>
            <a:off x="640080" y="5650992"/>
            <a:ext cx="182880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7" name="t357"/>
          <p:cNvSpPr/>
          <p:nvPr/>
        </p:nvSpPr>
        <p:spPr>
          <a:xfrm>
            <a:off x="640080" y="5715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+ Evaluation</a:t>
            </a:r>
            <a:endParaRPr sz="1200"/>
          </a:p>
        </p:txBody>
      </p:sp>
      <p:sp>
        <p:nvSpPr>
          <p:cNvPr id="358" name="r358"/>
          <p:cNvSpPr/>
          <p:nvPr/>
        </p:nvSpPr>
        <p:spPr>
          <a:xfrm>
            <a:off x="5212080" y="5650992"/>
            <a:ext cx="1828800" cy="36576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9" name="t359"/>
          <p:cNvSpPr/>
          <p:nvPr/>
        </p:nvSpPr>
        <p:spPr>
          <a:xfrm>
            <a:off x="5212080" y="5715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+ Evaluation</a:t>
            </a:r>
            <a:endParaRPr sz="1200"/>
          </a:p>
        </p:txBody>
      </p:sp>
      <p:sp>
        <p:nvSpPr>
          <p:cNvPr id="360" name="r360"/>
          <p:cNvSpPr/>
          <p:nvPr/>
        </p:nvSpPr>
        <p:spPr>
          <a:xfrm>
            <a:off x="7498080" y="5650992"/>
            <a:ext cx="18288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1" name="t361"/>
          <p:cNvSpPr/>
          <p:nvPr/>
        </p:nvSpPr>
        <p:spPr>
          <a:xfrm>
            <a:off x="7498080" y="5715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Re-embedding</a:t>
            </a:r>
            <a:endParaRPr sz="1200"/>
          </a:p>
        </p:txBody>
      </p:sp>
      <p:sp>
        <p:nvSpPr>
          <p:cNvPr id="362" name="r362"/>
          <p:cNvSpPr/>
          <p:nvPr/>
        </p:nvSpPr>
        <p:spPr>
          <a:xfrm>
            <a:off x="9784080" y="5650992"/>
            <a:ext cx="18288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3" name="t363"/>
          <p:cNvSpPr/>
          <p:nvPr/>
        </p:nvSpPr>
        <p:spPr>
          <a:xfrm>
            <a:off x="9784080" y="5715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Re-embedding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/>
          <p:nvPr/>
        </p:nvSpPr>
        <p:spPr>
          <a:xfrm>
            <a:off x="457200" y="411480"/>
            <a:ext cx="501840" cy="50184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00" y="521280"/>
            <a:ext cx="282240" cy="282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/>
          <p:nvPr/>
        </p:nvSpPr>
        <p:spPr>
          <a:xfrm>
            <a:off x="1143000" y="411480"/>
            <a:ext cx="9142920" cy="54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lang="en-US" sz="26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Architecture &amp; data model</a:t>
            </a:r>
            <a:endParaRPr b="0" sz="26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0058400" y="502920"/>
            <a:ext cx="164484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STEP 2 OF 10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16"/>
          <p:cNvCxnSpPr/>
          <p:nvPr/>
        </p:nvCxnSpPr>
        <p:spPr>
          <a:xfrm>
            <a:off x="457200" y="1097280"/>
            <a:ext cx="11247120" cy="360"/>
          </a:xfrm>
          <a:prstGeom prst="straightConnector1">
            <a:avLst/>
          </a:prstGeom>
          <a:noFill/>
          <a:ln cap="flat" cmpd="sng" w="12700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16"/>
          <p:cNvSpPr/>
          <p:nvPr/>
        </p:nvSpPr>
        <p:spPr>
          <a:xfrm>
            <a:off x="457200" y="1280160"/>
            <a:ext cx="11246040" cy="50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1200"/>
              <a:buFont typeface="Calibri"/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The schema is small but expressive: sessions own clusters and turns, data points are softly assigned to clusters over time. Every turn is logged for replay.</a:t>
            </a:r>
            <a:endParaRPr b="0" sz="12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48640" y="2011680"/>
            <a:ext cx="2467800" cy="13705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48640" y="2011680"/>
            <a:ext cx="2467800" cy="38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85800" y="2048400"/>
            <a:ext cx="219348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sessions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85800" y="2450520"/>
            <a:ext cx="2193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id (PK)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dataset_name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4846320" y="2011680"/>
            <a:ext cx="2467800" cy="13705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846320" y="2011680"/>
            <a:ext cx="2467800" cy="38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4983480" y="2048400"/>
            <a:ext cx="219348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clusters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4983480" y="2450520"/>
            <a:ext cx="2193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id (PK)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session_id (FK)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name, description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144000" y="2011680"/>
            <a:ext cx="2467800" cy="13705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9144000" y="2011680"/>
            <a:ext cx="2467800" cy="38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9281160" y="2048400"/>
            <a:ext cx="219348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turns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9281160" y="2450520"/>
            <a:ext cx="2193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session_id (PK,FK)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turn_number (PK)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oracle_input · system_output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48640" y="4572000"/>
            <a:ext cx="2467800" cy="13705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548640" y="4572000"/>
            <a:ext cx="2467800" cy="38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85800" y="4608720"/>
            <a:ext cx="219348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data_points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85800" y="5010840"/>
            <a:ext cx="2193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id (PK)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dataset_name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data · embedding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846320" y="4572000"/>
            <a:ext cx="2467800" cy="137052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846320" y="4572000"/>
            <a:ext cx="2467800" cy="3830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983480" y="4608720"/>
            <a:ext cx="2193480" cy="31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soft_assignments</a:t>
            </a:r>
            <a:endParaRPr b="0" sz="13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983480" y="5010840"/>
            <a:ext cx="2193480" cy="91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data_point_id (PK,FK)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cluster_id (PK,FK)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rgbClr val="2A2F4A"/>
              </a:buClr>
              <a:buSzPts val="1000"/>
              <a:buFont typeface="Consolas"/>
              <a:buNone/>
            </a:pPr>
            <a:r>
              <a:rPr b="0" lang="en-US" sz="1000" strike="noStrike">
                <a:solidFill>
                  <a:srgbClr val="2A2F4A"/>
                </a:solidFill>
                <a:latin typeface="Consolas"/>
                <a:ea typeface="Consolas"/>
                <a:cs typeface="Consolas"/>
                <a:sym typeface="Consolas"/>
              </a:rPr>
              <a:t>turn_number · probability</a:t>
            </a:r>
            <a:endParaRPr b="0" sz="10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6"/>
          <p:cNvCxnSpPr/>
          <p:nvPr/>
        </p:nvCxnSpPr>
        <p:spPr>
          <a:xfrm>
            <a:off x="3017520" y="2697480"/>
            <a:ext cx="182880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16"/>
          <p:cNvSpPr/>
          <p:nvPr/>
        </p:nvSpPr>
        <p:spPr>
          <a:xfrm>
            <a:off x="3657600" y="2541960"/>
            <a:ext cx="547560" cy="29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657600" y="2541960"/>
            <a:ext cx="54756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16"/>
          <p:cNvCxnSpPr/>
          <p:nvPr/>
        </p:nvCxnSpPr>
        <p:spPr>
          <a:xfrm>
            <a:off x="1783080" y="3383280"/>
            <a:ext cx="360" cy="54864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6"/>
          <p:cNvCxnSpPr/>
          <p:nvPr/>
        </p:nvCxnSpPr>
        <p:spPr>
          <a:xfrm>
            <a:off x="1783080" y="3931920"/>
            <a:ext cx="859536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16"/>
          <p:cNvCxnSpPr/>
          <p:nvPr/>
        </p:nvCxnSpPr>
        <p:spPr>
          <a:xfrm>
            <a:off x="10378440" y="3383280"/>
            <a:ext cx="360" cy="54864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6"/>
          <p:cNvSpPr/>
          <p:nvPr/>
        </p:nvSpPr>
        <p:spPr>
          <a:xfrm>
            <a:off x="7909560" y="3785760"/>
            <a:ext cx="547560" cy="29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909560" y="3785760"/>
            <a:ext cx="54756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16"/>
          <p:cNvCxnSpPr/>
          <p:nvPr/>
        </p:nvCxnSpPr>
        <p:spPr>
          <a:xfrm>
            <a:off x="6080760" y="3383280"/>
            <a:ext cx="360" cy="118872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6"/>
          <p:cNvSpPr/>
          <p:nvPr/>
        </p:nvSpPr>
        <p:spPr>
          <a:xfrm>
            <a:off x="5807173" y="3464255"/>
            <a:ext cx="547500" cy="29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807210" y="3465543"/>
            <a:ext cx="5475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16"/>
          <p:cNvCxnSpPr/>
          <p:nvPr/>
        </p:nvCxnSpPr>
        <p:spPr>
          <a:xfrm>
            <a:off x="3017520" y="5257800"/>
            <a:ext cx="1828800" cy="360"/>
          </a:xfrm>
          <a:prstGeom prst="straightConnector1">
            <a:avLst/>
          </a:prstGeom>
          <a:noFill/>
          <a:ln cap="flat" cmpd="sng" w="19050">
            <a:solidFill>
              <a:srgbClr val="C9A9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6"/>
          <p:cNvSpPr/>
          <p:nvPr/>
        </p:nvSpPr>
        <p:spPr>
          <a:xfrm>
            <a:off x="3657600" y="5102280"/>
            <a:ext cx="547560" cy="29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657600" y="5102280"/>
            <a:ext cx="547560" cy="2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961"/>
              </a:buClr>
              <a:buSzPts val="900"/>
              <a:buFont typeface="Calibri"/>
              <a:buNone/>
            </a:pPr>
            <a:r>
              <a:rPr b="1" lang="en-US" sz="9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9144000" y="4572000"/>
            <a:ext cx="2467800" cy="137052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D9DF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9281160" y="4645080"/>
            <a:ext cx="22849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lang="en-US" sz="11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this shape</a:t>
            </a:r>
            <a:endParaRPr b="0" sz="11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9281160" y="4937760"/>
            <a:ext cx="2284920" cy="1004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F4A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Soft assignments per turn keep the full history.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A2F4A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Turns are the source of truth for replay.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2A2F4A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Clusters can be dissolved without losing data.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457200" y="6492240"/>
            <a:ext cx="731412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1064240" y="6492240"/>
            <a:ext cx="639000" cy="27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6F8C"/>
              </a:buClr>
              <a:buSzPts val="900"/>
              <a:buFont typeface="Calibri"/>
              <a:buNone/>
            </a:pPr>
            <a:r>
              <a:rPr b="0" lang="en-US" sz="9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sz="90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364"/>
          <p:cNvSpPr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Re-embedding strategy</a:t>
            </a:r>
            <a:endParaRPr sz="1200"/>
          </a:p>
        </p:txBody>
      </p:sp>
      <p:sp>
        <p:nvSpPr>
          <p:cNvPr id="365" name="t365"/>
          <p:cNvSpPr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STEP 3 OF 10</a:t>
            </a:r>
            <a:endParaRPr sz="1200"/>
          </a:p>
        </p:txBody>
      </p:sp>
      <p:sp>
        <p:nvSpPr>
          <p:cNvPr id="366" name="r366"/>
          <p:cNvSpPr/>
          <p:nvPr/>
        </p:nvSpPr>
        <p:spPr>
          <a:xfrm>
            <a:off x="457200" y="1060704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7" name="t367"/>
          <p:cNvSpPr/>
          <p:nvPr/>
        </p:nvSpPr>
        <p:spPr>
          <a:xfrm>
            <a:off x="457200" y="1207008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Merge / split / rename reshape cluster topology — not meaning. To cluster along an axis the oracle names (sentiment, tone), we re-orient the embedding space itself.</a:t>
            </a:r>
            <a:endParaRPr sz="1200"/>
          </a:p>
        </p:txBody>
      </p:sp>
      <p:sp>
        <p:nvSpPr>
          <p:cNvPr id="368" name="r368"/>
          <p:cNvSpPr/>
          <p:nvPr/>
        </p:nvSpPr>
        <p:spPr>
          <a:xfrm>
            <a:off x="457200" y="1965960"/>
            <a:ext cx="5394960" cy="178308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69" name="r369"/>
          <p:cNvSpPr/>
          <p:nvPr/>
        </p:nvSpPr>
        <p:spPr>
          <a:xfrm>
            <a:off x="457200" y="1965960"/>
            <a:ext cx="82296" cy="178308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0" name="t370"/>
          <p:cNvSpPr/>
          <p:nvPr/>
        </p:nvSpPr>
        <p:spPr>
          <a:xfrm>
            <a:off x="713232" y="21122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/>
          </a:p>
        </p:txBody>
      </p:sp>
      <p:sp>
        <p:nvSpPr>
          <p:cNvPr id="371" name="t371"/>
          <p:cNvSpPr/>
          <p:nvPr/>
        </p:nvSpPr>
        <p:spPr>
          <a:xfrm>
            <a:off x="713232" y="2514600"/>
            <a:ext cx="489204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1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MiniLM embeds for topic.  </a:t>
            </a:r>
            <a:r>
              <a:rPr b="0" lang="en-US" sz="11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An axis like 'angry vs. satisfied' is diffuse, not an isolated direction — plain k-means can't separate it.</a:t>
            </a:r>
            <a:endParaRPr sz="1100"/>
          </a:p>
        </p:txBody>
      </p:sp>
      <p:sp>
        <p:nvSpPr>
          <p:cNvPr id="372" name="r372"/>
          <p:cNvSpPr/>
          <p:nvPr/>
        </p:nvSpPr>
        <p:spPr>
          <a:xfrm>
            <a:off x="6035040" y="1965960"/>
            <a:ext cx="5394960" cy="1783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3" name="r373"/>
          <p:cNvSpPr/>
          <p:nvPr/>
        </p:nvSpPr>
        <p:spPr>
          <a:xfrm>
            <a:off x="6035040" y="1965960"/>
            <a:ext cx="5394960" cy="6400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4" name="t374"/>
          <p:cNvSpPr/>
          <p:nvPr/>
        </p:nvSpPr>
        <p:spPr>
          <a:xfrm>
            <a:off x="6291072" y="21122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THE APPROACH — two-phase embedding</a:t>
            </a:r>
            <a:endParaRPr sz="1200"/>
          </a:p>
        </p:txBody>
      </p:sp>
      <p:sp>
        <p:nvSpPr>
          <p:cNvPr id="375" name="t375"/>
          <p:cNvSpPr/>
          <p:nvPr/>
        </p:nvSpPr>
        <p:spPr>
          <a:xfrm>
            <a:off x="6291072" y="2514600"/>
            <a:ext cx="489204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Phase 0  </a:t>
            </a: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embed once (MiniLM) + k-means → Turn 0 clusters.</a:t>
            </a:r>
            <a:endParaRPr sz="10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Phase 1 (Turn 1)  </a:t>
            </a: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extract the semantic axis, re-embed along it, re-cluster.</a:t>
            </a:r>
            <a:endParaRPr sz="10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Phase 2+  </a:t>
            </a: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structural ops run in the already-oriented space.</a:t>
            </a:r>
            <a:endParaRPr sz="1000"/>
          </a:p>
        </p:txBody>
      </p:sp>
      <p:sp>
        <p:nvSpPr>
          <p:cNvPr id="376" name="r376"/>
          <p:cNvSpPr/>
          <p:nvPr/>
        </p:nvSpPr>
        <p:spPr>
          <a:xfrm>
            <a:off x="457200" y="3977640"/>
            <a:ext cx="3602736" cy="18745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7" name="r377"/>
          <p:cNvSpPr/>
          <p:nvPr/>
        </p:nvSpPr>
        <p:spPr>
          <a:xfrm>
            <a:off x="457200" y="3977640"/>
            <a:ext cx="3602736" cy="6400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78" name="t378"/>
          <p:cNvSpPr/>
          <p:nvPr/>
        </p:nvSpPr>
        <p:spPr>
          <a:xfrm>
            <a:off x="658368" y="414223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Cosine poles  △</a:t>
            </a:r>
            <a:endParaRPr sz="1200"/>
          </a:p>
        </p:txBody>
      </p:sp>
      <p:sp>
        <p:nvSpPr>
          <p:cNvPr id="379" name="t379"/>
          <p:cNvSpPr/>
          <p:nvPr/>
        </p:nvSpPr>
        <p:spPr>
          <a:xfrm>
            <a:off x="658368" y="4544568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Score each point by cosine to 'very X' vs 'not X'. Free, no LLM — weak for axes MiniLM can't separate.</a:t>
            </a:r>
            <a:endParaRPr sz="1200"/>
          </a:p>
        </p:txBody>
      </p:sp>
      <p:sp>
        <p:nvSpPr>
          <p:cNvPr id="380" name="r380"/>
          <p:cNvSpPr/>
          <p:nvPr/>
        </p:nvSpPr>
        <p:spPr>
          <a:xfrm>
            <a:off x="4293108" y="3977640"/>
            <a:ext cx="3602736" cy="18745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1" name="r381"/>
          <p:cNvSpPr/>
          <p:nvPr/>
        </p:nvSpPr>
        <p:spPr>
          <a:xfrm>
            <a:off x="4293108" y="3977640"/>
            <a:ext cx="3602736" cy="6400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2" name="t382"/>
          <p:cNvSpPr/>
          <p:nvPr/>
        </p:nvSpPr>
        <p:spPr>
          <a:xfrm>
            <a:off x="4494276" y="414223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LLM scoring  ✓</a:t>
            </a:r>
            <a:endParaRPr sz="1200"/>
          </a:p>
        </p:txBody>
      </p:sp>
      <p:sp>
        <p:nvSpPr>
          <p:cNvPr id="383" name="t383"/>
          <p:cNvSpPr/>
          <p:nvPr/>
        </p:nvSpPr>
        <p:spPr>
          <a:xfrm>
            <a:off x="4494276" y="4544568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LLM rates each text 0–10 on the axis. Works for any axis; sampled to ~8 calls for 1,200 points.</a:t>
            </a:r>
            <a:endParaRPr sz="1200"/>
          </a:p>
        </p:txBody>
      </p:sp>
      <p:sp>
        <p:nvSpPr>
          <p:cNvPr id="384" name="r384"/>
          <p:cNvSpPr/>
          <p:nvPr/>
        </p:nvSpPr>
        <p:spPr>
          <a:xfrm>
            <a:off x="8129016" y="3977640"/>
            <a:ext cx="3602736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5" name="r385"/>
          <p:cNvSpPr/>
          <p:nvPr/>
        </p:nvSpPr>
        <p:spPr>
          <a:xfrm>
            <a:off x="8129016" y="3977640"/>
            <a:ext cx="3602736" cy="6400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86" name="t386"/>
          <p:cNvSpPr/>
          <p:nvPr/>
        </p:nvSpPr>
        <p:spPr>
          <a:xfrm>
            <a:off x="8330184" y="4142232"/>
            <a:ext cx="3236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Hybrid — CHOSEN  ✓</a:t>
            </a:r>
            <a:endParaRPr sz="1200"/>
          </a:p>
        </p:txBody>
      </p:sp>
      <p:sp>
        <p:nvSpPr>
          <p:cNvPr id="387" name="t387"/>
          <p:cNvSpPr/>
          <p:nvPr/>
        </p:nvSpPr>
        <p:spPr>
          <a:xfrm>
            <a:off x="8330184" y="4544568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Cosine if variance &gt; 0.01, else LLM. Blend topic + axis via axis_weight (sqrt-scaled): 0.7 → 70% axis. Cap k at 3.</a:t>
            </a:r>
            <a:endParaRPr sz="1200"/>
          </a:p>
        </p:txBody>
      </p:sp>
      <p:sp>
        <p:nvSpPr>
          <p:cNvPr id="388" name="t38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389" name="t389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390"/>
          <p:cNvSpPr/>
          <p:nvPr/>
        </p:nvSpPr>
        <p:spPr>
          <a:xfrm>
            <a:off x="457200" y="411480"/>
            <a:ext cx="8778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How we measure quality</a:t>
            </a:r>
            <a:endParaRPr sz="1200"/>
          </a:p>
        </p:txBody>
      </p:sp>
      <p:sp>
        <p:nvSpPr>
          <p:cNvPr id="391" name="t391"/>
          <p:cNvSpPr/>
          <p:nvPr/>
        </p:nvSpPr>
        <p:spPr>
          <a:xfrm>
            <a:off x="9601200" y="502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STEP 4 OF 10</a:t>
            </a:r>
            <a:endParaRPr sz="1200"/>
          </a:p>
        </p:txBody>
      </p:sp>
      <p:sp>
        <p:nvSpPr>
          <p:cNvPr id="392" name="r392"/>
          <p:cNvSpPr/>
          <p:nvPr/>
        </p:nvSpPr>
        <p:spPr>
          <a:xfrm>
            <a:off x="457200" y="1060704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3" name="t393"/>
          <p:cNvSpPr/>
          <p:nvPr/>
        </p:nvSpPr>
        <p:spPr>
          <a:xfrm>
            <a:off x="457200" y="1207008"/>
            <a:ext cx="11247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There is no ground truth — the oracle's judgment is the objective. We don't optimise one number: we combine two metric families, and a separate judge scores the run so the agent never grades itself.</a:t>
            </a:r>
            <a:endParaRPr sz="1200"/>
          </a:p>
        </p:txBody>
      </p:sp>
      <p:sp>
        <p:nvSpPr>
          <p:cNvPr id="394" name="r394"/>
          <p:cNvSpPr/>
          <p:nvPr/>
        </p:nvSpPr>
        <p:spPr>
          <a:xfrm>
            <a:off x="457200" y="1965960"/>
            <a:ext cx="539496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5" name="r395"/>
          <p:cNvSpPr/>
          <p:nvPr/>
        </p:nvSpPr>
        <p:spPr>
          <a:xfrm>
            <a:off x="457200" y="1965960"/>
            <a:ext cx="82296" cy="32004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6" name="t396"/>
          <p:cNvSpPr/>
          <p:nvPr/>
        </p:nvSpPr>
        <p:spPr>
          <a:xfrm>
            <a:off x="713232" y="21122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FAMILY A — Mathematical  (from DB &amp; logs)</a:t>
            </a:r>
            <a:endParaRPr sz="1200"/>
          </a:p>
        </p:txBody>
      </p:sp>
      <p:sp>
        <p:nvSpPr>
          <p:cNvPr id="397" name="t397"/>
          <p:cNvSpPr/>
          <p:nvPr/>
        </p:nvSpPr>
        <p:spPr>
          <a:xfrm>
            <a:off x="713232" y="2514600"/>
            <a:ext cx="4892040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A1 · Silhouette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cluster separation. Diagnostic only — never optimised against (the oracle may want a low-silhouette grouping).</a:t>
            </a:r>
            <a:endParaRPr sz="105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A2 · Turns to convergence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primary process metric, weighted by feedback type.</a:t>
            </a:r>
            <a:endParaRPr sz="105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 3 termination codes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converged / cognitive_overload / max_turns_reached.</a:t>
            </a:r>
            <a:endParaRPr sz="1050"/>
          </a:p>
        </p:txBody>
      </p:sp>
      <p:sp>
        <p:nvSpPr>
          <p:cNvPr id="398" name="r398"/>
          <p:cNvSpPr/>
          <p:nvPr/>
        </p:nvSpPr>
        <p:spPr>
          <a:xfrm>
            <a:off x="6035040" y="1965960"/>
            <a:ext cx="539496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9" name="r399"/>
          <p:cNvSpPr/>
          <p:nvPr/>
        </p:nvSpPr>
        <p:spPr>
          <a:xfrm>
            <a:off x="6035040" y="1965960"/>
            <a:ext cx="82296" cy="320040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0" name="t400"/>
          <p:cNvSpPr/>
          <p:nvPr/>
        </p:nvSpPr>
        <p:spPr>
          <a:xfrm>
            <a:off x="6291072" y="2112264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FAMILY B — LLM oracle + judge</a:t>
            </a:r>
            <a:endParaRPr sz="1200"/>
          </a:p>
        </p:txBody>
      </p:sp>
      <p:sp>
        <p:nvSpPr>
          <p:cNvPr id="401" name="t401"/>
          <p:cNvSpPr/>
          <p:nvPr/>
        </p:nvSpPr>
        <p:spPr>
          <a:xfrm>
            <a:off x="6291072" y="2514600"/>
            <a:ext cx="4892040" cy="2542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B1 · Oracle satisfaction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judge scores final-cluster coherence — the primary outcome.</a:t>
            </a:r>
            <a:endParaRPr sz="105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B2 · Cognitive load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1–5 complexity the engine assigns each turn.</a:t>
            </a:r>
            <a:endParaRPr sz="105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B3 · Contradiction tracking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detection + resolution of conflicting feedback.</a:t>
            </a:r>
            <a:endParaRPr sz="105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B4 · One-point validation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judge endorses the most uncertain points.</a:t>
            </a:r>
            <a:endParaRPr sz="1050"/>
          </a:p>
        </p:txBody>
      </p:sp>
      <p:sp>
        <p:nvSpPr>
          <p:cNvPr id="402" name="r402"/>
          <p:cNvSpPr/>
          <p:nvPr/>
        </p:nvSpPr>
        <p:spPr>
          <a:xfrm>
            <a:off x="457200" y="5303520"/>
            <a:ext cx="11274552" cy="56692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3" name="r403"/>
          <p:cNvSpPr/>
          <p:nvPr/>
        </p:nvSpPr>
        <p:spPr>
          <a:xfrm>
            <a:off x="457200" y="5303520"/>
            <a:ext cx="82296" cy="56692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4" name="t404"/>
          <p:cNvSpPr/>
          <p:nvPr/>
        </p:nvSpPr>
        <p:spPr>
          <a:xfrm>
            <a:off x="713232" y="542239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Reproducibility  </a:t>
            </a:r>
            <a:r>
              <a:rPr b="0" lang="en-US" sz="105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— fixed k-means seed, prompt hashes logged, oracle script frozen; the judge is validated against a small human study.</a:t>
            </a:r>
            <a:endParaRPr sz="1200"/>
          </a:p>
        </p:txBody>
      </p:sp>
      <p:sp>
        <p:nvSpPr>
          <p:cNvPr id="405" name="t40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406" name="t406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201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2" name="t202"/>
          <p:cNvSpPr/>
          <p:nvPr/>
        </p:nvSpPr>
        <p:spPr>
          <a:xfrm>
            <a:off x="457200" y="420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P1</a:t>
            </a:r>
            <a:endParaRPr sz="1200"/>
          </a:p>
        </p:txBody>
      </p:sp>
      <p:sp>
        <p:nvSpPr>
          <p:cNvPr id="203" name="t203"/>
          <p:cNvSpPr/>
          <p:nvPr/>
        </p:nvSpPr>
        <p:spPr>
          <a:xfrm>
            <a:off x="118872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Sprint 3 · P1 — Backend &amp; Data Modeling</a:t>
            </a:r>
            <a:endParaRPr sz="1200"/>
          </a:p>
        </p:txBody>
      </p:sp>
      <p:sp>
        <p:nvSpPr>
          <p:cNvPr id="204" name="t204"/>
          <p:cNvSpPr/>
          <p:nvPr/>
        </p:nvSpPr>
        <p:spPr>
          <a:xfrm>
            <a:off x="9509760" y="502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· P1</a:t>
            </a:r>
            <a:endParaRPr sz="1200"/>
          </a:p>
        </p:txBody>
      </p:sp>
      <p:sp>
        <p:nvSpPr>
          <p:cNvPr id="205" name="r205"/>
          <p:cNvSpPr/>
          <p:nvPr/>
        </p:nvSpPr>
        <p:spPr>
          <a:xfrm>
            <a:off x="457200" y="1097280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6" name="t206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With the DB/backend mandate met after sprint 2, P1 shifted to hardening and stabilisation across the codebase.</a:t>
            </a:r>
            <a:endParaRPr sz="1200"/>
          </a:p>
        </p:txBody>
      </p:sp>
      <p:sp>
        <p:nvSpPr>
          <p:cNvPr id="207" name="r207"/>
          <p:cNvSpPr/>
          <p:nvPr/>
        </p:nvSpPr>
        <p:spPr>
          <a:xfrm>
            <a:off x="457200" y="1828800"/>
            <a:ext cx="11274552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8" name="r208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09" name="t209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P1 · INFRASTRUCTURE &amp; DB</a:t>
            </a:r>
            <a:endParaRPr sz="1200"/>
          </a:p>
        </p:txBody>
      </p:sp>
      <p:sp>
        <p:nvSpPr>
          <p:cNvPr id="210" name="t210"/>
          <p:cNvSpPr/>
          <p:nvPr/>
        </p:nvSpPr>
        <p:spPr>
          <a:xfrm>
            <a:off x="731520" y="21579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Davide Sarti</a:t>
            </a:r>
            <a:endParaRPr sz="1200"/>
          </a:p>
        </p:txBody>
      </p:sp>
      <p:sp>
        <p:nvSpPr>
          <p:cNvPr id="211" name="t211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Bug-fixes · Schema cleanup · Stabilisation</a:t>
            </a:r>
            <a:endParaRPr sz="1200"/>
          </a:p>
        </p:txBody>
      </p:sp>
      <p:sp>
        <p:nvSpPr>
          <p:cNvPr id="212" name="t212"/>
          <p:cNvSpPr/>
          <p:nvPr/>
        </p:nvSpPr>
        <p:spPr>
          <a:xfrm>
            <a:off x="457200" y="28529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1200"/>
          </a:p>
        </p:txBody>
      </p:sp>
      <p:sp>
        <p:nvSpPr>
          <p:cNvPr id="213" name="r213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4" name="e214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5" name="t215"/>
          <p:cNvSpPr/>
          <p:nvPr/>
        </p:nvSpPr>
        <p:spPr>
          <a:xfrm>
            <a:off x="749808" y="3456432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move_points op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implemented the point-level reassign in P2's engine; moved points collapse to the target and a full soft-assignment snapshot is written per turn.</a:t>
            </a:r>
            <a:endParaRPr sz="1050"/>
          </a:p>
        </p:txBody>
      </p:sp>
      <p:sp>
        <p:nvSpPr>
          <p:cNvPr id="216" name="e216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7" name="t217"/>
          <p:cNvSpPr/>
          <p:nvPr/>
        </p:nvSpPr>
        <p:spPr>
          <a:xfrm>
            <a:off x="749808" y="4183380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Soft-clustering semantics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settled that a cluster keeping only residual soft mass is NOT dissolved; replaced the old hard-clustering test.</a:t>
            </a:r>
            <a:endParaRPr sz="1050"/>
          </a:p>
        </p:txBody>
      </p:sp>
      <p:sp>
        <p:nvSpPr>
          <p:cNvPr id="218" name="e218"/>
          <p:cNvSpPr/>
          <p:nvPr/>
        </p:nvSpPr>
        <p:spPr>
          <a:xfrm>
            <a:off x="502920" y="4974336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9" name="t219"/>
          <p:cNvSpPr/>
          <p:nvPr/>
        </p:nvSpPr>
        <p:spPr>
          <a:xfrm>
            <a:off x="749808" y="4910328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Schema &amp; model cleanup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dropped dead schemas, unified turn_number &gt;= 0, fixed a TurnRead divergence so a failed turn leaves no half-baked row.</a:t>
            </a:r>
            <a:endParaRPr sz="1050"/>
          </a:p>
        </p:txBody>
      </p:sp>
      <p:sp>
        <p:nvSpPr>
          <p:cNvPr id="220" name="e220"/>
          <p:cNvSpPr/>
          <p:nvPr/>
        </p:nvSpPr>
        <p:spPr>
          <a:xfrm>
            <a:off x="502920" y="570128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1" name="t221"/>
          <p:cNvSpPr/>
          <p:nvPr/>
        </p:nvSpPr>
        <p:spPr>
          <a:xfrm>
            <a:off x="749808" y="5637276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Harness JSON extraction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strip prose around LLM JSON so narrated responses still parse.</a:t>
            </a:r>
            <a:endParaRPr sz="1050"/>
          </a:p>
        </p:txBody>
      </p:sp>
      <p:sp>
        <p:nvSpPr>
          <p:cNvPr id="222" name="r222"/>
          <p:cNvSpPr/>
          <p:nvPr/>
        </p:nvSpPr>
        <p:spPr>
          <a:xfrm>
            <a:off x="7589520" y="2852928"/>
            <a:ext cx="4114800" cy="20848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3" name="r223"/>
          <p:cNvSpPr/>
          <p:nvPr/>
        </p:nvSpPr>
        <p:spPr>
          <a:xfrm>
            <a:off x="7589520" y="2852928"/>
            <a:ext cx="73152" cy="20848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4" name="t224"/>
          <p:cNvSpPr/>
          <p:nvPr/>
        </p:nvSpPr>
        <p:spPr>
          <a:xfrm>
            <a:off x="78181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200"/>
          </a:p>
        </p:txBody>
      </p:sp>
      <p:sp>
        <p:nvSpPr>
          <p:cNvPr id="225" name="t225"/>
          <p:cNvSpPr/>
          <p:nvPr/>
        </p:nvSpPr>
        <p:spPr>
          <a:xfrm>
            <a:off x="7818120" y="3310128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The main challenge was adapting to bug-fixes rather than new features: P1's core DB/backend mandate was already satisfied, so the work shifted to unblocking the team and stabilising what existed.</a:t>
            </a:r>
            <a:endParaRPr sz="1200"/>
          </a:p>
        </p:txBody>
      </p:sp>
      <p:sp>
        <p:nvSpPr>
          <p:cNvPr id="226" name="r226"/>
          <p:cNvSpPr/>
          <p:nvPr/>
        </p:nvSpPr>
        <p:spPr>
          <a:xfrm>
            <a:off x="7589520" y="5074920"/>
            <a:ext cx="4114800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7" name="r227"/>
          <p:cNvSpPr/>
          <p:nvPr/>
        </p:nvSpPr>
        <p:spPr>
          <a:xfrm>
            <a:off x="7589520" y="5074920"/>
            <a:ext cx="411480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8" name="t228"/>
          <p:cNvSpPr/>
          <p:nvPr/>
        </p:nvSpPr>
        <p:spPr>
          <a:xfrm>
            <a:off x="7818120" y="5230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NEXT SPRINT</a:t>
            </a:r>
            <a:endParaRPr sz="1200"/>
          </a:p>
        </p:txBody>
      </p:sp>
      <p:sp>
        <p:nvSpPr>
          <p:cNvPr id="229" name="t229"/>
          <p:cNvSpPr/>
          <p:nvPr/>
        </p:nvSpPr>
        <p:spPr>
          <a:xfrm>
            <a:off x="7818120" y="5522976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Focus on model evaluation; decide whether to keep soft clustering; find a new dataset; continue general fixes.</a:t>
            </a:r>
            <a:endParaRPr sz="1200"/>
          </a:p>
        </p:txBody>
      </p:sp>
      <p:sp>
        <p:nvSpPr>
          <p:cNvPr id="230" name="t23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231" name="t231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e232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3" name="t233"/>
          <p:cNvSpPr/>
          <p:nvPr/>
        </p:nvSpPr>
        <p:spPr>
          <a:xfrm>
            <a:off x="457200" y="420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P2</a:t>
            </a:r>
            <a:endParaRPr sz="1200"/>
          </a:p>
        </p:txBody>
      </p:sp>
      <p:sp>
        <p:nvSpPr>
          <p:cNvPr id="234" name="t234"/>
          <p:cNvSpPr/>
          <p:nvPr/>
        </p:nvSpPr>
        <p:spPr>
          <a:xfrm>
            <a:off x="118872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Sprint 3 · P2 — Data &amp; Embeddings</a:t>
            </a:r>
            <a:endParaRPr sz="1200"/>
          </a:p>
        </p:txBody>
      </p:sp>
      <p:sp>
        <p:nvSpPr>
          <p:cNvPr id="235" name="t235"/>
          <p:cNvSpPr/>
          <p:nvPr/>
        </p:nvSpPr>
        <p:spPr>
          <a:xfrm>
            <a:off x="9509760" y="502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· P2</a:t>
            </a:r>
            <a:endParaRPr sz="1200"/>
          </a:p>
        </p:txBody>
      </p:sp>
      <p:sp>
        <p:nvSpPr>
          <p:cNvPr id="236" name="r236"/>
          <p:cNvSpPr/>
          <p:nvPr/>
        </p:nvSpPr>
        <p:spPr>
          <a:xfrm>
            <a:off x="457200" y="1097280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7" name="t237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Three clustering issues plus fixes surfaced by live UI testing — centralised naming, configurable split, and a critical merge bug.</a:t>
            </a:r>
            <a:endParaRPr sz="1200"/>
          </a:p>
        </p:txBody>
      </p:sp>
      <p:sp>
        <p:nvSpPr>
          <p:cNvPr id="238" name="r238"/>
          <p:cNvSpPr/>
          <p:nvPr/>
        </p:nvSpPr>
        <p:spPr>
          <a:xfrm>
            <a:off x="457200" y="1828800"/>
            <a:ext cx="11274552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39" name="r239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0" name="t240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P2 · DATA &amp; EMBEDDINGS</a:t>
            </a:r>
            <a:endParaRPr sz="1200"/>
          </a:p>
        </p:txBody>
      </p:sp>
      <p:sp>
        <p:nvSpPr>
          <p:cNvPr id="241" name="t241"/>
          <p:cNvSpPr/>
          <p:nvPr/>
        </p:nvSpPr>
        <p:spPr>
          <a:xfrm>
            <a:off x="731520" y="21579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Thomas Ottonello</a:t>
            </a:r>
            <a:endParaRPr sz="1200"/>
          </a:p>
        </p:txBody>
      </p:sp>
      <p:sp>
        <p:nvSpPr>
          <p:cNvPr id="242" name="t242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Naming · Split arity · Merge fix · Logging</a:t>
            </a:r>
            <a:endParaRPr sz="1200"/>
          </a:p>
        </p:txBody>
      </p:sp>
      <p:sp>
        <p:nvSpPr>
          <p:cNvPr id="243" name="t243"/>
          <p:cNvSpPr/>
          <p:nvPr/>
        </p:nvSpPr>
        <p:spPr>
          <a:xfrm>
            <a:off x="457200" y="28529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1200"/>
          </a:p>
        </p:txBody>
      </p:sp>
      <p:sp>
        <p:nvSpPr>
          <p:cNvPr id="244" name="r244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5" name="e245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6" name="t246"/>
          <p:cNvSpPr/>
          <p:nvPr/>
        </p:nvSpPr>
        <p:spPr>
          <a:xfrm>
            <a:off x="749808" y="3456432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Single-call naming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name_clusters now names all clusters in one LLM prompt instead of k calls; more consistent labels, lower latency.</a:t>
            </a:r>
            <a:endParaRPr sz="1050"/>
          </a:p>
        </p:txBody>
      </p:sp>
      <p:sp>
        <p:nvSpPr>
          <p:cNvPr id="247" name="e247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48" name="t248"/>
          <p:cNvSpPr/>
          <p:nvPr/>
        </p:nvSpPr>
        <p:spPr>
          <a:xfrm>
            <a:off x="749808" y="4183380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Configurable split arity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added a k parameter to split_cluster and wired it end-to-end from the f_output prompt through to k-means.</a:t>
            </a:r>
            <a:endParaRPr sz="1050"/>
          </a:p>
        </p:txBody>
      </p:sp>
      <p:sp>
        <p:nvSpPr>
          <p:cNvPr id="249" name="e249"/>
          <p:cNvSpPr/>
          <p:nvPr/>
        </p:nvSpPr>
        <p:spPr>
          <a:xfrm>
            <a:off x="502920" y="4974336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0" name="t250"/>
          <p:cNvSpPr/>
          <p:nvPr/>
        </p:nvSpPr>
        <p:spPr>
          <a:xfrm>
            <a:off x="749808" y="4910328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Merge correctness fix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merging no longer collapses the whole dataset into the new cluster; merged mass is dropped so un-pooled points keep their argmax.</a:t>
            </a:r>
            <a:endParaRPr sz="1050"/>
          </a:p>
        </p:txBody>
      </p:sp>
      <p:sp>
        <p:nvSpPr>
          <p:cNvPr id="251" name="e251"/>
          <p:cNvSpPr/>
          <p:nvPr/>
        </p:nvSpPr>
        <p:spPr>
          <a:xfrm>
            <a:off x="502920" y="570128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2" name="t252"/>
          <p:cNvSpPr/>
          <p:nvPr/>
        </p:nvSpPr>
        <p:spPr>
          <a:xfrm>
            <a:off x="749808" y="5637276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Clustering-run logging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one JSONL line per run (k, seed, backend, silhouette, n_points); absorbed into P5's logger.</a:t>
            </a:r>
            <a:endParaRPr sz="1050"/>
          </a:p>
        </p:txBody>
      </p:sp>
      <p:sp>
        <p:nvSpPr>
          <p:cNvPr id="253" name="r253"/>
          <p:cNvSpPr/>
          <p:nvPr/>
        </p:nvSpPr>
        <p:spPr>
          <a:xfrm>
            <a:off x="7589520" y="2852928"/>
            <a:ext cx="4114800" cy="20848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4" name="r254"/>
          <p:cNvSpPr/>
          <p:nvPr/>
        </p:nvSpPr>
        <p:spPr>
          <a:xfrm>
            <a:off x="7589520" y="2852928"/>
            <a:ext cx="73152" cy="20848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5" name="t255"/>
          <p:cNvSpPr/>
          <p:nvPr/>
        </p:nvSpPr>
        <p:spPr>
          <a:xfrm>
            <a:off x="78181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200"/>
          </a:p>
        </p:txBody>
      </p:sp>
      <p:sp>
        <p:nvSpPr>
          <p:cNvPr id="256" name="t256"/>
          <p:cNvSpPr/>
          <p:nvPr/>
        </p:nvSpPr>
        <p:spPr>
          <a:xfrm>
            <a:off x="7818120" y="3310128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A flat softmax over k=5 clusters meant the summed merged-probabilities beat any single cluster, so every point became the merged cluster's argmax — diagnosed and fixed on the live 5-cluster repro.</a:t>
            </a:r>
            <a:endParaRPr sz="1200"/>
          </a:p>
        </p:txBody>
      </p:sp>
      <p:sp>
        <p:nvSpPr>
          <p:cNvPr id="257" name="r257"/>
          <p:cNvSpPr/>
          <p:nvPr/>
        </p:nvSpPr>
        <p:spPr>
          <a:xfrm>
            <a:off x="7589520" y="5074920"/>
            <a:ext cx="4114800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8" name="r258"/>
          <p:cNvSpPr/>
          <p:nvPr/>
        </p:nvSpPr>
        <p:spPr>
          <a:xfrm>
            <a:off x="7589520" y="5074920"/>
            <a:ext cx="411480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59" name="t259"/>
          <p:cNvSpPr/>
          <p:nvPr/>
        </p:nvSpPr>
        <p:spPr>
          <a:xfrm>
            <a:off x="7818120" y="5230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NEXT SPRINT</a:t>
            </a:r>
            <a:endParaRPr sz="1200"/>
          </a:p>
        </p:txBody>
      </p:sp>
      <p:sp>
        <p:nvSpPr>
          <p:cNvPr id="260" name="t260"/>
          <p:cNvSpPr/>
          <p:nvPr/>
        </p:nvSpPr>
        <p:spPr>
          <a:xfrm>
            <a:off x="7818120" y="5522976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Hand merge-naming (#21) to the team; refresh the naming prompt hash; land the dataset-sampling script rename.</a:t>
            </a:r>
            <a:endParaRPr sz="1200"/>
          </a:p>
        </p:txBody>
      </p:sp>
      <p:sp>
        <p:nvSpPr>
          <p:cNvPr id="261" name="t26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262" name="t262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e263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4" name="t264"/>
          <p:cNvSpPr/>
          <p:nvPr/>
        </p:nvSpPr>
        <p:spPr>
          <a:xfrm>
            <a:off x="457200" y="420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P3</a:t>
            </a:r>
            <a:endParaRPr sz="1200"/>
          </a:p>
        </p:txBody>
      </p:sp>
      <p:sp>
        <p:nvSpPr>
          <p:cNvPr id="265" name="t265"/>
          <p:cNvSpPr/>
          <p:nvPr/>
        </p:nvSpPr>
        <p:spPr>
          <a:xfrm>
            <a:off x="118872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Sprint 3 · P3 — Core Engine</a:t>
            </a:r>
            <a:endParaRPr sz="1200"/>
          </a:p>
        </p:txBody>
      </p:sp>
      <p:sp>
        <p:nvSpPr>
          <p:cNvPr id="266" name="t266"/>
          <p:cNvSpPr/>
          <p:nvPr/>
        </p:nvSpPr>
        <p:spPr>
          <a:xfrm>
            <a:off x="9509760" y="502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· P3</a:t>
            </a:r>
            <a:endParaRPr sz="1200"/>
          </a:p>
        </p:txBody>
      </p:sp>
      <p:sp>
        <p:nvSpPr>
          <p:cNvPr id="267" name="r267"/>
          <p:cNvSpPr/>
          <p:nvPr/>
        </p:nvSpPr>
        <p:spPr>
          <a:xfrm>
            <a:off x="457200" y="1097280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68" name="t268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A stabilisation pass on the engine loop once the UI drove real traffic, plus the full v1 evaluation scaffold.</a:t>
            </a:r>
            <a:endParaRPr sz="1200"/>
          </a:p>
        </p:txBody>
      </p:sp>
      <p:sp>
        <p:nvSpPr>
          <p:cNvPr id="269" name="r269"/>
          <p:cNvSpPr/>
          <p:nvPr/>
        </p:nvSpPr>
        <p:spPr>
          <a:xfrm>
            <a:off x="457200" y="1828800"/>
            <a:ext cx="11274552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0" name="r270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1" name="t271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P3 · CORE ENGINE (f_*)</a:t>
            </a:r>
            <a:endParaRPr sz="1200"/>
          </a:p>
        </p:txBody>
      </p:sp>
      <p:sp>
        <p:nvSpPr>
          <p:cNvPr id="272" name="t272"/>
          <p:cNvSpPr/>
          <p:nvPr/>
        </p:nvSpPr>
        <p:spPr>
          <a:xfrm>
            <a:off x="731520" y="21579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Matteo Pareto</a:t>
            </a:r>
            <a:endParaRPr sz="1200"/>
          </a:p>
        </p:txBody>
      </p:sp>
      <p:sp>
        <p:nvSpPr>
          <p:cNvPr id="273" name="t273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Stabilisation · Error surfacing · Eval scaffold</a:t>
            </a:r>
            <a:endParaRPr sz="1200"/>
          </a:p>
        </p:txBody>
      </p:sp>
      <p:sp>
        <p:nvSpPr>
          <p:cNvPr id="274" name="t274"/>
          <p:cNvSpPr/>
          <p:nvPr/>
        </p:nvSpPr>
        <p:spPr>
          <a:xfrm>
            <a:off x="457200" y="28529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1200"/>
          </a:p>
        </p:txBody>
      </p:sp>
      <p:sp>
        <p:nvSpPr>
          <p:cNvPr id="275" name="r275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6" name="e276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7" name="t277"/>
          <p:cNvSpPr/>
          <p:nvPr/>
        </p:nvSpPr>
        <p:spPr>
          <a:xfrm>
            <a:off x="749808" y="3456432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Multi-op snapshot integrity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db.flush() between operations so a second split/merge sees the previous op's writes (was writing rows under a dissolved cluster).</a:t>
            </a:r>
            <a:endParaRPr sz="1050"/>
          </a:p>
        </p:txBody>
      </p:sp>
      <p:sp>
        <p:nvSpPr>
          <p:cNvPr id="278" name="e278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79" name="t279"/>
          <p:cNvSpPr/>
          <p:nvPr/>
        </p:nvSpPr>
        <p:spPr>
          <a:xfrm>
            <a:off x="749808" y="4183380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Fail loud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removed silent try/except in f_apply_operations; engine errors now raise and surface as HTTP 422 in the UI.</a:t>
            </a:r>
            <a:endParaRPr sz="1050"/>
          </a:p>
        </p:txBody>
      </p:sp>
      <p:sp>
        <p:nvSpPr>
          <p:cNvPr id="280" name="e280"/>
          <p:cNvSpPr/>
          <p:nvPr/>
        </p:nvSpPr>
        <p:spPr>
          <a:xfrm>
            <a:off x="502920" y="4974336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1" name="t281"/>
          <p:cNvSpPr/>
          <p:nvPr/>
        </p:nvSpPr>
        <p:spPr>
          <a:xfrm>
            <a:off x="749808" y="4910328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Provider-agnostic harness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extract_json_text for fenced JSON, string content for chat APIs, Claude-only token trim.</a:t>
            </a:r>
            <a:endParaRPr sz="1050"/>
          </a:p>
        </p:txBody>
      </p:sp>
      <p:sp>
        <p:nvSpPr>
          <p:cNvPr id="282" name="e282"/>
          <p:cNvSpPr/>
          <p:nvPr/>
        </p:nvSpPr>
        <p:spPr>
          <a:xfrm>
            <a:off x="502920" y="570128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3" name="t283"/>
          <p:cNvSpPr/>
          <p:nvPr/>
        </p:nvSpPr>
        <p:spPr>
          <a:xfrm>
            <a:off x="749808" y="5637276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Evaluation scaffold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built f_validate_point (B4), run_eval, and 5 scenarios; ran the full suite end-to-end.</a:t>
            </a:r>
            <a:endParaRPr sz="1050"/>
          </a:p>
        </p:txBody>
      </p:sp>
      <p:sp>
        <p:nvSpPr>
          <p:cNvPr id="284" name="r284"/>
          <p:cNvSpPr/>
          <p:nvPr/>
        </p:nvSpPr>
        <p:spPr>
          <a:xfrm>
            <a:off x="7589520" y="2852928"/>
            <a:ext cx="4114800" cy="20848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5" name="r285"/>
          <p:cNvSpPr/>
          <p:nvPr/>
        </p:nvSpPr>
        <p:spPr>
          <a:xfrm>
            <a:off x="7589520" y="2852928"/>
            <a:ext cx="73152" cy="20848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6" name="t286"/>
          <p:cNvSpPr/>
          <p:nvPr/>
        </p:nvSpPr>
        <p:spPr>
          <a:xfrm>
            <a:off x="78181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200"/>
          </a:p>
        </p:txBody>
      </p:sp>
      <p:sp>
        <p:nvSpPr>
          <p:cNvPr id="287" name="t287"/>
          <p:cNvSpPr/>
          <p:nvPr/>
        </p:nvSpPr>
        <p:spPr>
          <a:xfrm>
            <a:off x="7818120" y="3310128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Knowing where to stop being defensive: the first fix silently skipped bad ops; reverted to strict propagation with HTTP 422 as the visible layer so bugs don't hide.</a:t>
            </a:r>
            <a:endParaRPr sz="1200"/>
          </a:p>
        </p:txBody>
      </p:sp>
      <p:sp>
        <p:nvSpPr>
          <p:cNvPr id="288" name="r288"/>
          <p:cNvSpPr/>
          <p:nvPr/>
        </p:nvSpPr>
        <p:spPr>
          <a:xfrm>
            <a:off x="7589520" y="5074920"/>
            <a:ext cx="4114800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89" name="r289"/>
          <p:cNvSpPr/>
          <p:nvPr/>
        </p:nvSpPr>
        <p:spPr>
          <a:xfrm>
            <a:off x="7589520" y="5074920"/>
            <a:ext cx="411480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0" name="t290"/>
          <p:cNvSpPr/>
          <p:nvPr/>
        </p:nvSpPr>
        <p:spPr>
          <a:xfrm>
            <a:off x="7818120" y="5230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NEXT SPRINT</a:t>
            </a:r>
            <a:endParaRPr sz="1200"/>
          </a:p>
        </p:txBody>
      </p:sp>
      <p:sp>
        <p:nvSpPr>
          <p:cNvPr id="291" name="t291"/>
          <p:cNvSpPr/>
          <p:nvPr/>
        </p:nvSpPr>
        <p:spPr>
          <a:xfrm>
            <a:off x="7818120" y="5522976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f_eval is the next real piece for the demo; an in-memory integration test for the split + name flow.</a:t>
            </a:r>
            <a:endParaRPr sz="1200"/>
          </a:p>
        </p:txBody>
      </p:sp>
      <p:sp>
        <p:nvSpPr>
          <p:cNvPr id="292" name="t29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293" name="t293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e294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5" name="t295"/>
          <p:cNvSpPr/>
          <p:nvPr/>
        </p:nvSpPr>
        <p:spPr>
          <a:xfrm>
            <a:off x="457200" y="420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P4</a:t>
            </a:r>
            <a:endParaRPr sz="1200"/>
          </a:p>
        </p:txBody>
      </p:sp>
      <p:sp>
        <p:nvSpPr>
          <p:cNvPr id="296" name="t296"/>
          <p:cNvSpPr/>
          <p:nvPr/>
        </p:nvSpPr>
        <p:spPr>
          <a:xfrm>
            <a:off x="118872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Sprint 3 · P4 — LLM &amp; Prompting</a:t>
            </a:r>
            <a:endParaRPr sz="1200"/>
          </a:p>
        </p:txBody>
      </p:sp>
      <p:sp>
        <p:nvSpPr>
          <p:cNvPr id="297" name="t297"/>
          <p:cNvSpPr/>
          <p:nvPr/>
        </p:nvSpPr>
        <p:spPr>
          <a:xfrm>
            <a:off x="9509760" y="502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· P4</a:t>
            </a:r>
            <a:endParaRPr sz="1200"/>
          </a:p>
        </p:txBody>
      </p:sp>
      <p:sp>
        <p:nvSpPr>
          <p:cNvPr id="298" name="r298"/>
          <p:cNvSpPr/>
          <p:nvPr/>
        </p:nvSpPr>
        <p:spPr>
          <a:xfrm>
            <a:off x="457200" y="1097280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99" name="t299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Prompt fixes and a redesigned cluster-level uncertainty model that scales past per-point UUIDs.</a:t>
            </a:r>
            <a:endParaRPr sz="1200"/>
          </a:p>
        </p:txBody>
      </p:sp>
      <p:sp>
        <p:nvSpPr>
          <p:cNvPr id="300" name="r300"/>
          <p:cNvSpPr/>
          <p:nvPr/>
        </p:nvSpPr>
        <p:spPr>
          <a:xfrm>
            <a:off x="457200" y="1828800"/>
            <a:ext cx="11274552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1" name="r301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2" name="t302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P4 · LLM &amp; PROMPTING</a:t>
            </a:r>
            <a:endParaRPr sz="1200"/>
          </a:p>
        </p:txBody>
      </p:sp>
      <p:sp>
        <p:nvSpPr>
          <p:cNvPr id="303" name="t303"/>
          <p:cNvSpPr/>
          <p:nvPr/>
        </p:nvSpPr>
        <p:spPr>
          <a:xfrm>
            <a:off x="731520" y="21579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Nilo Netti</a:t>
            </a:r>
            <a:endParaRPr sz="1200"/>
          </a:p>
        </p:txBody>
      </p:sp>
      <p:sp>
        <p:nvSpPr>
          <p:cNvPr id="304" name="t304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Prompts · Cluster uncertainty · Cost</a:t>
            </a:r>
            <a:endParaRPr sz="1200"/>
          </a:p>
        </p:txBody>
      </p:sp>
      <p:sp>
        <p:nvSpPr>
          <p:cNvPr id="305" name="t305"/>
          <p:cNvSpPr/>
          <p:nvPr/>
        </p:nvSpPr>
        <p:spPr>
          <a:xfrm>
            <a:off x="457200" y="28529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1200"/>
          </a:p>
        </p:txBody>
      </p:sp>
      <p:sp>
        <p:nvSpPr>
          <p:cNvPr id="306" name="r306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7" name="e307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08" name="t308"/>
          <p:cNvSpPr/>
          <p:nvPr/>
        </p:nvSpPr>
        <p:spPr>
          <a:xfrm>
            <a:off x="749808" y="3456432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Prompt fixes (f_output)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use cluster names/descriptions as merge/split signals; a merge always needs &gt;=2 cluster_ids (there is no delete op).</a:t>
            </a:r>
            <a:endParaRPr sz="1050"/>
          </a:p>
        </p:txBody>
      </p:sp>
      <p:sp>
        <p:nvSpPr>
          <p:cNvPr id="309" name="e309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0" name="t310"/>
          <p:cNvSpPr/>
          <p:nvPr/>
        </p:nvSpPr>
        <p:spPr>
          <a:xfrm>
            <a:off x="749808" y="4183380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Cluster-level uncertainty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replaced per-point UUID questions with ClusterOverlap + ClusterCohesion; Rule 2 asks about merge/split by cluster name.</a:t>
            </a:r>
            <a:endParaRPr sz="1050"/>
          </a:p>
        </p:txBody>
      </p:sp>
      <p:sp>
        <p:nvSpPr>
          <p:cNvPr id="311" name="e311"/>
          <p:cNvSpPr/>
          <p:nvPr/>
        </p:nvSpPr>
        <p:spPr>
          <a:xfrm>
            <a:off x="502920" y="4974336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2" name="t312"/>
          <p:cNvSpPr/>
          <p:nvPr/>
        </p:nvSpPr>
        <p:spPr>
          <a:xfrm>
            <a:off x="749808" y="4910328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Cost plumbing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token_usage and cost_usd on SystemTurn so P5's UI shows real token counts and cost.</a:t>
            </a:r>
            <a:endParaRPr sz="1050"/>
          </a:p>
        </p:txBody>
      </p:sp>
      <p:sp>
        <p:nvSpPr>
          <p:cNvPr id="313" name="e313"/>
          <p:cNvSpPr/>
          <p:nvPr/>
        </p:nvSpPr>
        <p:spPr>
          <a:xfrm>
            <a:off x="502920" y="570128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4" name="t314"/>
          <p:cNvSpPr/>
          <p:nvPr/>
        </p:nvSpPr>
        <p:spPr>
          <a:xfrm>
            <a:off x="749808" y="5637276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Legacy API kept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BoundaryPoint / f_uncertainty retained for backwards-compatible tests.</a:t>
            </a:r>
            <a:endParaRPr sz="1050"/>
          </a:p>
        </p:txBody>
      </p:sp>
      <p:sp>
        <p:nvSpPr>
          <p:cNvPr id="315" name="r315"/>
          <p:cNvSpPr/>
          <p:nvPr/>
        </p:nvSpPr>
        <p:spPr>
          <a:xfrm>
            <a:off x="7589520" y="2852928"/>
            <a:ext cx="4114800" cy="20848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6" name="r316"/>
          <p:cNvSpPr/>
          <p:nvPr/>
        </p:nvSpPr>
        <p:spPr>
          <a:xfrm>
            <a:off x="7589520" y="2852928"/>
            <a:ext cx="73152" cy="20848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7" name="t317"/>
          <p:cNvSpPr/>
          <p:nvPr/>
        </p:nvSpPr>
        <p:spPr>
          <a:xfrm>
            <a:off x="78181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200"/>
          </a:p>
        </p:txBody>
      </p:sp>
      <p:sp>
        <p:nvSpPr>
          <p:cNvPr id="318" name="t318"/>
          <p:cNvSpPr/>
          <p:nvPr/>
        </p:nvSpPr>
        <p:spPr>
          <a:xfrm>
            <a:off x="7818120" y="3310128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The old uncertainty rule asked the oracle to classify individual points by opaque UUID — unusable at 1,200 points; it was redesigned at the structural level.</a:t>
            </a:r>
            <a:endParaRPr sz="1200"/>
          </a:p>
        </p:txBody>
      </p:sp>
      <p:sp>
        <p:nvSpPr>
          <p:cNvPr id="319" name="r319"/>
          <p:cNvSpPr/>
          <p:nvPr/>
        </p:nvSpPr>
        <p:spPr>
          <a:xfrm>
            <a:off x="7589520" y="5074920"/>
            <a:ext cx="4114800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r320"/>
          <p:cNvSpPr/>
          <p:nvPr/>
        </p:nvSpPr>
        <p:spPr>
          <a:xfrm>
            <a:off x="7589520" y="5074920"/>
            <a:ext cx="411480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t321"/>
          <p:cNvSpPr/>
          <p:nvPr/>
        </p:nvSpPr>
        <p:spPr>
          <a:xfrm>
            <a:off x="7818120" y="5230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NEXT SPRINT</a:t>
            </a:r>
            <a:endParaRPr sz="1200"/>
          </a:p>
        </p:txBody>
      </p:sp>
      <p:sp>
        <p:nvSpPr>
          <p:cNvPr id="322" name="t322"/>
          <p:cNvSpPr/>
          <p:nvPr/>
        </p:nvSpPr>
        <p:spPr>
          <a:xfrm>
            <a:off x="7818120" y="5522976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oracle_sim prompt for run_eval; strengthen contradiction detection; add an OpenRouter timeout.</a:t>
            </a:r>
            <a:endParaRPr sz="1200"/>
          </a:p>
        </p:txBody>
      </p:sp>
      <p:sp>
        <p:nvSpPr>
          <p:cNvPr id="323" name="t3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324" name="t324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e325"/>
          <p:cNvSpPr/>
          <p:nvPr/>
        </p:nvSpPr>
        <p:spPr>
          <a:xfrm>
            <a:off x="457200" y="4114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6" name="t326"/>
          <p:cNvSpPr/>
          <p:nvPr/>
        </p:nvSpPr>
        <p:spPr>
          <a:xfrm>
            <a:off x="457200" y="42062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P5</a:t>
            </a:r>
            <a:endParaRPr sz="1200"/>
          </a:p>
        </p:txBody>
      </p:sp>
      <p:sp>
        <p:nvSpPr>
          <p:cNvPr id="327" name="t327"/>
          <p:cNvSpPr/>
          <p:nvPr/>
        </p:nvSpPr>
        <p:spPr>
          <a:xfrm>
            <a:off x="118872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Sprint 3 · P5 — Evaluation &amp; UI</a:t>
            </a:r>
            <a:endParaRPr sz="1200"/>
          </a:p>
        </p:txBody>
      </p:sp>
      <p:sp>
        <p:nvSpPr>
          <p:cNvPr id="328" name="t328"/>
          <p:cNvSpPr/>
          <p:nvPr/>
        </p:nvSpPr>
        <p:spPr>
          <a:xfrm>
            <a:off x="9509760" y="502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SPRINT 3 · P5</a:t>
            </a:r>
            <a:endParaRPr sz="1200"/>
          </a:p>
        </p:txBody>
      </p:sp>
      <p:sp>
        <p:nvSpPr>
          <p:cNvPr id="329" name="r329"/>
          <p:cNvSpPr/>
          <p:nvPr/>
        </p:nvSpPr>
        <p:spPr>
          <a:xfrm>
            <a:off x="457200" y="1097280"/>
            <a:ext cx="11274552" cy="20117"/>
          </a:xfrm>
          <a:prstGeom prst="rect">
            <a:avLst/>
          </a:prstGeom>
          <a:solidFill>
            <a:srgbClr val="D9DFE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0" name="t330"/>
          <p:cNvSpPr/>
          <p:nvPr/>
        </p:nvSpPr>
        <p:spPr>
          <a:xfrm>
            <a:off x="457200" y="1225296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UI enhancements, the logger consolidation, and an editorial palette redesign.</a:t>
            </a:r>
            <a:endParaRPr sz="1200"/>
          </a:p>
        </p:txBody>
      </p:sp>
      <p:sp>
        <p:nvSpPr>
          <p:cNvPr id="331" name="r331"/>
          <p:cNvSpPr/>
          <p:nvPr/>
        </p:nvSpPr>
        <p:spPr>
          <a:xfrm>
            <a:off x="457200" y="1828800"/>
            <a:ext cx="11274552" cy="8412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2" name="r332"/>
          <p:cNvSpPr/>
          <p:nvPr/>
        </p:nvSpPr>
        <p:spPr>
          <a:xfrm>
            <a:off x="457200" y="1828800"/>
            <a:ext cx="91440" cy="841248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3" name="t333"/>
          <p:cNvSpPr/>
          <p:nvPr/>
        </p:nvSpPr>
        <p:spPr>
          <a:xfrm>
            <a:off x="731520" y="1920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P5 · EVALUATION &amp; UI</a:t>
            </a:r>
            <a:endParaRPr sz="1200"/>
          </a:p>
        </p:txBody>
      </p:sp>
      <p:sp>
        <p:nvSpPr>
          <p:cNvPr id="334" name="t334"/>
          <p:cNvSpPr/>
          <p:nvPr/>
        </p:nvSpPr>
        <p:spPr>
          <a:xfrm>
            <a:off x="731520" y="2157984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Arianna Schiavi</a:t>
            </a:r>
            <a:endParaRPr sz="1200"/>
          </a:p>
        </p:txBody>
      </p:sp>
      <p:sp>
        <p:nvSpPr>
          <p:cNvPr id="335" name="t335"/>
          <p:cNvSpPr/>
          <p:nvPr/>
        </p:nvSpPr>
        <p:spPr>
          <a:xfrm>
            <a:off x="6126480" y="21031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UI · Logger · Palette redesign</a:t>
            </a:r>
            <a:endParaRPr sz="1200"/>
          </a:p>
        </p:txBody>
      </p:sp>
      <p:sp>
        <p:nvSpPr>
          <p:cNvPr id="336" name="t336"/>
          <p:cNvSpPr/>
          <p:nvPr/>
        </p:nvSpPr>
        <p:spPr>
          <a:xfrm>
            <a:off x="457200" y="28529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sz="1200"/>
          </a:p>
        </p:txBody>
      </p:sp>
      <p:sp>
        <p:nvSpPr>
          <p:cNvPr id="337" name="r337"/>
          <p:cNvSpPr/>
          <p:nvPr/>
        </p:nvSpPr>
        <p:spPr>
          <a:xfrm>
            <a:off x="457200" y="3246120"/>
            <a:ext cx="1828800" cy="274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8" name="e338"/>
          <p:cNvSpPr/>
          <p:nvPr/>
        </p:nvSpPr>
        <p:spPr>
          <a:xfrm>
            <a:off x="502920" y="3520440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9" name="t339"/>
          <p:cNvSpPr/>
          <p:nvPr/>
        </p:nvSpPr>
        <p:spPr>
          <a:xfrm>
            <a:off x="749808" y="3456432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Logger consolidation (#29)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moved log_clustering_run into src/logger.py, deleting the separate module; tests repointed, all 7 pass.</a:t>
            </a:r>
            <a:endParaRPr sz="1050"/>
          </a:p>
        </p:txBody>
      </p:sp>
      <p:sp>
        <p:nvSpPr>
          <p:cNvPr id="340" name="e340"/>
          <p:cNvSpPr/>
          <p:nvPr/>
        </p:nvSpPr>
        <p:spPr>
          <a:xfrm>
            <a:off x="502920" y="4247388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1" name="t341"/>
          <p:cNvSpPr/>
          <p:nvPr/>
        </p:nvSpPr>
        <p:spPr>
          <a:xfrm>
            <a:off x="749808" y="4183380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UI enhancements (#19)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responsive layout, session resume, multi-cluster selection, selected-cluster chips, search + pagination in the expand modal.</a:t>
            </a:r>
            <a:endParaRPr sz="1050"/>
          </a:p>
        </p:txBody>
      </p:sp>
      <p:sp>
        <p:nvSpPr>
          <p:cNvPr id="342" name="e342"/>
          <p:cNvSpPr/>
          <p:nvPr/>
        </p:nvSpPr>
        <p:spPr>
          <a:xfrm>
            <a:off x="502920" y="4974336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3" name="t343"/>
          <p:cNvSpPr/>
          <p:nvPr/>
        </p:nvSpPr>
        <p:spPr>
          <a:xfrm>
            <a:off x="749808" y="4910328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Palette redesign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replaced the low-contrast cream/brown theme with an editorial "paper + sage" palette; botanical cluster-card accents.</a:t>
            </a:r>
            <a:endParaRPr sz="1050"/>
          </a:p>
        </p:txBody>
      </p:sp>
      <p:sp>
        <p:nvSpPr>
          <p:cNvPr id="344" name="e344"/>
          <p:cNvSpPr/>
          <p:nvPr/>
        </p:nvSpPr>
        <p:spPr>
          <a:xfrm>
            <a:off x="502920" y="5701284"/>
            <a:ext cx="109728" cy="109728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5" name="t345"/>
          <p:cNvSpPr/>
          <p:nvPr/>
        </p:nvSpPr>
        <p:spPr>
          <a:xfrm>
            <a:off x="749808" y="5637276"/>
            <a:ext cx="6629400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Bug triage  </a:t>
            </a:r>
            <a:r>
              <a:rPr b="0" lang="en-US" sz="105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— traced the merge-with-single-id bug (#35) and confirmed the production KeyError was stale in-memory code, not a live bug.</a:t>
            </a:r>
            <a:endParaRPr sz="1050"/>
          </a:p>
        </p:txBody>
      </p:sp>
      <p:sp>
        <p:nvSpPr>
          <p:cNvPr id="346" name="r346"/>
          <p:cNvSpPr/>
          <p:nvPr/>
        </p:nvSpPr>
        <p:spPr>
          <a:xfrm>
            <a:off x="7589520" y="2852928"/>
            <a:ext cx="4114800" cy="2084832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7" name="r347"/>
          <p:cNvSpPr/>
          <p:nvPr/>
        </p:nvSpPr>
        <p:spPr>
          <a:xfrm>
            <a:off x="7589520" y="2852928"/>
            <a:ext cx="73152" cy="208483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48" name="t348"/>
          <p:cNvSpPr/>
          <p:nvPr/>
        </p:nvSpPr>
        <p:spPr>
          <a:xfrm>
            <a:off x="7818120" y="296265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1200"/>
          </a:p>
        </p:txBody>
      </p:sp>
      <p:sp>
        <p:nvSpPr>
          <p:cNvPr id="349" name="t349"/>
          <p:cNvSpPr/>
          <p:nvPr/>
        </p:nvSpPr>
        <p:spPr>
          <a:xfrm>
            <a:off x="7818120" y="3310128"/>
            <a:ext cx="3749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2A2F4A"/>
                </a:solidFill>
                <a:latin typeface="Calibri"/>
                <a:ea typeface="Calibri"/>
                <a:cs typeface="Calibri"/>
                <a:sym typeface="Calibri"/>
              </a:rPr>
              <a:t>A stale live server (started without --reload) was running old code, masking the real merge bug; a fresh debug server on :8001 reproduced the true issue.</a:t>
            </a:r>
            <a:endParaRPr sz="1200"/>
          </a:p>
        </p:txBody>
      </p:sp>
      <p:sp>
        <p:nvSpPr>
          <p:cNvPr id="350" name="r350"/>
          <p:cNvSpPr/>
          <p:nvPr/>
        </p:nvSpPr>
        <p:spPr>
          <a:xfrm>
            <a:off x="7589520" y="5074920"/>
            <a:ext cx="4114800" cy="1298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1" name="r351"/>
          <p:cNvSpPr/>
          <p:nvPr/>
        </p:nvSpPr>
        <p:spPr>
          <a:xfrm>
            <a:off x="7589520" y="5074920"/>
            <a:ext cx="4114800" cy="73152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2" name="t352"/>
          <p:cNvSpPr/>
          <p:nvPr/>
        </p:nvSpPr>
        <p:spPr>
          <a:xfrm>
            <a:off x="7818120" y="523036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NEXT SPRINT</a:t>
            </a:r>
            <a:endParaRPr sz="1200"/>
          </a:p>
        </p:txBody>
      </p:sp>
      <p:sp>
        <p:nvSpPr>
          <p:cNvPr id="353" name="t353"/>
          <p:cNvSpPr/>
          <p:nvPr/>
        </p:nvSpPr>
        <p:spPr>
          <a:xfrm>
            <a:off x="7818120" y="5522976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LLM-as-oracle harness; token-cost &amp; convergence metrics; a Jupyter notebook with final charts; investigate the silent naming fallback.</a:t>
            </a:r>
            <a:endParaRPr sz="1200"/>
          </a:p>
        </p:txBody>
      </p:sp>
      <p:sp>
        <p:nvSpPr>
          <p:cNvPr id="354" name="t35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355" name="t355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p="http://schemas.openxmlformats.org/presentationml/2006/main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e407"/>
          <p:cNvSpPr/>
          <p:nvPr/>
        </p:nvSpPr>
        <p:spPr>
          <a:xfrm>
            <a:off x="9326880" y="1188720"/>
            <a:ext cx="1463040" cy="146304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8" name="e408"/>
          <p:cNvSpPr/>
          <p:nvPr/>
        </p:nvSpPr>
        <p:spPr>
          <a:xfrm>
            <a:off x="10469880" y="2057400"/>
            <a:ext cx="914400" cy="9144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09" name="e409"/>
          <p:cNvSpPr/>
          <p:nvPr/>
        </p:nvSpPr>
        <p:spPr>
          <a:xfrm>
            <a:off x="9646920" y="3154680"/>
            <a:ext cx="1097280" cy="1097280"/>
          </a:xfrm>
          <a:prstGeom prst="ellipse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0" name="e410"/>
          <p:cNvSpPr/>
          <p:nvPr/>
        </p:nvSpPr>
        <p:spPr>
          <a:xfrm>
            <a:off x="10652760" y="4206240"/>
            <a:ext cx="731520" cy="7315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e411"/>
          <p:cNvSpPr/>
          <p:nvPr/>
        </p:nvSpPr>
        <p:spPr>
          <a:xfrm>
            <a:off x="9464040" y="4572000"/>
            <a:ext cx="914400" cy="91440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2" name="r412"/>
          <p:cNvSpPr/>
          <p:nvPr/>
        </p:nvSpPr>
        <p:spPr>
          <a:xfrm>
            <a:off x="822960" y="2395728"/>
            <a:ext cx="228600" cy="45720"/>
          </a:xfrm>
          <a:prstGeom prst="rect">
            <a:avLst/>
          </a:prstGeom>
          <a:solidFill>
            <a:srgbClr val="C9A961"/>
          </a:solidFill>
          <a:ln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3" name="t413"/>
          <p:cNvSpPr/>
          <p:nvPr/>
        </p:nvSpPr>
        <p:spPr>
          <a:xfrm>
            <a:off x="1143000" y="21945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1200"/>
          </a:p>
        </p:txBody>
      </p:sp>
      <p:sp>
        <p:nvSpPr>
          <p:cNvPr id="414" name="t414"/>
          <p:cNvSpPr/>
          <p:nvPr/>
        </p:nvSpPr>
        <p:spPr>
          <a:xfrm>
            <a:off x="777240" y="233172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sz="1200"/>
          </a:p>
        </p:txBody>
      </p:sp>
      <p:sp>
        <p:nvSpPr>
          <p:cNvPr id="415" name="t415"/>
          <p:cNvSpPr/>
          <p:nvPr/>
        </p:nvSpPr>
        <p:spPr>
          <a:xfrm>
            <a:off x="822960" y="3886200"/>
            <a:ext cx="8138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We'll now walk through a full conversational-clustering session live in the UI — from initial k-means to oracle-guided refinement.</a:t>
            </a:r>
            <a:endParaRPr sz="1200"/>
          </a:p>
        </p:txBody>
      </p:sp>
      <p:sp>
        <p:nvSpPr>
          <p:cNvPr id="416" name="t4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strike="noStrike">
                <a:solidFill>
                  <a:srgbClr val="6A6F8C"/>
                </a:solidFill>
                <a:latin typeface="Calibri"/>
                <a:ea typeface="Calibri"/>
                <a:cs typeface="Calibri"/>
                <a:sym typeface="Calibri"/>
              </a:rPr>
              <a:t>Conversational Clustering · Sprint 3 Review · May 2026</a:t>
            </a:r>
            <a:endParaRPr sz="1200"/>
          </a:p>
        </p:txBody>
      </p:sp>
      <p:sp>
        <p:nvSpPr>
          <p:cNvPr id="417" name="t417"/>
          <p:cNvSpPr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 strike="noStrike">
                <a:solidFill>
                  <a:srgbClr val="C9A961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