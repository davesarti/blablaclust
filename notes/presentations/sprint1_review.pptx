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it-IT" sz="4400" b="0" strike="noStrike" spc="-1">
                <a:latin typeface="Arial"/>
              </a:rPr>
              <a:t>Fai clic per spostare la diapositiva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it-IT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it-IT" sz="1400" b="0" strike="noStrike" spc="-1">
                <a:latin typeface="Times New Roman"/>
              </a:defRPr>
            </a:lvl1pPr>
          </a:lstStyle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it-IT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77B702A6-3869-4947-8A0F-892736C0B89A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BB1FEC-6338-4A25-A44F-D46F0B9B47C9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5B454C-4EC4-4615-AAF5-F218222DB82C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D18944-B258-49B8-A024-C0A84C805661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848573-28C2-428C-900E-B7F0A48642BC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8E4834-CE6D-46AE-B07B-71DB1C654B40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9F629D-D088-4C4C-9106-C70461DE9ADB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0C51FC-9648-47FA-9188-3A71621E227B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EBCCCD-9ECA-4D5B-9AD1-08EA510C824C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4E4FC2-9671-40F6-AD77-50F2C9FC1C8E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0" rIns="9000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FBE920-B565-49CA-A71C-2FC7EA5AA2E7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it-IT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9326880" y="1097280"/>
            <a:ext cx="1644840" cy="16448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5" name="Shape 1"/>
          <p:cNvSpPr/>
          <p:nvPr/>
        </p:nvSpPr>
        <p:spPr>
          <a:xfrm>
            <a:off x="10424160" y="1828800"/>
            <a:ext cx="1004760" cy="1004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6" name="Shape 2"/>
          <p:cNvSpPr/>
          <p:nvPr/>
        </p:nvSpPr>
        <p:spPr>
          <a:xfrm>
            <a:off x="9601200" y="2377440"/>
            <a:ext cx="639000" cy="639000"/>
          </a:xfrm>
          <a:prstGeom prst="ellipse">
            <a:avLst/>
          </a:prstGeom>
          <a:solidFill>
            <a:srgbClr val="CADCFC">
              <a:alpha val="70000"/>
            </a:srgbClr>
          </a:solidFill>
          <a:ln w="12700">
            <a:solidFill>
              <a:srgbClr val="CADC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7" name="Shape 3"/>
          <p:cNvSpPr/>
          <p:nvPr/>
        </p:nvSpPr>
        <p:spPr>
          <a:xfrm>
            <a:off x="10881360" y="2926080"/>
            <a:ext cx="1279080" cy="1279080"/>
          </a:xfrm>
          <a:prstGeom prst="ellipse">
            <a:avLst/>
          </a:prstGeom>
          <a:solidFill>
            <a:srgbClr val="C9A961">
              <a:alpha val="60000"/>
            </a:srgbClr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8" name="Shape 4"/>
          <p:cNvSpPr/>
          <p:nvPr/>
        </p:nvSpPr>
        <p:spPr>
          <a:xfrm>
            <a:off x="9875520" y="3657600"/>
            <a:ext cx="821880" cy="8218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9" name="Shape 5"/>
          <p:cNvSpPr/>
          <p:nvPr/>
        </p:nvSpPr>
        <p:spPr>
          <a:xfrm>
            <a:off x="11064240" y="4297680"/>
            <a:ext cx="547560" cy="5475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50" name="Shape 6"/>
          <p:cNvSpPr/>
          <p:nvPr/>
        </p:nvSpPr>
        <p:spPr>
          <a:xfrm>
            <a:off x="9418320" y="4846320"/>
            <a:ext cx="1004760" cy="1004760"/>
          </a:xfrm>
          <a:prstGeom prst="ellipse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51" name="Shape 7"/>
          <p:cNvSpPr/>
          <p:nvPr/>
        </p:nvSpPr>
        <p:spPr>
          <a:xfrm>
            <a:off x="10515600" y="5394960"/>
            <a:ext cx="730440" cy="730440"/>
          </a:xfrm>
          <a:prstGeom prst="ellipse">
            <a:avLst/>
          </a:prstGeom>
          <a:solidFill>
            <a:srgbClr val="C9A961">
              <a:alpha val="80000"/>
            </a:srgbClr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52" name="Shape 8"/>
          <p:cNvSpPr/>
          <p:nvPr/>
        </p:nvSpPr>
        <p:spPr>
          <a:xfrm>
            <a:off x="822960" y="1463040"/>
            <a:ext cx="227520" cy="446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53" name="Text 9"/>
          <p:cNvSpPr/>
          <p:nvPr/>
        </p:nvSpPr>
        <p:spPr>
          <a:xfrm>
            <a:off x="1143000" y="128016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593">
                <a:solidFill>
                  <a:srgbClr val="C9A961"/>
                </a:solidFill>
                <a:latin typeface="Calibri"/>
                <a:ea typeface="Calibri"/>
              </a:rPr>
              <a:t>PROJECT KICKOFF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22960" y="1828800"/>
            <a:ext cx="1005732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400" b="1" strike="noStrike" spc="-1">
                <a:solidFill>
                  <a:srgbClr val="FFFFFF"/>
                </a:solidFill>
                <a:latin typeface="Georgia"/>
                <a:ea typeface="Georgia"/>
              </a:rPr>
              <a:t>Conversational</a:t>
            </a:r>
            <a:endParaRPr lang="it-IT" sz="6400" b="0" strike="noStrike" spc="-1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22960" y="2788920"/>
            <a:ext cx="1005732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400" b="1" i="1" strike="noStrike" spc="-1">
                <a:solidFill>
                  <a:srgbClr val="CADCFC"/>
                </a:solidFill>
                <a:latin typeface="Georgia"/>
                <a:ea typeface="Georgia"/>
              </a:rPr>
              <a:t>Clustering</a:t>
            </a:r>
            <a:endParaRPr lang="it-IT" sz="6400" b="0" strike="noStrike" spc="-1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822960" y="4023360"/>
            <a:ext cx="822852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An iterative AI system that clusters text through dialogue with an oracle — no ground truth, just understanding.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822960" y="5760720"/>
            <a:ext cx="365760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58" name="Text 14"/>
          <p:cNvSpPr/>
          <p:nvPr/>
        </p:nvSpPr>
        <p:spPr>
          <a:xfrm>
            <a:off x="822960" y="589788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Group of 5</a:t>
            </a:r>
            <a:r>
              <a:rPr lang="en-US" sz="1400" b="0" strike="noStrike" spc="-1">
                <a:solidFill>
                  <a:srgbClr val="6A6F8C"/>
                </a:solidFill>
                <a:latin typeface="Calibri"/>
                <a:ea typeface="Calibri"/>
              </a:rPr>
              <a:t>   ·   </a:t>
            </a: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Davide Sarti · Thomas Ottonello · Matteo Pareto · Nilo Netti · Arianna Schiavi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822960" y="6263640"/>
            <a:ext cx="100573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9A961"/>
                </a:solidFill>
                <a:latin typeface="Calibri"/>
                <a:ea typeface="Calibri"/>
              </a:rPr>
              <a:t>May 2026</a:t>
            </a:r>
            <a:endParaRPr lang="it-IT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61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62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Five vertical layers, five owners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1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65" name="Text 4"/>
          <p:cNvSpPr/>
          <p:nvPr/>
        </p:nvSpPr>
        <p:spPr>
          <a:xfrm>
            <a:off x="457200" y="1280160"/>
            <a:ext cx="11246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Each person owns one independent vertical layer. Integration happens through shared JSON schemas. Rule of thumb: nobody touches another's code — conflicts are resolved by changing the shared schemas, not the code.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457200" y="2057400"/>
            <a:ext cx="2193480" cy="411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67" name="Shape 6"/>
          <p:cNvSpPr/>
          <p:nvPr/>
        </p:nvSpPr>
        <p:spPr>
          <a:xfrm>
            <a:off x="457200" y="2057400"/>
            <a:ext cx="2193480" cy="132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68" name="Shape 7"/>
          <p:cNvSpPr/>
          <p:nvPr/>
        </p:nvSpPr>
        <p:spPr>
          <a:xfrm>
            <a:off x="1188720" y="2286000"/>
            <a:ext cx="730440" cy="730440"/>
          </a:xfrm>
          <a:prstGeom prst="ellipse">
            <a:avLst/>
          </a:prstGeom>
          <a:solidFill>
            <a:srgbClr val="16204E"/>
          </a:solidFill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69" name="Image 1" descr="preencoded.png"/>
          <p:cNvPicPr/>
          <p:nvPr/>
        </p:nvPicPr>
        <p:blipFill>
          <a:blip r:embed="rId4"/>
          <a:stretch/>
        </p:blipFill>
        <p:spPr>
          <a:xfrm>
            <a:off x="1362600" y="24778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70" name="Text 8"/>
          <p:cNvSpPr/>
          <p:nvPr/>
        </p:nvSpPr>
        <p:spPr>
          <a:xfrm>
            <a:off x="457200" y="306324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P1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457200" y="342900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1E2761"/>
                </a:solidFill>
                <a:latin typeface="Georgia"/>
                <a:ea typeface="Georgia"/>
              </a:rPr>
              <a:t>Davide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594360" y="3886200"/>
            <a:ext cx="19191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2F4A"/>
                </a:solidFill>
                <a:latin typeface="Calibri"/>
                <a:ea typeface="Calibri"/>
              </a:rPr>
              <a:t>Infrastructure &amp; DB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1280160" y="4389120"/>
            <a:ext cx="54864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4" name="Text 12"/>
          <p:cNvSpPr/>
          <p:nvPr/>
        </p:nvSpPr>
        <p:spPr>
          <a:xfrm>
            <a:off x="640080" y="4526280"/>
            <a:ext cx="1827720" cy="15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6A6F8C"/>
                </a:solidFill>
                <a:latin typeface="Calibri"/>
                <a:ea typeface="Calibri"/>
              </a:rPr>
              <a:t>FastAPI app, SQLAlchemy models, Alembic migrations, CRUD layer, shared Pydantic schemas.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2743200" y="2057400"/>
            <a:ext cx="2193480" cy="411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6" name="Shape 14"/>
          <p:cNvSpPr/>
          <p:nvPr/>
        </p:nvSpPr>
        <p:spPr>
          <a:xfrm>
            <a:off x="2743200" y="2057400"/>
            <a:ext cx="2193480" cy="132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7" name="Shape 15"/>
          <p:cNvSpPr/>
          <p:nvPr/>
        </p:nvSpPr>
        <p:spPr>
          <a:xfrm>
            <a:off x="3474720" y="2286000"/>
            <a:ext cx="730440" cy="730440"/>
          </a:xfrm>
          <a:prstGeom prst="ellipse">
            <a:avLst/>
          </a:prstGeom>
          <a:solidFill>
            <a:srgbClr val="16204E"/>
          </a:solidFill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78" name="Image 2" descr="preencoded.png"/>
          <p:cNvPicPr/>
          <p:nvPr/>
        </p:nvPicPr>
        <p:blipFill>
          <a:blip r:embed="rId5"/>
          <a:stretch/>
        </p:blipFill>
        <p:spPr>
          <a:xfrm>
            <a:off x="3648600" y="24778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79" name="Text 16"/>
          <p:cNvSpPr/>
          <p:nvPr/>
        </p:nvSpPr>
        <p:spPr>
          <a:xfrm>
            <a:off x="2743200" y="306324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P2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2743200" y="342900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1E2761"/>
                </a:solidFill>
                <a:latin typeface="Georgia"/>
                <a:ea typeface="Georgia"/>
              </a:rPr>
              <a:t>Thomas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2880360" y="3886200"/>
            <a:ext cx="19191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2F4A"/>
                </a:solidFill>
                <a:latin typeface="Calibri"/>
                <a:ea typeface="Calibri"/>
              </a:rPr>
              <a:t>Data &amp; Embeddings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82" name="Shape 19"/>
          <p:cNvSpPr/>
          <p:nvPr/>
        </p:nvSpPr>
        <p:spPr>
          <a:xfrm>
            <a:off x="3566160" y="4389120"/>
            <a:ext cx="54864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83" name="Text 20"/>
          <p:cNvSpPr/>
          <p:nvPr/>
        </p:nvSpPr>
        <p:spPr>
          <a:xfrm>
            <a:off x="2926080" y="4526280"/>
            <a:ext cx="1827720" cy="15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6A6F8C"/>
                </a:solidFill>
                <a:latin typeface="Calibri"/>
                <a:ea typeface="Calibri"/>
              </a:rPr>
              <a:t>Dataset ingestion, sentence-transformers, k-means &amp; HDBSCAN, LLM-generated cluster names.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5029200" y="2057400"/>
            <a:ext cx="2193480" cy="411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85" name="Shape 22"/>
          <p:cNvSpPr/>
          <p:nvPr/>
        </p:nvSpPr>
        <p:spPr>
          <a:xfrm>
            <a:off x="5029200" y="2057400"/>
            <a:ext cx="2193480" cy="132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86" name="Shape 23"/>
          <p:cNvSpPr/>
          <p:nvPr/>
        </p:nvSpPr>
        <p:spPr>
          <a:xfrm>
            <a:off x="5760720" y="2286000"/>
            <a:ext cx="730440" cy="730440"/>
          </a:xfrm>
          <a:prstGeom prst="ellipse">
            <a:avLst/>
          </a:prstGeom>
          <a:solidFill>
            <a:srgbClr val="16204E"/>
          </a:solidFill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87" name="Image 3" descr="preencoded.png"/>
          <p:cNvPicPr/>
          <p:nvPr/>
        </p:nvPicPr>
        <p:blipFill>
          <a:blip r:embed="rId6"/>
          <a:stretch/>
        </p:blipFill>
        <p:spPr>
          <a:xfrm>
            <a:off x="5934600" y="24778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88" name="Text 24"/>
          <p:cNvSpPr/>
          <p:nvPr/>
        </p:nvSpPr>
        <p:spPr>
          <a:xfrm>
            <a:off x="5029200" y="306324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P3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89" name="Text 25"/>
          <p:cNvSpPr/>
          <p:nvPr/>
        </p:nvSpPr>
        <p:spPr>
          <a:xfrm>
            <a:off x="5029200" y="342900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1E2761"/>
                </a:solidFill>
                <a:latin typeface="Georgia"/>
                <a:ea typeface="Georgia"/>
              </a:rPr>
              <a:t>Matteo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5166360" y="3886200"/>
            <a:ext cx="19191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2F4A"/>
                </a:solidFill>
                <a:latin typeface="Calibri"/>
                <a:ea typeface="Calibri"/>
              </a:rPr>
              <a:t>Core Engine (f_*)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91" name="Shape 27"/>
          <p:cNvSpPr/>
          <p:nvPr/>
        </p:nvSpPr>
        <p:spPr>
          <a:xfrm>
            <a:off x="5852160" y="4389120"/>
            <a:ext cx="54864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2" name="Text 28"/>
          <p:cNvSpPr/>
          <p:nvPr/>
        </p:nvSpPr>
        <p:spPr>
          <a:xfrm>
            <a:off x="5212080" y="4526280"/>
            <a:ext cx="1827720" cy="15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6A6F8C"/>
                </a:solidFill>
                <a:latin typeface="Calibri"/>
                <a:ea typeface="Calibri"/>
              </a:rPr>
              <a:t>f_output, f_uncertainty, f_next_state, f_next_best_step, f_eval — the heart of the system.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93" name="Shape 29"/>
          <p:cNvSpPr/>
          <p:nvPr/>
        </p:nvSpPr>
        <p:spPr>
          <a:xfrm>
            <a:off x="7315200" y="2057400"/>
            <a:ext cx="2193480" cy="411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4" name="Shape 30"/>
          <p:cNvSpPr/>
          <p:nvPr/>
        </p:nvSpPr>
        <p:spPr>
          <a:xfrm>
            <a:off x="7315200" y="2057400"/>
            <a:ext cx="2193480" cy="132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5" name="Shape 31"/>
          <p:cNvSpPr/>
          <p:nvPr/>
        </p:nvSpPr>
        <p:spPr>
          <a:xfrm>
            <a:off x="8046720" y="2286000"/>
            <a:ext cx="730440" cy="730440"/>
          </a:xfrm>
          <a:prstGeom prst="ellipse">
            <a:avLst/>
          </a:prstGeom>
          <a:solidFill>
            <a:srgbClr val="16204E"/>
          </a:solidFill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96" name="Image 4" descr="preencoded.png"/>
          <p:cNvPicPr/>
          <p:nvPr/>
        </p:nvPicPr>
        <p:blipFill>
          <a:blip r:embed="rId7"/>
          <a:stretch/>
        </p:blipFill>
        <p:spPr>
          <a:xfrm>
            <a:off x="8220600" y="24778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97" name="Text 32"/>
          <p:cNvSpPr/>
          <p:nvPr/>
        </p:nvSpPr>
        <p:spPr>
          <a:xfrm>
            <a:off x="7315200" y="306324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P4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98" name="Text 33"/>
          <p:cNvSpPr/>
          <p:nvPr/>
        </p:nvSpPr>
        <p:spPr>
          <a:xfrm>
            <a:off x="7315200" y="342900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1E2761"/>
                </a:solidFill>
                <a:latin typeface="Georgia"/>
                <a:ea typeface="Georgia"/>
              </a:rPr>
              <a:t>Nilo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99" name="Text 34"/>
          <p:cNvSpPr/>
          <p:nvPr/>
        </p:nvSpPr>
        <p:spPr>
          <a:xfrm>
            <a:off x="7452360" y="3886200"/>
            <a:ext cx="19191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2F4A"/>
                </a:solidFill>
                <a:latin typeface="Calibri"/>
                <a:ea typeface="Calibri"/>
              </a:rPr>
              <a:t>LLM &amp; Prompting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100" name="Shape 35"/>
          <p:cNvSpPr/>
          <p:nvPr/>
        </p:nvSpPr>
        <p:spPr>
          <a:xfrm>
            <a:off x="8138160" y="4389120"/>
            <a:ext cx="54864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01" name="Text 36"/>
          <p:cNvSpPr/>
          <p:nvPr/>
        </p:nvSpPr>
        <p:spPr>
          <a:xfrm>
            <a:off x="7498080" y="4526280"/>
            <a:ext cx="1827720" cy="15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6A6F8C"/>
                </a:solidFill>
                <a:latin typeface="Calibri"/>
                <a:ea typeface="Calibri"/>
              </a:rPr>
              <a:t>Claude API wrapper, prompt design, contradiction tracking, conversational state management.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02" name="Shape 37"/>
          <p:cNvSpPr/>
          <p:nvPr/>
        </p:nvSpPr>
        <p:spPr>
          <a:xfrm>
            <a:off x="9601200" y="2057400"/>
            <a:ext cx="2193480" cy="411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03" name="Shape 38"/>
          <p:cNvSpPr/>
          <p:nvPr/>
        </p:nvSpPr>
        <p:spPr>
          <a:xfrm>
            <a:off x="9601200" y="2057400"/>
            <a:ext cx="2193480" cy="132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04" name="Shape 39"/>
          <p:cNvSpPr/>
          <p:nvPr/>
        </p:nvSpPr>
        <p:spPr>
          <a:xfrm>
            <a:off x="10332720" y="2286000"/>
            <a:ext cx="730440" cy="730440"/>
          </a:xfrm>
          <a:prstGeom prst="ellipse">
            <a:avLst/>
          </a:prstGeom>
          <a:solidFill>
            <a:srgbClr val="16204E"/>
          </a:solidFill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105" name="Image 5" descr="preencoded.png"/>
          <p:cNvPicPr/>
          <p:nvPr/>
        </p:nvPicPr>
        <p:blipFill>
          <a:blip r:embed="rId8"/>
          <a:stretch/>
        </p:blipFill>
        <p:spPr>
          <a:xfrm>
            <a:off x="10506600" y="24778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106" name="Text 40"/>
          <p:cNvSpPr/>
          <p:nvPr/>
        </p:nvSpPr>
        <p:spPr>
          <a:xfrm>
            <a:off x="9601200" y="306324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P5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07" name="Text 41"/>
          <p:cNvSpPr/>
          <p:nvPr/>
        </p:nvSpPr>
        <p:spPr>
          <a:xfrm>
            <a:off x="9601200" y="342900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1E2761"/>
                </a:solidFill>
                <a:latin typeface="Georgia"/>
                <a:ea typeface="Georgia"/>
              </a:rPr>
              <a:t>Arianna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08" name="Text 42"/>
          <p:cNvSpPr/>
          <p:nvPr/>
        </p:nvSpPr>
        <p:spPr>
          <a:xfrm>
            <a:off x="9738360" y="3886200"/>
            <a:ext cx="19191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2F4A"/>
                </a:solidFill>
                <a:latin typeface="Calibri"/>
                <a:ea typeface="Calibri"/>
              </a:rPr>
              <a:t>Evaluation &amp; CLI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109" name="Shape 43"/>
          <p:cNvSpPr/>
          <p:nvPr/>
        </p:nvSpPr>
        <p:spPr>
          <a:xfrm>
            <a:off x="10424160" y="4389120"/>
            <a:ext cx="54864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10" name="Text 44"/>
          <p:cNvSpPr/>
          <p:nvPr/>
        </p:nvSpPr>
        <p:spPr>
          <a:xfrm>
            <a:off x="9784080" y="4526280"/>
            <a:ext cx="1827720" cy="15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6A6F8C"/>
                </a:solidFill>
                <a:latin typeface="Calibri"/>
                <a:ea typeface="Calibri"/>
              </a:rPr>
              <a:t>CLI interface, LLM-as-oracle simulation, metrics, experiment documentation.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11" name="Text 45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12" name="Text 46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1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114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115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Architecture &amp; data model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2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18" name="Text 4"/>
          <p:cNvSpPr/>
          <p:nvPr/>
        </p:nvSpPr>
        <p:spPr>
          <a:xfrm>
            <a:off x="457200" y="1280160"/>
            <a:ext cx="11246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The schema is small but expressive: sessions own clusters and turns, data points are softly assigned to clusters over time. Every turn is logged for replay.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548640" y="2011680"/>
            <a:ext cx="2467800" cy="137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20" name="Shape 6"/>
          <p:cNvSpPr/>
          <p:nvPr/>
        </p:nvSpPr>
        <p:spPr>
          <a:xfrm>
            <a:off x="548640" y="2011680"/>
            <a:ext cx="2467800" cy="38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21" name="Text 7"/>
          <p:cNvSpPr/>
          <p:nvPr/>
        </p:nvSpPr>
        <p:spPr>
          <a:xfrm>
            <a:off x="685800" y="204840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onsolas"/>
                <a:ea typeface="Consolas"/>
              </a:rPr>
              <a:t>sessions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685800" y="2450520"/>
            <a:ext cx="219348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id (PK)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dataset_name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status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4846320" y="2011680"/>
            <a:ext cx="2467800" cy="137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24" name="Shape 10"/>
          <p:cNvSpPr/>
          <p:nvPr/>
        </p:nvSpPr>
        <p:spPr>
          <a:xfrm>
            <a:off x="4846320" y="2011680"/>
            <a:ext cx="2467800" cy="38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25" name="Text 11"/>
          <p:cNvSpPr/>
          <p:nvPr/>
        </p:nvSpPr>
        <p:spPr>
          <a:xfrm>
            <a:off x="4983480" y="204840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onsolas"/>
                <a:ea typeface="Consolas"/>
              </a:rPr>
              <a:t>clusters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4983480" y="2450520"/>
            <a:ext cx="219348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id (PK)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session_id (FK)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name, description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9144000" y="2011680"/>
            <a:ext cx="2467800" cy="137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28" name="Shape 14"/>
          <p:cNvSpPr/>
          <p:nvPr/>
        </p:nvSpPr>
        <p:spPr>
          <a:xfrm>
            <a:off x="9144000" y="2011680"/>
            <a:ext cx="2467800" cy="38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29" name="Text 15"/>
          <p:cNvSpPr/>
          <p:nvPr/>
        </p:nvSpPr>
        <p:spPr>
          <a:xfrm>
            <a:off x="9281160" y="204840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onsolas"/>
                <a:ea typeface="Consolas"/>
              </a:rPr>
              <a:t>turns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130" name="Text 16"/>
          <p:cNvSpPr/>
          <p:nvPr/>
        </p:nvSpPr>
        <p:spPr>
          <a:xfrm>
            <a:off x="9281160" y="2450520"/>
            <a:ext cx="219348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session_id (PK,FK)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turn_number (PK)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oracle_input · system_output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31" name="Shape 17"/>
          <p:cNvSpPr/>
          <p:nvPr/>
        </p:nvSpPr>
        <p:spPr>
          <a:xfrm>
            <a:off x="548640" y="4572000"/>
            <a:ext cx="2467800" cy="137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32" name="Shape 18"/>
          <p:cNvSpPr/>
          <p:nvPr/>
        </p:nvSpPr>
        <p:spPr>
          <a:xfrm>
            <a:off x="548640" y="4572000"/>
            <a:ext cx="2467800" cy="38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33" name="Text 19"/>
          <p:cNvSpPr/>
          <p:nvPr/>
        </p:nvSpPr>
        <p:spPr>
          <a:xfrm>
            <a:off x="685800" y="460872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onsolas"/>
                <a:ea typeface="Consolas"/>
              </a:rPr>
              <a:t>data_points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685800" y="5010840"/>
            <a:ext cx="219348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id (PK)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dataset_name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data · embedding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35" name="Shape 21"/>
          <p:cNvSpPr/>
          <p:nvPr/>
        </p:nvSpPr>
        <p:spPr>
          <a:xfrm>
            <a:off x="4846320" y="4572000"/>
            <a:ext cx="2467800" cy="137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36" name="Shape 22"/>
          <p:cNvSpPr/>
          <p:nvPr/>
        </p:nvSpPr>
        <p:spPr>
          <a:xfrm>
            <a:off x="4846320" y="4572000"/>
            <a:ext cx="2467800" cy="38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37" name="Text 23"/>
          <p:cNvSpPr/>
          <p:nvPr/>
        </p:nvSpPr>
        <p:spPr>
          <a:xfrm>
            <a:off x="4983480" y="460872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onsolas"/>
                <a:ea typeface="Consolas"/>
              </a:rPr>
              <a:t>soft_assignments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4983480" y="5010840"/>
            <a:ext cx="219348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data_point_id (PK,FK)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cluster_id (PK,FK)</a:t>
            </a:r>
            <a:endParaRPr lang="it-IT" sz="10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A2F4A"/>
                </a:solidFill>
                <a:latin typeface="Consolas"/>
                <a:ea typeface="Consolas"/>
              </a:rPr>
              <a:t>turn_number · probability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39" name="Shape 25"/>
          <p:cNvSpPr/>
          <p:nvPr/>
        </p:nvSpPr>
        <p:spPr>
          <a:xfrm>
            <a:off x="3017520" y="2697480"/>
            <a:ext cx="182880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0" name="Shape 26"/>
          <p:cNvSpPr/>
          <p:nvPr/>
        </p:nvSpPr>
        <p:spPr>
          <a:xfrm>
            <a:off x="3657600" y="2541960"/>
            <a:ext cx="54756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1" name="Text 27"/>
          <p:cNvSpPr/>
          <p:nvPr/>
        </p:nvSpPr>
        <p:spPr>
          <a:xfrm>
            <a:off x="3657600" y="2541960"/>
            <a:ext cx="5475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9A961"/>
                </a:solidFill>
                <a:latin typeface="Calibri"/>
                <a:ea typeface="Calibri"/>
              </a:rPr>
              <a:t>1 : N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42" name="Shape 28"/>
          <p:cNvSpPr/>
          <p:nvPr/>
        </p:nvSpPr>
        <p:spPr>
          <a:xfrm>
            <a:off x="1783080" y="3383280"/>
            <a:ext cx="360" cy="54864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3" name="Shape 29"/>
          <p:cNvSpPr/>
          <p:nvPr/>
        </p:nvSpPr>
        <p:spPr>
          <a:xfrm>
            <a:off x="1783080" y="3931920"/>
            <a:ext cx="859536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4" name="Shape 30"/>
          <p:cNvSpPr/>
          <p:nvPr/>
        </p:nvSpPr>
        <p:spPr>
          <a:xfrm>
            <a:off x="10378440" y="3383280"/>
            <a:ext cx="360" cy="54864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5" name="Shape 31"/>
          <p:cNvSpPr/>
          <p:nvPr/>
        </p:nvSpPr>
        <p:spPr>
          <a:xfrm>
            <a:off x="7909560" y="3785760"/>
            <a:ext cx="54756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6" name="Text 32"/>
          <p:cNvSpPr/>
          <p:nvPr/>
        </p:nvSpPr>
        <p:spPr>
          <a:xfrm>
            <a:off x="7909560" y="3785760"/>
            <a:ext cx="5475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9A961"/>
                </a:solidFill>
                <a:latin typeface="Calibri"/>
                <a:ea typeface="Calibri"/>
              </a:rPr>
              <a:t>1 : N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47" name="Shape 33"/>
          <p:cNvSpPr/>
          <p:nvPr/>
        </p:nvSpPr>
        <p:spPr>
          <a:xfrm>
            <a:off x="6080760" y="3383280"/>
            <a:ext cx="360" cy="118872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8" name="Shape 34"/>
          <p:cNvSpPr/>
          <p:nvPr/>
        </p:nvSpPr>
        <p:spPr>
          <a:xfrm>
            <a:off x="6199560" y="3840480"/>
            <a:ext cx="54756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49" name="Text 35"/>
          <p:cNvSpPr/>
          <p:nvPr/>
        </p:nvSpPr>
        <p:spPr>
          <a:xfrm>
            <a:off x="6199560" y="3840480"/>
            <a:ext cx="5475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9A961"/>
                </a:solidFill>
                <a:latin typeface="Calibri"/>
                <a:ea typeface="Calibri"/>
              </a:rPr>
              <a:t>1 : N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50" name="Shape 36"/>
          <p:cNvSpPr/>
          <p:nvPr/>
        </p:nvSpPr>
        <p:spPr>
          <a:xfrm>
            <a:off x="3017520" y="5257800"/>
            <a:ext cx="1828800" cy="360"/>
          </a:xfrm>
          <a:prstGeom prst="line">
            <a:avLst/>
          </a:prstGeom>
          <a:ln w="190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51" name="Shape 37"/>
          <p:cNvSpPr/>
          <p:nvPr/>
        </p:nvSpPr>
        <p:spPr>
          <a:xfrm>
            <a:off x="3657600" y="5102280"/>
            <a:ext cx="54756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52" name="Text 38"/>
          <p:cNvSpPr/>
          <p:nvPr/>
        </p:nvSpPr>
        <p:spPr>
          <a:xfrm>
            <a:off x="3657600" y="5102280"/>
            <a:ext cx="5475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9A961"/>
                </a:solidFill>
                <a:latin typeface="Calibri"/>
                <a:ea typeface="Calibri"/>
              </a:rPr>
              <a:t>1 : N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53" name="Shape 39"/>
          <p:cNvSpPr/>
          <p:nvPr/>
        </p:nvSpPr>
        <p:spPr>
          <a:xfrm>
            <a:off x="9144000" y="4572000"/>
            <a:ext cx="2467800" cy="1370520"/>
          </a:xfrm>
          <a:prstGeom prst="rect">
            <a:avLst/>
          </a:prstGeom>
          <a:solidFill>
            <a:srgbClr val="F4F6FB"/>
          </a:solidFill>
          <a:ln w="9525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54" name="Text 40"/>
          <p:cNvSpPr/>
          <p:nvPr/>
        </p:nvSpPr>
        <p:spPr>
          <a:xfrm>
            <a:off x="9281160" y="464508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Why this shape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55" name="Text 41"/>
          <p:cNvSpPr/>
          <p:nvPr/>
        </p:nvSpPr>
        <p:spPr>
          <a:xfrm>
            <a:off x="9281160" y="4937760"/>
            <a:ext cx="228492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2A2F4A"/>
                </a:solidFill>
                <a:latin typeface="Calibri"/>
                <a:ea typeface="Calibri"/>
              </a:rPr>
              <a:t>Soft assignments per turn keep the full history.</a:t>
            </a:r>
            <a:endParaRPr lang="it-IT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2A2F4A"/>
                </a:solidFill>
                <a:latin typeface="Calibri"/>
                <a:ea typeface="Calibri"/>
              </a:rPr>
              <a:t>Turns are the source of truth for replay.</a:t>
            </a:r>
            <a:endParaRPr lang="it-IT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2A2F4A"/>
                </a:solidFill>
                <a:latin typeface="Calibri"/>
                <a:ea typeface="Calibri"/>
              </a:rPr>
              <a:t>Clusters can be dissolved without losing data.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56" name="Text 42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57" name="Text 43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2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159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160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Tech stack &amp; dataset choice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10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63" name="Text 4"/>
          <p:cNvSpPr/>
          <p:nvPr/>
        </p:nvSpPr>
        <p:spPr>
          <a:xfrm>
            <a:off x="457200" y="1325880"/>
            <a:ext cx="54853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Georgia"/>
                <a:ea typeface="Georgia"/>
              </a:rPr>
              <a:t>Stack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457200" y="1691640"/>
            <a:ext cx="54864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65" name="Shape 6"/>
          <p:cNvSpPr/>
          <p:nvPr/>
        </p:nvSpPr>
        <p:spPr>
          <a:xfrm>
            <a:off x="457200" y="1874520"/>
            <a:ext cx="5759640" cy="346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66" name="Text 7"/>
          <p:cNvSpPr/>
          <p:nvPr/>
        </p:nvSpPr>
        <p:spPr>
          <a:xfrm>
            <a:off x="548640" y="187452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Backend API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2377440" y="187452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FastAPI + Uvicorn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548640" y="222192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ORM &amp; migrations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2377440" y="222192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SQLAlchemy 2.x + Alembic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457200" y="2569320"/>
            <a:ext cx="5759640" cy="346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71" name="Text 12"/>
          <p:cNvSpPr/>
          <p:nvPr/>
        </p:nvSpPr>
        <p:spPr>
          <a:xfrm>
            <a:off x="548640" y="256932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Database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2377440" y="256932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PostgreSQL (prod) / SQLite (dev)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548640" y="291708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Validation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2377440" y="291708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Pydantic v2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457200" y="3264480"/>
            <a:ext cx="5759640" cy="346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76" name="Text 17"/>
          <p:cNvSpPr/>
          <p:nvPr/>
        </p:nvSpPr>
        <p:spPr>
          <a:xfrm>
            <a:off x="548640" y="326448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Embeddings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2377440" y="326448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sentence-transformers (all-MiniLM-L6-v2)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548640" y="361188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Clustering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2377440" y="361188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scikit-learn (k-means), HDBSCAN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80" name="Shape 21"/>
          <p:cNvSpPr/>
          <p:nvPr/>
        </p:nvSpPr>
        <p:spPr>
          <a:xfrm>
            <a:off x="457200" y="3959280"/>
            <a:ext cx="5759640" cy="346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81" name="Text 22"/>
          <p:cNvSpPr/>
          <p:nvPr/>
        </p:nvSpPr>
        <p:spPr>
          <a:xfrm>
            <a:off x="548640" y="395928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LLM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2377440" y="395928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To define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548640" y="430668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Frontend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84" name="Text 25"/>
          <p:cNvSpPr/>
          <p:nvPr/>
        </p:nvSpPr>
        <p:spPr>
          <a:xfrm>
            <a:off x="2377440" y="430668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Python CLI — React optional later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85" name="Shape 26"/>
          <p:cNvSpPr/>
          <p:nvPr/>
        </p:nvSpPr>
        <p:spPr>
          <a:xfrm>
            <a:off x="457200" y="4654440"/>
            <a:ext cx="5759640" cy="346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86" name="Text 27"/>
          <p:cNvSpPr/>
          <p:nvPr/>
        </p:nvSpPr>
        <p:spPr>
          <a:xfrm>
            <a:off x="548640" y="465444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Testing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87" name="Text 28"/>
          <p:cNvSpPr/>
          <p:nvPr/>
        </p:nvSpPr>
        <p:spPr>
          <a:xfrm>
            <a:off x="2377440" y="465444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onsolas"/>
                <a:ea typeface="Consolas"/>
              </a:rPr>
              <a:t>pytest + httpx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88" name="Shape 29"/>
          <p:cNvSpPr/>
          <p:nvPr/>
        </p:nvSpPr>
        <p:spPr>
          <a:xfrm>
            <a:off x="6583680" y="1325880"/>
            <a:ext cx="5119560" cy="5028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89" name="Shape 30"/>
          <p:cNvSpPr/>
          <p:nvPr/>
        </p:nvSpPr>
        <p:spPr>
          <a:xfrm>
            <a:off x="6583680" y="1325880"/>
            <a:ext cx="5119560" cy="72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90" name="Text 31"/>
          <p:cNvSpPr/>
          <p:nvPr/>
        </p:nvSpPr>
        <p:spPr>
          <a:xfrm>
            <a:off x="6812280" y="1554480"/>
            <a:ext cx="4753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392">
                <a:solidFill>
                  <a:srgbClr val="C9A961"/>
                </a:solidFill>
                <a:latin typeface="Calibri"/>
                <a:ea typeface="Calibri"/>
              </a:rPr>
              <a:t>DATASET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91" name="Text 32"/>
          <p:cNvSpPr/>
          <p:nvPr/>
        </p:nvSpPr>
        <p:spPr>
          <a:xfrm>
            <a:off x="6812280" y="1874520"/>
            <a:ext cx="47538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Georgia"/>
                <a:ea typeface="Georgia"/>
              </a:rPr>
              <a:t>Amazon Reviews</a:t>
            </a:r>
            <a:endParaRPr lang="it-IT" sz="2800" b="0" strike="noStrike" spc="-1">
              <a:latin typeface="Arial"/>
            </a:endParaRPr>
          </a:p>
        </p:txBody>
      </p:sp>
      <p:sp>
        <p:nvSpPr>
          <p:cNvPr id="192" name="Text 33"/>
          <p:cNvSpPr/>
          <p:nvPr/>
        </p:nvSpPr>
        <p:spPr>
          <a:xfrm>
            <a:off x="6812280" y="2423160"/>
            <a:ext cx="47538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Subset · 1,500 records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193" name="Shape 34"/>
          <p:cNvSpPr/>
          <p:nvPr/>
        </p:nvSpPr>
        <p:spPr>
          <a:xfrm>
            <a:off x="6812280" y="2880360"/>
            <a:ext cx="64008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94" name="Shape 35"/>
          <p:cNvSpPr/>
          <p:nvPr/>
        </p:nvSpPr>
        <p:spPr>
          <a:xfrm>
            <a:off x="6812280" y="318204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95" name="Text 36"/>
          <p:cNvSpPr/>
          <p:nvPr/>
        </p:nvSpPr>
        <p:spPr>
          <a:xfrm>
            <a:off x="7040880" y="3108960"/>
            <a:ext cx="45252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Plausible-but-not-obvious clusters — the conversation actually matters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96" name="Shape 37"/>
          <p:cNvSpPr/>
          <p:nvPr/>
        </p:nvSpPr>
        <p:spPr>
          <a:xfrm>
            <a:off x="6812280" y="36849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97" name="Text 38"/>
          <p:cNvSpPr/>
          <p:nvPr/>
        </p:nvSpPr>
        <p:spPr>
          <a:xfrm>
            <a:off x="7040880" y="3611880"/>
            <a:ext cx="45252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Universal domain: anyone in the group can judge whether a clustering makes sense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198" name="Shape 39"/>
          <p:cNvSpPr/>
          <p:nvPr/>
        </p:nvSpPr>
        <p:spPr>
          <a:xfrm>
            <a:off x="6812280" y="418788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99" name="Text 40"/>
          <p:cNvSpPr/>
          <p:nvPr/>
        </p:nvSpPr>
        <p:spPr>
          <a:xfrm>
            <a:off x="7040880" y="4114800"/>
            <a:ext cx="45252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Ground truth exists (stars, category) but isn't the only sensible split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00" name="Shape 41"/>
          <p:cNvSpPr/>
          <p:nvPr/>
        </p:nvSpPr>
        <p:spPr>
          <a:xfrm>
            <a:off x="6812280" y="469080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01" name="Text 42"/>
          <p:cNvSpPr/>
          <p:nvPr/>
        </p:nvSpPr>
        <p:spPr>
          <a:xfrm>
            <a:off x="7040880" y="4617720"/>
            <a:ext cx="45252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Mature, well documented, trivial to download via Kaggle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02" name="Shape 43"/>
          <p:cNvSpPr/>
          <p:nvPr/>
        </p:nvSpPr>
        <p:spPr>
          <a:xfrm>
            <a:off x="6812280" y="519372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03" name="Text 44"/>
          <p:cNvSpPr/>
          <p:nvPr/>
        </p:nvSpPr>
        <p:spPr>
          <a:xfrm>
            <a:off x="7040880" y="5120640"/>
            <a:ext cx="45252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1,500 records: meaningful clusters, fast embedding times in dev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04" name="Shape 45"/>
          <p:cNvSpPr/>
          <p:nvPr/>
        </p:nvSpPr>
        <p:spPr>
          <a:xfrm>
            <a:off x="6812280" y="5806440"/>
            <a:ext cx="4753800" cy="410400"/>
          </a:xfrm>
          <a:prstGeom prst="rect">
            <a:avLst/>
          </a:prstGeom>
          <a:solidFill>
            <a:srgbClr val="16204E"/>
          </a:solidFill>
          <a:ln w="635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05" name="Text 46"/>
          <p:cNvSpPr/>
          <p:nvPr/>
        </p:nvSpPr>
        <p:spPr>
          <a:xfrm>
            <a:off x="6903720" y="5806440"/>
            <a:ext cx="457092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C9A961"/>
                </a:solidFill>
                <a:latin typeface="Calibri"/>
                <a:ea typeface="Calibri"/>
              </a:rPr>
              <a:t>1,200</a:t>
            </a: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 train  ·  </a:t>
            </a:r>
            <a:r>
              <a:rPr lang="en-US" sz="1300" b="1" strike="noStrike" spc="-1">
                <a:solidFill>
                  <a:srgbClr val="C9A961"/>
                </a:solidFill>
                <a:latin typeface="Calibri"/>
                <a:ea typeface="Calibri"/>
              </a:rPr>
              <a:t>300</a:t>
            </a: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 frozen for final eval (never touched)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06" name="Text 47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07" name="Text 48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10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209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210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Embedding strategy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3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13" name="Text 4"/>
          <p:cNvSpPr/>
          <p:nvPr/>
        </p:nvSpPr>
        <p:spPr>
          <a:xfrm>
            <a:off x="457200" y="1280160"/>
            <a:ext cx="11246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Starting question: is it too expensive to re-embed every time the oracle asks for a different clustering? No — we embed once, store, and never recompute.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14" name="Shape 5"/>
          <p:cNvSpPr/>
          <p:nvPr/>
        </p:nvSpPr>
        <p:spPr>
          <a:xfrm>
            <a:off x="457200" y="1874520"/>
            <a:ext cx="5759640" cy="205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15" name="Shape 6"/>
          <p:cNvSpPr/>
          <p:nvPr/>
        </p:nvSpPr>
        <p:spPr>
          <a:xfrm>
            <a:off x="457200" y="1874520"/>
            <a:ext cx="108720" cy="20563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16" name="Text 7"/>
          <p:cNvSpPr/>
          <p:nvPr/>
        </p:nvSpPr>
        <p:spPr>
          <a:xfrm>
            <a:off x="731520" y="2011680"/>
            <a:ext cx="53024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392">
                <a:solidFill>
                  <a:srgbClr val="C9A961"/>
                </a:solidFill>
                <a:latin typeface="Calibri"/>
                <a:ea typeface="Calibri"/>
              </a:rPr>
              <a:t>THE INSIGHT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731520" y="2286000"/>
            <a:ext cx="53024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Georgia"/>
                <a:ea typeface="Georgia"/>
              </a:rPr>
              <a:t>Embed once.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731520" y="2788920"/>
            <a:ext cx="53024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i="1" strike="noStrike" spc="-1">
                <a:solidFill>
                  <a:srgbClr val="CADCFC"/>
                </a:solidFill>
                <a:latin typeface="Georgia"/>
                <a:ea typeface="Georgia"/>
              </a:rPr>
              <a:t>Cluster many times.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731520" y="3383280"/>
            <a:ext cx="16905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strike="noStrike" spc="-1">
                <a:solidFill>
                  <a:srgbClr val="C9A961"/>
                </a:solidFill>
                <a:latin typeface="Georgia"/>
                <a:ea typeface="Georgia"/>
              </a:rPr>
              <a:t>~20s</a:t>
            </a:r>
            <a:endParaRPr lang="it-IT" sz="1700" b="0" strike="noStrike" spc="-1"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731520" y="3657600"/>
            <a:ext cx="169056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CADCFC"/>
                </a:solidFill>
                <a:latin typeface="Calibri"/>
                <a:ea typeface="Calibri"/>
              </a:rPr>
              <a:t>to embed 1,200 records</a:t>
            </a:r>
            <a:endParaRPr lang="it-IT" sz="800" b="0" strike="noStrike" spc="-1"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2487240" y="3383280"/>
            <a:ext cx="16905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strike="noStrike" spc="-1">
                <a:solidFill>
                  <a:srgbClr val="C9A961"/>
                </a:solidFill>
                <a:latin typeface="Georgia"/>
                <a:ea typeface="Georgia"/>
              </a:rPr>
              <a:t>1×</a:t>
            </a:r>
            <a:endParaRPr lang="it-IT" sz="1700" b="0" strike="noStrike" spc="-1"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2487240" y="3657600"/>
            <a:ext cx="169056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CADCFC"/>
                </a:solidFill>
                <a:latin typeface="Calibri"/>
                <a:ea typeface="Calibri"/>
              </a:rPr>
              <a:t>computed, stored on DB</a:t>
            </a:r>
            <a:endParaRPr lang="it-IT" sz="800" b="0" strike="noStrike" spc="-1"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4242960" y="3383280"/>
            <a:ext cx="16905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strike="noStrike" spc="-1">
                <a:solidFill>
                  <a:srgbClr val="C9A961"/>
                </a:solidFill>
                <a:latin typeface="Georgia"/>
                <a:ea typeface="Georgia"/>
              </a:rPr>
              <a:t>0</a:t>
            </a:r>
            <a:endParaRPr lang="it-IT" sz="1700" b="0" strike="noStrike" spc="-1"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4242960" y="3657600"/>
            <a:ext cx="169056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CADCFC"/>
                </a:solidFill>
                <a:latin typeface="Calibri"/>
                <a:ea typeface="Calibri"/>
              </a:rPr>
              <a:t>GPUs required</a:t>
            </a:r>
            <a:endParaRPr lang="it-IT" sz="800" b="0" strike="noStrike" spc="-1">
              <a:latin typeface="Arial"/>
            </a:endParaRPr>
          </a:p>
        </p:txBody>
      </p:sp>
      <p:sp>
        <p:nvSpPr>
          <p:cNvPr id="225" name="Text 16"/>
          <p:cNvSpPr/>
          <p:nvPr/>
        </p:nvSpPr>
        <p:spPr>
          <a:xfrm>
            <a:off x="457200" y="4114800"/>
            <a:ext cx="5759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1E2761"/>
                </a:solidFill>
                <a:latin typeface="Georgia"/>
                <a:ea typeface="Georgia"/>
              </a:rPr>
              <a:t>Why once is enough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457200" y="4434840"/>
            <a:ext cx="45720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27" name="Text 18"/>
          <p:cNvSpPr/>
          <p:nvPr/>
        </p:nvSpPr>
        <p:spPr>
          <a:xfrm>
            <a:off x="457200" y="4526280"/>
            <a:ext cx="575964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Embeddings represent the text, not the clustering. When the oracle gives feedback the system doesn't recompute anything: it re-reads the same vectors from the DB and applies a new grouping logic on top of them.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457200" y="5715000"/>
            <a:ext cx="5759640" cy="776160"/>
          </a:xfrm>
          <a:prstGeom prst="rect">
            <a:avLst/>
          </a:prstGeom>
          <a:solidFill>
            <a:srgbClr val="F4F6FB"/>
          </a:solidFill>
          <a:ln w="9525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29" name="Shape 20"/>
          <p:cNvSpPr/>
          <p:nvPr/>
        </p:nvSpPr>
        <p:spPr>
          <a:xfrm>
            <a:off x="457200" y="5715000"/>
            <a:ext cx="72000" cy="776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30" name="Text 21"/>
          <p:cNvSpPr/>
          <p:nvPr/>
        </p:nvSpPr>
        <p:spPr>
          <a:xfrm>
            <a:off x="685800" y="5779080"/>
            <a:ext cx="54853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THE PROBLEM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685800" y="5943600"/>
            <a:ext cx="54396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2A2F4A"/>
                </a:solidFill>
                <a:latin typeface="Calibri"/>
                <a:ea typeface="Calibri"/>
              </a:rPr>
              <a:t>Plain text embeddings don't capture structured metadata like the 1–5 star rating. Two 1-star reviews on different topics end up far apart in semantic space, even when the oracle wants to group them together.</a:t>
            </a:r>
            <a:endParaRPr lang="it-IT" sz="1050" b="0" strike="noStrike" spc="-1">
              <a:latin typeface="Arial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6583680" y="1874520"/>
            <a:ext cx="51195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1E2761"/>
                </a:solidFill>
                <a:latin typeface="Georgia"/>
                <a:ea typeface="Georgia"/>
              </a:rPr>
              <a:t>Options considered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33" name="Shape 24"/>
          <p:cNvSpPr/>
          <p:nvPr/>
        </p:nvSpPr>
        <p:spPr>
          <a:xfrm>
            <a:off x="6583680" y="2194560"/>
            <a:ext cx="45720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34" name="Shape 25"/>
          <p:cNvSpPr/>
          <p:nvPr/>
        </p:nvSpPr>
        <p:spPr>
          <a:xfrm>
            <a:off x="6583680" y="2331720"/>
            <a:ext cx="364680" cy="3646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35" name="Text 26"/>
          <p:cNvSpPr/>
          <p:nvPr/>
        </p:nvSpPr>
        <p:spPr>
          <a:xfrm>
            <a:off x="6583680" y="233172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6A6F8C"/>
                </a:solidFill>
                <a:latin typeface="Georgia"/>
                <a:ea typeface="Georgia"/>
              </a:rPr>
              <a:t>✗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236" name="Text 27"/>
          <p:cNvSpPr/>
          <p:nvPr/>
        </p:nvSpPr>
        <p:spPr>
          <a:xfrm>
            <a:off x="7086600" y="2295000"/>
            <a:ext cx="4616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2F4A"/>
                </a:solidFill>
                <a:latin typeface="Calibri"/>
                <a:ea typeface="Calibri"/>
              </a:rPr>
              <a:t>Text embedding only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37" name="Text 28"/>
          <p:cNvSpPr/>
          <p:nvPr/>
        </p:nvSpPr>
        <p:spPr>
          <a:xfrm>
            <a:off x="7086600" y="2551320"/>
            <a:ext cx="4616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6A6F8C"/>
                </a:solidFill>
                <a:latin typeface="Calibri"/>
                <a:ea typeface="Calibri"/>
              </a:rPr>
              <a:t>Simple, but rating-driven clustering doesn't work.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38" name="Shape 29"/>
          <p:cNvSpPr/>
          <p:nvPr/>
        </p:nvSpPr>
        <p:spPr>
          <a:xfrm>
            <a:off x="6583680" y="3044880"/>
            <a:ext cx="364680" cy="3646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39" name="Text 30"/>
          <p:cNvSpPr/>
          <p:nvPr/>
        </p:nvSpPr>
        <p:spPr>
          <a:xfrm>
            <a:off x="6583680" y="304488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Georgia"/>
                <a:ea typeface="Georgia"/>
              </a:rPr>
              <a:t>✓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240" name="Text 31"/>
          <p:cNvSpPr/>
          <p:nvPr/>
        </p:nvSpPr>
        <p:spPr>
          <a:xfrm>
            <a:off x="7086600" y="3008520"/>
            <a:ext cx="4616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Text embedding + on-the-fly metadata weighting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41" name="Text 32"/>
          <p:cNvSpPr/>
          <p:nvPr/>
        </p:nvSpPr>
        <p:spPr>
          <a:xfrm>
            <a:off x="7086600" y="3264480"/>
            <a:ext cx="4616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6A6F8C"/>
                </a:solidFill>
                <a:latin typeface="Calibri"/>
                <a:ea typeface="Calibri"/>
              </a:rPr>
              <a:t>Chosen — pure 384-dim embedding stored once; metadata joined at query time with tunable weight.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42" name="Shape 33"/>
          <p:cNvSpPr/>
          <p:nvPr/>
        </p:nvSpPr>
        <p:spPr>
          <a:xfrm>
            <a:off x="6583680" y="3758040"/>
            <a:ext cx="364680" cy="3646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43" name="Text 34"/>
          <p:cNvSpPr/>
          <p:nvPr/>
        </p:nvSpPr>
        <p:spPr>
          <a:xfrm>
            <a:off x="6583680" y="375804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6A6F8C"/>
                </a:solidFill>
                <a:latin typeface="Georgia"/>
                <a:ea typeface="Georgia"/>
              </a:rPr>
              <a:t>△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244" name="Text 35"/>
          <p:cNvSpPr/>
          <p:nvPr/>
        </p:nvSpPr>
        <p:spPr>
          <a:xfrm>
            <a:off x="7086600" y="3721680"/>
            <a:ext cx="4616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2F4A"/>
                </a:solidFill>
                <a:latin typeface="Calibri"/>
                <a:ea typeface="Calibri"/>
              </a:rPr>
              <a:t>Separate spaces per clustering view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45" name="Text 36"/>
          <p:cNvSpPr/>
          <p:nvPr/>
        </p:nvSpPr>
        <p:spPr>
          <a:xfrm>
            <a:off x="7086600" y="3977640"/>
            <a:ext cx="4616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6A6F8C"/>
                </a:solidFill>
                <a:latin typeface="Calibri"/>
                <a:ea typeface="Calibri"/>
              </a:rPr>
              <a:t>Cleaner, but too complex for the MVP.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46" name="Shape 37"/>
          <p:cNvSpPr/>
          <p:nvPr/>
        </p:nvSpPr>
        <p:spPr>
          <a:xfrm>
            <a:off x="6583680" y="4572000"/>
            <a:ext cx="5119560" cy="1553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47" name="Shape 38"/>
          <p:cNvSpPr/>
          <p:nvPr/>
        </p:nvSpPr>
        <p:spPr>
          <a:xfrm>
            <a:off x="6583680" y="4572000"/>
            <a:ext cx="5119560" cy="72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48" name="Text 39"/>
          <p:cNvSpPr/>
          <p:nvPr/>
        </p:nvSpPr>
        <p:spPr>
          <a:xfrm>
            <a:off x="6766560" y="4736520"/>
            <a:ext cx="47538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392">
                <a:solidFill>
                  <a:srgbClr val="C9A961"/>
                </a:solidFill>
                <a:latin typeface="Calibri"/>
                <a:ea typeface="Calibri"/>
              </a:rPr>
              <a:t>CHOSEN SOLUTION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49" name="Shape 40"/>
          <p:cNvSpPr/>
          <p:nvPr/>
        </p:nvSpPr>
        <p:spPr>
          <a:xfrm>
            <a:off x="6766560" y="5029200"/>
            <a:ext cx="1690560" cy="456120"/>
          </a:xfrm>
          <a:prstGeom prst="rect">
            <a:avLst/>
          </a:prstGeom>
          <a:solidFill>
            <a:srgbClr val="16204E"/>
          </a:solidFill>
          <a:ln w="9525">
            <a:solidFill>
              <a:srgbClr val="CADC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50" name="Text 41"/>
          <p:cNvSpPr/>
          <p:nvPr/>
        </p:nvSpPr>
        <p:spPr>
          <a:xfrm>
            <a:off x="6766560" y="5029200"/>
            <a:ext cx="16905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CADCFC"/>
                </a:solidFill>
                <a:latin typeface="Calibri"/>
                <a:ea typeface="Calibri"/>
              </a:rPr>
              <a:t>text vector</a:t>
            </a:r>
            <a:endParaRPr lang="it-IT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9A961"/>
                </a:solidFill>
                <a:latin typeface="Calibri"/>
                <a:ea typeface="Calibri"/>
              </a:rPr>
              <a:t>384 dim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51" name="Shape 46"/>
          <p:cNvSpPr/>
          <p:nvPr/>
        </p:nvSpPr>
        <p:spPr>
          <a:xfrm>
            <a:off x="8820000" y="5009760"/>
            <a:ext cx="1233360" cy="4561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52" name="Text 47"/>
          <p:cNvSpPr/>
          <p:nvPr/>
        </p:nvSpPr>
        <p:spPr>
          <a:xfrm>
            <a:off x="8820000" y="5009760"/>
            <a:ext cx="12333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1E2761"/>
                </a:solidFill>
                <a:latin typeface="Calibri"/>
                <a:ea typeface="Calibri"/>
              </a:rPr>
              <a:t>weighted metadata</a:t>
            </a:r>
            <a:endParaRPr lang="it-IT" sz="9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quantitative features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53" name="Text 48"/>
          <p:cNvSpPr/>
          <p:nvPr/>
        </p:nvSpPr>
        <p:spPr>
          <a:xfrm>
            <a:off x="6766560" y="5532120"/>
            <a:ext cx="47538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Metadata stored as separate DB columns; joined at clustering time via np.concatenate([embedding, [rating_norm * weight]]).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54" name="Shape 49"/>
          <p:cNvSpPr/>
          <p:nvPr/>
        </p:nvSpPr>
        <p:spPr>
          <a:xfrm>
            <a:off x="6583680" y="6080760"/>
            <a:ext cx="5119560" cy="501840"/>
          </a:xfrm>
          <a:prstGeom prst="rect">
            <a:avLst/>
          </a:prstGeom>
          <a:solidFill>
            <a:srgbClr val="F4F6FB"/>
          </a:solidFill>
          <a:ln w="9525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55" name="Text 50"/>
          <p:cNvSpPr/>
          <p:nvPr/>
        </p:nvSpPr>
        <p:spPr>
          <a:xfrm>
            <a:off x="6720840" y="6080760"/>
            <a:ext cx="489096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NEXT (P2)  </a:t>
            </a:r>
            <a:r>
              <a:rPr lang="en-US" sz="1000" b="0" strike="noStrike" spc="-1">
                <a:solidFill>
                  <a:srgbClr val="2A2F4A"/>
                </a:solidFill>
                <a:latin typeface="Calibri"/>
                <a:ea typeface="Calibri"/>
              </a:rPr>
              <a:t>generate embeddings (384 dim, text only) → store on DB → run k-means with configurable rating_weight.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56" name="Text 51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57" name="Text 52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3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259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260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Sprint 1 · P1 — Backend &amp; Data Modeling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5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63" name="Text 4"/>
          <p:cNvSpPr/>
          <p:nvPr/>
        </p:nvSpPr>
        <p:spPr>
          <a:xfrm>
            <a:off x="457200" y="1280160"/>
            <a:ext cx="11246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FastAPI skeleton wired to the database, with Pydantic schemas and SQLAlchemy models as the contract for the rest of the team.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64" name="Shape 5"/>
          <p:cNvSpPr/>
          <p:nvPr/>
        </p:nvSpPr>
        <p:spPr>
          <a:xfrm>
            <a:off x="457200" y="1828800"/>
            <a:ext cx="11246040" cy="86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65" name="Shape 6"/>
          <p:cNvSpPr/>
          <p:nvPr/>
        </p:nvSpPr>
        <p:spPr>
          <a:xfrm>
            <a:off x="457200" y="1828800"/>
            <a:ext cx="108720" cy="867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66" name="Text 7"/>
          <p:cNvSpPr/>
          <p:nvPr/>
        </p:nvSpPr>
        <p:spPr>
          <a:xfrm>
            <a:off x="685800" y="19202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P1 · INFRASTRUCTURE &amp; DB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685800" y="214884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Georgia"/>
                <a:ea typeface="Georgia"/>
              </a:rPr>
              <a:t>Davide Sarti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5943600" y="2103120"/>
            <a:ext cx="575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CADCFC"/>
                </a:solidFill>
                <a:latin typeface="Georgia"/>
                <a:ea typeface="Georgia"/>
              </a:rPr>
              <a:t>Backend · Schemas · Models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457200" y="292608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Georgia"/>
                <a:ea typeface="Georgia"/>
              </a:rPr>
              <a:t>What I built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457200" y="3291840"/>
            <a:ext cx="45720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71" name="Shape 12"/>
          <p:cNvSpPr/>
          <p:nvPr/>
        </p:nvSpPr>
        <p:spPr>
          <a:xfrm>
            <a:off x="457200" y="353880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72" name="Text 13"/>
          <p:cNvSpPr/>
          <p:nvPr/>
        </p:nvSpPr>
        <p:spPr>
          <a:xfrm>
            <a:off x="685800" y="3429000"/>
            <a:ext cx="6674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Backend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backend/main.py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FastAPI skeleton with GET and POST endpoints to manage sessions. The POST creates a new UUID, sets a default model and status, and persists to the database.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457200" y="42429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74" name="Text 15"/>
          <p:cNvSpPr/>
          <p:nvPr/>
        </p:nvSpPr>
        <p:spPr>
          <a:xfrm>
            <a:off x="685800" y="4133160"/>
            <a:ext cx="6674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Schemas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src/schemas.py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Pydantic models for request/response validation. Early version — will evolve as the team's needs become clearer.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75" name="Shape 16"/>
          <p:cNvSpPr/>
          <p:nvPr/>
        </p:nvSpPr>
        <p:spPr>
          <a:xfrm>
            <a:off x="457200" y="480960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76" name="Text 17"/>
          <p:cNvSpPr/>
          <p:nvPr/>
        </p:nvSpPr>
        <p:spPr>
          <a:xfrm>
            <a:off x="685800" y="470016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Models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src/models.py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SQLAlchemy ORM definitions for the database tables.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77" name="Shape 18"/>
          <p:cNvSpPr/>
          <p:nvPr/>
        </p:nvSpPr>
        <p:spPr>
          <a:xfrm>
            <a:off x="7589520" y="2926080"/>
            <a:ext cx="4113720" cy="2010600"/>
          </a:xfrm>
          <a:prstGeom prst="rect">
            <a:avLst/>
          </a:prstGeom>
          <a:solidFill>
            <a:srgbClr val="F4F6FB"/>
          </a:solidFill>
          <a:ln w="9525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78" name="Shape 19"/>
          <p:cNvSpPr/>
          <p:nvPr/>
        </p:nvSpPr>
        <p:spPr>
          <a:xfrm>
            <a:off x="7589520" y="2926080"/>
            <a:ext cx="72000" cy="2010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79" name="Text 20"/>
          <p:cNvSpPr/>
          <p:nvPr/>
        </p:nvSpPr>
        <p:spPr>
          <a:xfrm>
            <a:off x="7818120" y="303588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CHALLENGES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7818120" y="3291840"/>
            <a:ext cx="374796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alibri"/>
                <a:ea typeface="Calibri"/>
              </a:rPr>
              <a:t>FastAPI was new — combined with limited backend experience, the start was slow. SQLAlchemy was intuitive once picked up; the harder part was agreeing on the data model with the team. Pydantic was straightforward but the schemas will evolve as the data flow settles.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81" name="Shape 22"/>
          <p:cNvSpPr/>
          <p:nvPr/>
        </p:nvSpPr>
        <p:spPr>
          <a:xfrm>
            <a:off x="7589520" y="5102280"/>
            <a:ext cx="4113720" cy="125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82" name="Shape 23"/>
          <p:cNvSpPr/>
          <p:nvPr/>
        </p:nvSpPr>
        <p:spPr>
          <a:xfrm>
            <a:off x="7589520" y="5102280"/>
            <a:ext cx="4113720" cy="72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83" name="Text 24"/>
          <p:cNvSpPr/>
          <p:nvPr/>
        </p:nvSpPr>
        <p:spPr>
          <a:xfrm>
            <a:off x="7818120" y="526680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NEXT SPRINT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84" name="Text 25"/>
          <p:cNvSpPr/>
          <p:nvPr/>
        </p:nvSpPr>
        <p:spPr>
          <a:xfrm>
            <a:off x="7818120" y="5513760"/>
            <a:ext cx="3747960" cy="74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Save and retrieve real sessions from the DB in backend/main.py. Add endpoints to upload and process the dataset. Begin integration with the LLM layer (P4) to generate session-aware responses.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86" name="Text 27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5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288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289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Sprint 1 · P2 — Data Pipeline &amp; Embeddings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6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291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92" name="Text 4"/>
          <p:cNvSpPr/>
          <p:nvPr/>
        </p:nvSpPr>
        <p:spPr>
          <a:xfrm>
            <a:off x="457200" y="1280160"/>
            <a:ext cx="11246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The data foundation for the whole project: 1,500 cleaned Amazon reviews with deterministic 384-dim embeddings, verified end-to-end. Full breakdown on slide 6.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457200" y="1828800"/>
            <a:ext cx="11246040" cy="86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94" name="Shape 6"/>
          <p:cNvSpPr/>
          <p:nvPr/>
        </p:nvSpPr>
        <p:spPr>
          <a:xfrm>
            <a:off x="457200" y="1828800"/>
            <a:ext cx="108720" cy="867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295" name="Text 7"/>
          <p:cNvSpPr/>
          <p:nvPr/>
        </p:nvSpPr>
        <p:spPr>
          <a:xfrm>
            <a:off x="685800" y="19202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P2 · DATA &amp; EMBEDDINGS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685800" y="214884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Georgia"/>
                <a:ea typeface="Georgia"/>
              </a:rPr>
              <a:t>Thomas Ottonello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5854320" y="2103120"/>
            <a:ext cx="575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CADCFC"/>
                </a:solidFill>
                <a:latin typeface="Georgia"/>
                <a:ea typeface="Georgia"/>
              </a:rPr>
              <a:t>DB · Cleaning · Embeddings · Verification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298" name="Text 10"/>
          <p:cNvSpPr/>
          <p:nvPr/>
        </p:nvSpPr>
        <p:spPr>
          <a:xfrm>
            <a:off x="457200" y="292608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Georgia"/>
                <a:ea typeface="Georgia"/>
              </a:rPr>
              <a:t>What I built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299" name="Shape 11"/>
          <p:cNvSpPr/>
          <p:nvPr/>
        </p:nvSpPr>
        <p:spPr>
          <a:xfrm>
            <a:off x="457200" y="3291840"/>
            <a:ext cx="45720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00" name="Shape 12"/>
          <p:cNvSpPr/>
          <p:nvPr/>
        </p:nvSpPr>
        <p:spPr>
          <a:xfrm>
            <a:off x="457200" y="353880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01" name="Text 13"/>
          <p:cNvSpPr/>
          <p:nvPr/>
        </p:nvSpPr>
        <p:spPr>
          <a:xfrm>
            <a:off x="685800" y="3429000"/>
            <a:ext cx="6674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DB alignment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aligned the legacy SQLite schema with current SQLAlchemy models. The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data_points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table was missing the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embedding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column — fixed via manual migration.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02" name="Shape 14"/>
          <p:cNvSpPr/>
          <p:nvPr/>
        </p:nvSpPr>
        <p:spPr>
          <a:xfrm>
            <a:off x="457200" y="42429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03" name="Text 15"/>
          <p:cNvSpPr/>
          <p:nvPr/>
        </p:nvSpPr>
        <p:spPr>
          <a:xfrm>
            <a:off x="685800" y="4133160"/>
            <a:ext cx="6674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Seed script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seed_data.py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idempotent loader, skips if data exists,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--force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to wipe and reload. Result: 1,500 records (1,200 train / 300 eval).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04" name="Shape 16"/>
          <p:cNvSpPr/>
          <p:nvPr/>
        </p:nvSpPr>
        <p:spPr>
          <a:xfrm>
            <a:off x="457200" y="49467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05" name="Text 17"/>
          <p:cNvSpPr/>
          <p:nvPr/>
        </p:nvSpPr>
        <p:spPr>
          <a:xfrm>
            <a:off x="685800" y="4837320"/>
            <a:ext cx="6674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Text cleaning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src/text_cleaning.py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NFC normalization, CSV quote artifacts, repeated-char collapse, whitespace. Based on a data quality analysis of both CSVs.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06" name="Shape 18"/>
          <p:cNvSpPr/>
          <p:nvPr/>
        </p:nvSpPr>
        <p:spPr>
          <a:xfrm>
            <a:off x="457200" y="55137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07" name="Text 19"/>
          <p:cNvSpPr/>
          <p:nvPr/>
        </p:nvSpPr>
        <p:spPr>
          <a:xfrm>
            <a:off x="685800" y="5403960"/>
            <a:ext cx="6674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Embedding generation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generate_embeddings.py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384-dim vectors via all-MiniLM-L6-v2. Incremental: only processes rows where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embedding IS NULL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08" name="Shape 20"/>
          <p:cNvSpPr/>
          <p:nvPr/>
        </p:nvSpPr>
        <p:spPr>
          <a:xfrm>
            <a:off x="457200" y="60807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09" name="Text 21"/>
          <p:cNvSpPr/>
          <p:nvPr/>
        </p:nvSpPr>
        <p:spPr>
          <a:xfrm>
            <a:off x="685800" y="597096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Verification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verify.py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DB integrity (counts, missing embeddings) and embedding correctness (dim, L2 norm, cosine sim between stored and regenerated).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10" name="Shape 22"/>
          <p:cNvSpPr/>
          <p:nvPr/>
        </p:nvSpPr>
        <p:spPr>
          <a:xfrm>
            <a:off x="7589520" y="2926080"/>
            <a:ext cx="4113720" cy="2010600"/>
          </a:xfrm>
          <a:prstGeom prst="rect">
            <a:avLst/>
          </a:prstGeom>
          <a:solidFill>
            <a:srgbClr val="F4F6FB"/>
          </a:solidFill>
          <a:ln w="9525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11" name="Shape 23"/>
          <p:cNvSpPr/>
          <p:nvPr/>
        </p:nvSpPr>
        <p:spPr>
          <a:xfrm>
            <a:off x="7589520" y="2926080"/>
            <a:ext cx="72000" cy="2010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12" name="Text 24"/>
          <p:cNvSpPr/>
          <p:nvPr/>
        </p:nvSpPr>
        <p:spPr>
          <a:xfrm>
            <a:off x="7818120" y="303588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CHALLENGES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13" name="Text 25"/>
          <p:cNvSpPr/>
          <p:nvPr/>
        </p:nvSpPr>
        <p:spPr>
          <a:xfrm>
            <a:off x="7818120" y="3291840"/>
            <a:ext cx="374796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alibri"/>
                <a:ea typeface="Calibri"/>
              </a:rPr>
              <a:t>First time working with SQLAlchemy and SQLite at this level — understanding the mismatch between ORM models and the actual DB schema took time. Deciding what to embed (title only, text only, or both) required a data quality analysis: we settled on title + text. Picking the embedding model was easy once API-based options were ruled out: no cost, no key, fast enough for 1,500 records.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14" name="Shape 26"/>
          <p:cNvSpPr/>
          <p:nvPr/>
        </p:nvSpPr>
        <p:spPr>
          <a:xfrm>
            <a:off x="7589520" y="5102280"/>
            <a:ext cx="4113720" cy="125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15" name="Shape 27"/>
          <p:cNvSpPr/>
          <p:nvPr/>
        </p:nvSpPr>
        <p:spPr>
          <a:xfrm>
            <a:off x="7589520" y="5102280"/>
            <a:ext cx="4113720" cy="72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16" name="Text 28"/>
          <p:cNvSpPr/>
          <p:nvPr/>
        </p:nvSpPr>
        <p:spPr>
          <a:xfrm>
            <a:off x="7818120" y="526680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NEXT SPRINT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17" name="Text 29"/>
          <p:cNvSpPr/>
          <p:nvPr/>
        </p:nvSpPr>
        <p:spPr>
          <a:xfrm>
            <a:off x="7818120" y="5513760"/>
            <a:ext cx="3747960" cy="74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Integrate clean_text() and the embedding pipeline with P1 endpoints and the P3 engine. Evaluate whether 384-dim is enough or a larger model is worth the tradeoff. Consider adding a dataset_split field on DataPoint to avoid relying on dataset_name string matching.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18" name="Text 30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19" name="Text 31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6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321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322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Sprint 1 · P3 — Core Engine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7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24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25" name="Text 4"/>
          <p:cNvSpPr/>
          <p:nvPr/>
        </p:nvSpPr>
        <p:spPr>
          <a:xfrm>
            <a:off x="457200" y="1280160"/>
            <a:ext cx="11246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A typed engine skeleton so every other layer can integrate today, plus the project-level documentation that satisfies the agentic grading rubric.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26" name="Shape 5"/>
          <p:cNvSpPr/>
          <p:nvPr/>
        </p:nvSpPr>
        <p:spPr>
          <a:xfrm>
            <a:off x="457200" y="1828800"/>
            <a:ext cx="11246040" cy="86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27" name="Shape 6"/>
          <p:cNvSpPr/>
          <p:nvPr/>
        </p:nvSpPr>
        <p:spPr>
          <a:xfrm>
            <a:off x="457200" y="1828800"/>
            <a:ext cx="108720" cy="867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28" name="Text 7"/>
          <p:cNvSpPr/>
          <p:nvPr/>
        </p:nvSpPr>
        <p:spPr>
          <a:xfrm>
            <a:off x="685800" y="19202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P3 · CORE ENGINE (f_*)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29" name="Text 8"/>
          <p:cNvSpPr/>
          <p:nvPr/>
        </p:nvSpPr>
        <p:spPr>
          <a:xfrm>
            <a:off x="685800" y="214884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Georgia"/>
                <a:ea typeface="Georgia"/>
              </a:rPr>
              <a:t>Matteo Pareto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5943600" y="2103120"/>
            <a:ext cx="575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CADCFC"/>
                </a:solidFill>
                <a:latin typeface="Georgia"/>
                <a:ea typeface="Georgia"/>
              </a:rPr>
              <a:t>Engine skeleton · Docs · AGENTS.md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331" name="Text 10"/>
          <p:cNvSpPr/>
          <p:nvPr/>
        </p:nvSpPr>
        <p:spPr>
          <a:xfrm>
            <a:off x="457200" y="292608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Georgia"/>
                <a:ea typeface="Georgia"/>
              </a:rPr>
              <a:t>What I built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457200" y="3291840"/>
            <a:ext cx="45720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33" name="Shape 12"/>
          <p:cNvSpPr/>
          <p:nvPr/>
        </p:nvSpPr>
        <p:spPr>
          <a:xfrm>
            <a:off x="457200" y="353880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34" name="Text 13"/>
          <p:cNvSpPr/>
          <p:nvPr/>
        </p:nvSpPr>
        <p:spPr>
          <a:xfrm>
            <a:off x="685800" y="3429000"/>
            <a:ext cx="6674040" cy="73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Engine skeleton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src/engine/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with one file per core function: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f_output, f_next_state, f_next_best_step, f_uncertainty, f_eval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. Correct typed signatures returning stubs so the team can integrate against them without waiting.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457200" y="433440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36" name="Text 15"/>
          <p:cNvSpPr/>
          <p:nvPr/>
        </p:nvSpPr>
        <p:spPr>
          <a:xfrm>
            <a:off x="685800" y="4224600"/>
            <a:ext cx="6674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Project README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setup, project structure, environment variables, key development rules.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37" name="Shape 16"/>
          <p:cNvSpPr/>
          <p:nvPr/>
        </p:nvSpPr>
        <p:spPr>
          <a:xfrm>
            <a:off x="457200" y="490104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38" name="Text 17"/>
          <p:cNvSpPr/>
          <p:nvPr/>
        </p:nvSpPr>
        <p:spPr>
          <a:xfrm>
            <a:off x="685800" y="4791600"/>
            <a:ext cx="6674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AGENTS.md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the Planner/Executor pattern documented with a function map and an architecture diagram of the data flow between all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f_*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functions. Covers mandatory grading component #4.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39" name="Shape 18"/>
          <p:cNvSpPr/>
          <p:nvPr/>
        </p:nvSpPr>
        <p:spPr>
          <a:xfrm>
            <a:off x="7589520" y="2926080"/>
            <a:ext cx="4113720" cy="2010600"/>
          </a:xfrm>
          <a:prstGeom prst="rect">
            <a:avLst/>
          </a:prstGeom>
          <a:solidFill>
            <a:srgbClr val="F4F6FB"/>
          </a:solidFill>
          <a:ln w="9525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40" name="Shape 19"/>
          <p:cNvSpPr/>
          <p:nvPr/>
        </p:nvSpPr>
        <p:spPr>
          <a:xfrm>
            <a:off x="7589520" y="2926080"/>
            <a:ext cx="72000" cy="2010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41" name="Text 20"/>
          <p:cNvSpPr/>
          <p:nvPr/>
        </p:nvSpPr>
        <p:spPr>
          <a:xfrm>
            <a:off x="7818120" y="303588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CHALLENGES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7818120" y="3291840"/>
            <a:ext cx="374796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alibri"/>
                <a:ea typeface="Calibri"/>
              </a:rPr>
              <a:t>Had to understand how the parts connect before locking the function signatures — specifically the types coming from schemas.py (P1) and harness.py (P4). The Python env setup also took time: SSL errors on pip install, solved by using the CPU-only PyTorch index to avoid unnecessary NVIDIA packages.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43" name="Shape 22"/>
          <p:cNvSpPr/>
          <p:nvPr/>
        </p:nvSpPr>
        <p:spPr>
          <a:xfrm>
            <a:off x="7589520" y="5102280"/>
            <a:ext cx="4113720" cy="125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44" name="Shape 23"/>
          <p:cNvSpPr/>
          <p:nvPr/>
        </p:nvSpPr>
        <p:spPr>
          <a:xfrm>
            <a:off x="7589520" y="5102280"/>
            <a:ext cx="4113720" cy="72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45" name="Text 24"/>
          <p:cNvSpPr/>
          <p:nvPr/>
        </p:nvSpPr>
        <p:spPr>
          <a:xfrm>
            <a:off x="7818120" y="526680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NEXT SPRINT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46" name="Text 25"/>
          <p:cNvSpPr/>
          <p:nvPr/>
        </p:nvSpPr>
        <p:spPr>
          <a:xfrm>
            <a:off x="7818120" y="5513760"/>
            <a:ext cx="3747960" cy="74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Implement real logic for f_next_state once prompts/f_next_state.txt is ready from P4. Implement f_uncertainty once P2 has populated the SoftAssignment table with the initial k-means clustering.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47" name="Text 26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48" name="Text 27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7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350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351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Sprint 1 · P4 — LLM &amp; Prompting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8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54" name="Text 4"/>
          <p:cNvSpPr/>
          <p:nvPr/>
        </p:nvSpPr>
        <p:spPr>
          <a:xfrm>
            <a:off x="457200" y="1280160"/>
            <a:ext cx="11246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Single chokepoint for every Claude call. No other module imports anthropic — everything flows through src/harness.py.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55" name="Shape 5"/>
          <p:cNvSpPr/>
          <p:nvPr/>
        </p:nvSpPr>
        <p:spPr>
          <a:xfrm>
            <a:off x="457200" y="1828800"/>
            <a:ext cx="11246040" cy="86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56" name="Shape 6"/>
          <p:cNvSpPr/>
          <p:nvPr/>
        </p:nvSpPr>
        <p:spPr>
          <a:xfrm>
            <a:off x="457200" y="1828800"/>
            <a:ext cx="108720" cy="867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57" name="Text 7"/>
          <p:cNvSpPr/>
          <p:nvPr/>
        </p:nvSpPr>
        <p:spPr>
          <a:xfrm>
            <a:off x="685800" y="19202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P4 · LLM &amp; PROMPTING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58" name="Text 8"/>
          <p:cNvSpPr/>
          <p:nvPr/>
        </p:nvSpPr>
        <p:spPr>
          <a:xfrm>
            <a:off x="685800" y="214884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Georgia"/>
                <a:ea typeface="Georgia"/>
              </a:rPr>
              <a:t>Nilo Netti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5943600" y="2103120"/>
            <a:ext cx="57596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CADCFC"/>
                </a:solidFill>
                <a:latin typeface="Georgia"/>
                <a:ea typeface="Georgia"/>
              </a:rPr>
              <a:t>Harness · Prompts · Resilience · Cost control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360" name="Text 10"/>
          <p:cNvSpPr/>
          <p:nvPr/>
        </p:nvSpPr>
        <p:spPr>
          <a:xfrm>
            <a:off x="457200" y="292608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Georgia"/>
                <a:ea typeface="Georgia"/>
              </a:rPr>
              <a:t>What I built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361" name="Shape 11"/>
          <p:cNvSpPr/>
          <p:nvPr/>
        </p:nvSpPr>
        <p:spPr>
          <a:xfrm>
            <a:off x="457200" y="3291840"/>
            <a:ext cx="45720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62" name="Shape 12"/>
          <p:cNvSpPr/>
          <p:nvPr/>
        </p:nvSpPr>
        <p:spPr>
          <a:xfrm>
            <a:off x="457200" y="353880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63" name="Text 13"/>
          <p:cNvSpPr/>
          <p:nvPr/>
        </p:nvSpPr>
        <p:spPr>
          <a:xfrm>
            <a:off x="685800" y="3429000"/>
            <a:ext cx="6674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Harness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src/harness.py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: sync, async, and batch calls to Claude (there is also an equivalent version for ChatGPT);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HARNESS_DRY_RUN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mode for testing without API spend.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457200" y="42429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65" name="Text 15"/>
          <p:cNvSpPr/>
          <p:nvPr/>
        </p:nvSpPr>
        <p:spPr>
          <a:xfrm>
            <a:off x="685800" y="4133160"/>
            <a:ext cx="6674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Versioned prompts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prompts/f_output.txt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plus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load_prompt / hash_prompt / render_prompt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. SHA-256 hash logged on every run. Template rendering.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457200" y="49467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67" name="Text 17"/>
          <p:cNvSpPr/>
          <p:nvPr/>
        </p:nvSpPr>
        <p:spPr>
          <a:xfrm>
            <a:off x="685800" y="4837320"/>
            <a:ext cx="6674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Resilience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exponential backoff with jitter on transient errors (429, 5xx,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RateLimitError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). 4xx permanent errors not retried.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457200" y="5513760"/>
            <a:ext cx="108720" cy="1087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69" name="Text 19"/>
          <p:cNvSpPr/>
          <p:nvPr/>
        </p:nvSpPr>
        <p:spPr>
          <a:xfrm>
            <a:off x="685800" y="5403960"/>
            <a:ext cx="66740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99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Cost &amp; state  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— token counting via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count_tokens()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(zero cost), pricing hardcoded, and a </a:t>
            </a:r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ConversationContext</a:t>
            </a:r>
            <a:r>
              <a:rPr lang="en-US" sz="1200" b="0" strike="noStrike" spc="-1">
                <a:solidFill>
                  <a:srgbClr val="2A2F4A"/>
                </a:solidFill>
                <a:latin typeface="Calibri"/>
                <a:ea typeface="Calibri"/>
              </a:rPr>
              <a:t> with windowing and a contradiction-tracking stub.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7589520" y="2926080"/>
            <a:ext cx="4113720" cy="2010600"/>
          </a:xfrm>
          <a:prstGeom prst="rect">
            <a:avLst/>
          </a:prstGeom>
          <a:solidFill>
            <a:srgbClr val="F4F6FB"/>
          </a:solidFill>
          <a:ln w="9525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71" name="Shape 21"/>
          <p:cNvSpPr/>
          <p:nvPr/>
        </p:nvSpPr>
        <p:spPr>
          <a:xfrm>
            <a:off x="7589520" y="2926080"/>
            <a:ext cx="72000" cy="2010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72" name="Text 22"/>
          <p:cNvSpPr/>
          <p:nvPr/>
        </p:nvSpPr>
        <p:spPr>
          <a:xfrm>
            <a:off x="7818120" y="303588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CHALLENGES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73" name="Text 23"/>
          <p:cNvSpPr/>
          <p:nvPr/>
        </p:nvSpPr>
        <p:spPr>
          <a:xfrm>
            <a:off x="7818120" y="3291840"/>
            <a:ext cx="374796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A2F4A"/>
                </a:solidFill>
                <a:latin typeface="Calibri"/>
                <a:ea typeface="Calibri"/>
              </a:rPr>
              <a:t>The architectural call that paid off: harness never parses JSON from the model response — it returns the raw Message. Parsing lives in P3 so malformed-JSON errors surface in the right layer. Required clear interface agreements with P3 and P5 before writing any code.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7589520" y="5102280"/>
            <a:ext cx="4113720" cy="125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75" name="Shape 25"/>
          <p:cNvSpPr/>
          <p:nvPr/>
        </p:nvSpPr>
        <p:spPr>
          <a:xfrm>
            <a:off x="7589520" y="5102280"/>
            <a:ext cx="4113720" cy="72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76" name="Text 26"/>
          <p:cNvSpPr/>
          <p:nvPr/>
        </p:nvSpPr>
        <p:spPr>
          <a:xfrm>
            <a:off x="7818120" y="526680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NEXT SPRINT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77" name="Text 27"/>
          <p:cNvSpPr/>
          <p:nvPr/>
        </p:nvSpPr>
        <p:spPr>
          <a:xfrm>
            <a:off x="7818120" y="5513760"/>
            <a:ext cx="3747960" cy="74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ADCFC"/>
                </a:solidFill>
                <a:latin typeface="Calibri"/>
                <a:ea typeface="Calibri"/>
              </a:rPr>
              <a:t>Week 2: write prompts/f_next_state.txt, hydrate ConversationContext from DB (needs crud.get_session_turns from P1), test on real turns with a live API call.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78" name="Text 28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79" name="Text 29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8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381" name="Image 0" descr="preencoded.png"/>
          <p:cNvPicPr/>
          <p:nvPr/>
        </p:nvPicPr>
        <p:blipFill>
          <a:blip r:embed="rId3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382" name="Text 1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1E2761"/>
                </a:solidFill>
                <a:latin typeface="Georgia"/>
                <a:ea typeface="Georgia"/>
              </a:rPr>
              <a:t>Sprint 1 · P5 — Evaluation &amp; CLI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383" name="Text 2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STEP 9 OF 10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457200" y="1097280"/>
            <a:ext cx="11247120" cy="360"/>
          </a:xfrm>
          <a:prstGeom prst="line">
            <a:avLst/>
          </a:prstGeom>
          <a:ln w="12700">
            <a:solidFill>
              <a:srgbClr val="D9DF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85" name="Text 4"/>
          <p:cNvSpPr/>
          <p:nvPr/>
        </p:nvSpPr>
        <p:spPr>
          <a:xfrm>
            <a:off x="457200" y="1280160"/>
            <a:ext cx="11246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6A6F8C"/>
                </a:solidFill>
                <a:latin typeface="Calibri"/>
                <a:ea typeface="Calibri"/>
              </a:rPr>
              <a:t>P5's sprint starts next: the consumer of everything we built so far. CLI as the human-facing interface, LLM-as-oracle for automated runs, and the logging that makes results reproducible.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457200" y="1828800"/>
            <a:ext cx="11246040" cy="86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87" name="Shape 6"/>
          <p:cNvSpPr/>
          <p:nvPr/>
        </p:nvSpPr>
        <p:spPr>
          <a:xfrm>
            <a:off x="457200" y="1828800"/>
            <a:ext cx="108720" cy="867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88" name="Text 7"/>
          <p:cNvSpPr/>
          <p:nvPr/>
        </p:nvSpPr>
        <p:spPr>
          <a:xfrm>
            <a:off x="685800" y="192024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392">
                <a:solidFill>
                  <a:srgbClr val="C9A961"/>
                </a:solidFill>
                <a:latin typeface="Calibri"/>
                <a:ea typeface="Calibri"/>
              </a:rPr>
              <a:t>P5 · EVALUATION &amp; CLI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685800" y="214884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Georgia"/>
                <a:ea typeface="Georgia"/>
              </a:rPr>
              <a:t>Arianna Schiavi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390" name="Shape 9"/>
          <p:cNvSpPr/>
          <p:nvPr/>
        </p:nvSpPr>
        <p:spPr>
          <a:xfrm>
            <a:off x="8961120" y="2103120"/>
            <a:ext cx="2696400" cy="3646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91" name="Text 10"/>
          <p:cNvSpPr/>
          <p:nvPr/>
        </p:nvSpPr>
        <p:spPr>
          <a:xfrm>
            <a:off x="8961120" y="2103120"/>
            <a:ext cx="2696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293">
                <a:solidFill>
                  <a:srgbClr val="1E2761"/>
                </a:solidFill>
                <a:latin typeface="Calibri"/>
                <a:ea typeface="Calibri"/>
              </a:rPr>
              <a:t>STARTS SPRINT 2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392" name="Text 11"/>
          <p:cNvSpPr/>
          <p:nvPr/>
        </p:nvSpPr>
        <p:spPr>
          <a:xfrm>
            <a:off x="457200" y="297180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Georgia"/>
                <a:ea typeface="Georgia"/>
              </a:rPr>
              <a:t>Scope for Sprint 2</a:t>
            </a:r>
            <a:endParaRPr lang="it-IT" sz="1500" b="0" strike="noStrike" spc="-1">
              <a:latin typeface="Arial"/>
            </a:endParaRPr>
          </a:p>
        </p:txBody>
      </p:sp>
      <p:sp>
        <p:nvSpPr>
          <p:cNvPr id="393" name="Shape 12"/>
          <p:cNvSpPr/>
          <p:nvPr/>
        </p:nvSpPr>
        <p:spPr>
          <a:xfrm>
            <a:off x="457200" y="3337560"/>
            <a:ext cx="457200" cy="360"/>
          </a:xfrm>
          <a:prstGeom prst="line">
            <a:avLst/>
          </a:prstGeom>
          <a:ln w="254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94" name="Shape 13"/>
          <p:cNvSpPr/>
          <p:nvPr/>
        </p:nvSpPr>
        <p:spPr>
          <a:xfrm>
            <a:off x="457200" y="3904200"/>
            <a:ext cx="127080" cy="127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95" name="Text 14"/>
          <p:cNvSpPr/>
          <p:nvPr/>
        </p:nvSpPr>
        <p:spPr>
          <a:xfrm>
            <a:off x="731520" y="3812760"/>
            <a:ext cx="66740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CLI interface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731520" y="405036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2A2F4A"/>
                </a:solidFill>
                <a:latin typeface="Calibri"/>
                <a:ea typeface="Calibri"/>
              </a:rPr>
              <a:t>Human-facing entry point. Start a session, view the current clustering, give feedback (global / cluster / point), step the conversation, inspect uncertainty.</a:t>
            </a:r>
            <a:endParaRPr lang="it-IT" sz="1050" b="0" strike="noStrike" spc="-1">
              <a:latin typeface="Arial"/>
            </a:endParaRPr>
          </a:p>
        </p:txBody>
      </p:sp>
      <p:sp>
        <p:nvSpPr>
          <p:cNvPr id="397" name="Shape 16"/>
          <p:cNvSpPr/>
          <p:nvPr/>
        </p:nvSpPr>
        <p:spPr>
          <a:xfrm>
            <a:off x="457200" y="4590000"/>
            <a:ext cx="127080" cy="127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98" name="Text 17"/>
          <p:cNvSpPr/>
          <p:nvPr/>
        </p:nvSpPr>
        <p:spPr>
          <a:xfrm>
            <a:off x="731520" y="4498560"/>
            <a:ext cx="66740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LLM-as-oracle simulation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399" name="Text 18"/>
          <p:cNvSpPr/>
          <p:nvPr/>
        </p:nvSpPr>
        <p:spPr>
          <a:xfrm>
            <a:off x="731520" y="473616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2A2F4A"/>
                </a:solidFill>
                <a:latin typeface="Calibri"/>
                <a:ea typeface="Calibri"/>
              </a:rPr>
              <a:t>Automated oracle that plays the user role, driven by Claude. Lets us run hundreds of sessions without a human in the loop — the foundation for every quantitative result.</a:t>
            </a:r>
            <a:endParaRPr lang="it-IT" sz="1050" b="0" strike="noStrike" spc="-1">
              <a:latin typeface="Arial"/>
            </a:endParaRPr>
          </a:p>
        </p:txBody>
      </p:sp>
      <p:sp>
        <p:nvSpPr>
          <p:cNvPr id="400" name="Shape 19"/>
          <p:cNvSpPr/>
          <p:nvPr/>
        </p:nvSpPr>
        <p:spPr>
          <a:xfrm>
            <a:off x="457200" y="5275800"/>
            <a:ext cx="127080" cy="127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01" name="Text 20"/>
          <p:cNvSpPr/>
          <p:nvPr/>
        </p:nvSpPr>
        <p:spPr>
          <a:xfrm>
            <a:off x="731520" y="5184360"/>
            <a:ext cx="66740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Metrics &amp; logging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402" name="Text 21"/>
          <p:cNvSpPr/>
          <p:nvPr/>
        </p:nvSpPr>
        <p:spPr>
          <a:xfrm>
            <a:off x="731520" y="542196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2A2F4A"/>
                </a:solidFill>
                <a:latin typeface="Calibri"/>
                <a:ea typeface="Calibri"/>
              </a:rPr>
              <a:t>Structured JSONL logs of every turn, prompt hash, token usage, cost. log_llm_call() consumed by P4. Metrics: ARI/NMI vs ground truth, convergence speed, cognitive load.</a:t>
            </a:r>
            <a:endParaRPr lang="it-IT" sz="1050" b="0" strike="noStrike" spc="-1">
              <a:latin typeface="Arial"/>
            </a:endParaRPr>
          </a:p>
        </p:txBody>
      </p:sp>
      <p:sp>
        <p:nvSpPr>
          <p:cNvPr id="406" name="Shape 25"/>
          <p:cNvSpPr/>
          <p:nvPr/>
        </p:nvSpPr>
        <p:spPr>
          <a:xfrm>
            <a:off x="7589520" y="2971800"/>
            <a:ext cx="4113720" cy="3382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07" name="Shape 26"/>
          <p:cNvSpPr/>
          <p:nvPr/>
        </p:nvSpPr>
        <p:spPr>
          <a:xfrm>
            <a:off x="7589520" y="2971800"/>
            <a:ext cx="4113720" cy="72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08" name="Text 27"/>
          <p:cNvSpPr/>
          <p:nvPr/>
        </p:nvSpPr>
        <p:spPr>
          <a:xfrm>
            <a:off x="7818120" y="3136320"/>
            <a:ext cx="37479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293">
                <a:solidFill>
                  <a:srgbClr val="C9A961"/>
                </a:solidFill>
                <a:latin typeface="Calibri"/>
                <a:ea typeface="Calibri"/>
              </a:rPr>
              <a:t>DEPENDENCIES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409" name="Text 28"/>
          <p:cNvSpPr/>
          <p:nvPr/>
        </p:nvSpPr>
        <p:spPr>
          <a:xfrm>
            <a:off x="7818120" y="3383280"/>
            <a:ext cx="37479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CADCFC"/>
                </a:solidFill>
                <a:latin typeface="Georgia"/>
                <a:ea typeface="Georgia"/>
              </a:rPr>
              <a:t>What needs to be in place first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410" name="Shape 29"/>
          <p:cNvSpPr/>
          <p:nvPr/>
        </p:nvSpPr>
        <p:spPr>
          <a:xfrm>
            <a:off x="7818120" y="3877200"/>
            <a:ext cx="456120" cy="273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11" name="Text 30"/>
          <p:cNvSpPr/>
          <p:nvPr/>
        </p:nvSpPr>
        <p:spPr>
          <a:xfrm>
            <a:off x="7818120" y="38772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P1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412" name="Text 31"/>
          <p:cNvSpPr/>
          <p:nvPr/>
        </p:nvSpPr>
        <p:spPr>
          <a:xfrm>
            <a:off x="8366760" y="3840480"/>
            <a:ext cx="3199320" cy="59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session endpoints save &amp; retrieve real sessions from the DB.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13" name="Shape 32"/>
          <p:cNvSpPr/>
          <p:nvPr/>
        </p:nvSpPr>
        <p:spPr>
          <a:xfrm>
            <a:off x="7818120" y="4498920"/>
            <a:ext cx="456120" cy="273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14" name="Text 33"/>
          <p:cNvSpPr/>
          <p:nvPr/>
        </p:nvSpPr>
        <p:spPr>
          <a:xfrm>
            <a:off x="7818120" y="449892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P2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415" name="Text 34"/>
          <p:cNvSpPr/>
          <p:nvPr/>
        </p:nvSpPr>
        <p:spPr>
          <a:xfrm>
            <a:off x="8366760" y="4462200"/>
            <a:ext cx="3199320" cy="59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embeddings + initial k-means clustering populated in soft_assignments.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16" name="Shape 35"/>
          <p:cNvSpPr/>
          <p:nvPr/>
        </p:nvSpPr>
        <p:spPr>
          <a:xfrm>
            <a:off x="7818120" y="5120640"/>
            <a:ext cx="456120" cy="273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17" name="Text 36"/>
          <p:cNvSpPr/>
          <p:nvPr/>
        </p:nvSpPr>
        <p:spPr>
          <a:xfrm>
            <a:off x="7818120" y="51206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P3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418" name="Text 37"/>
          <p:cNvSpPr/>
          <p:nvPr/>
        </p:nvSpPr>
        <p:spPr>
          <a:xfrm>
            <a:off x="8366760" y="5083920"/>
            <a:ext cx="3199320" cy="59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f_output and f_next_state returning real results, not stubs.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19" name="Shape 38"/>
          <p:cNvSpPr/>
          <p:nvPr/>
        </p:nvSpPr>
        <p:spPr>
          <a:xfrm>
            <a:off x="7818120" y="5742360"/>
            <a:ext cx="456120" cy="273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20" name="Text 39"/>
          <p:cNvSpPr/>
          <p:nvPr/>
        </p:nvSpPr>
        <p:spPr>
          <a:xfrm>
            <a:off x="7818120" y="574236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1E2761"/>
                </a:solidFill>
                <a:latin typeface="Calibri"/>
                <a:ea typeface="Calibri"/>
              </a:rPr>
              <a:t>P4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421" name="Text 40"/>
          <p:cNvSpPr/>
          <p:nvPr/>
        </p:nvSpPr>
        <p:spPr>
          <a:xfrm>
            <a:off x="8366760" y="5706000"/>
            <a:ext cx="3199320" cy="59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harness logging interface — log_llm_call(session_id, prompt_name, hash, usage, cost) — to coordinate by end of Sprint 1.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22" name="Text 41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Conversational Clustering · Kickoff · May 2026</a:t>
            </a:r>
            <a:endParaRPr lang="it-IT" sz="900" b="0" strike="noStrike" spc="-1">
              <a:latin typeface="Arial"/>
            </a:endParaRPr>
          </a:p>
        </p:txBody>
      </p:sp>
      <p:sp>
        <p:nvSpPr>
          <p:cNvPr id="423" name="Text 42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6A6F8C"/>
                </a:solidFill>
                <a:latin typeface="Calibri"/>
                <a:ea typeface="Calibri"/>
              </a:rPr>
              <a:t>9 / 10</a:t>
            </a:r>
            <a:endParaRPr lang="it-IT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2199</Words>
  <Application>Microsoft Macintosh PowerPoint</Application>
  <PresentationFormat>Widescreen</PresentationFormat>
  <Paragraphs>233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Symbol</vt:lpstr>
      <vt:lpstr>Times New Roman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Conversational Clustering — Kickoff</dc:title>
  <dc:subject>PptxGenJS Presentation</dc:subject>
  <dc:creator>Group of 5</dc:creator>
  <dc:description/>
  <cp:lastModifiedBy>THOMAS OTTONELLO</cp:lastModifiedBy>
  <cp:revision>12</cp:revision>
  <dcterms:created xsi:type="dcterms:W3CDTF">2026-05-14T14:37:52Z</dcterms:created>
  <dcterms:modified xsi:type="dcterms:W3CDTF">2026-05-15T11:46:38Z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